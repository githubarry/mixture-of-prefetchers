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09ecc2f58c44923" /><Relationship Type="http://schemas.openxmlformats.org/officeDocument/2006/relationships/extended-properties" Target="/docProps/app.xml" Id="R7b1cb46d588e4cb1" /><Relationship Type="http://schemas.openxmlformats.org/officeDocument/2006/relationships/officeDocument" Target="/ppt/presentation.xml" Id="R01c38a1c3707413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056e3f6eaa43e6"/>
  </p:sldMasterIdLst>
  <p:notesMasterIdLst>
    <p:notesMasterId xmlns:r="http://schemas.openxmlformats.org/officeDocument/2006/relationships" r:id="R4d1f1986ef284f10"/>
  </p:notesMasterIdLst>
  <p:sldIdLst>
    <p:sldId xmlns:r="http://schemas.openxmlformats.org/officeDocument/2006/relationships" id="256" r:id="Rc9fba26c2bfd4d9c"/>
    <p:sldId xmlns:r="http://schemas.openxmlformats.org/officeDocument/2006/relationships" id="257" r:id="Rfc6dc8397d874df0"/>
    <p:sldId xmlns:r="http://schemas.openxmlformats.org/officeDocument/2006/relationships" id="258" r:id="R70ec9d0814274419"/>
    <p:sldId xmlns:r="http://schemas.openxmlformats.org/officeDocument/2006/relationships" id="259" r:id="R5379ecf69a634d2f"/>
    <p:sldId xmlns:r="http://schemas.openxmlformats.org/officeDocument/2006/relationships" id="260" r:id="Rdec4330402864d8a"/>
    <p:sldId xmlns:r="http://schemas.openxmlformats.org/officeDocument/2006/relationships" id="261" r:id="Rec3ea2e7925b49d8"/>
    <p:sldId xmlns:r="http://schemas.openxmlformats.org/officeDocument/2006/relationships" id="262" r:id="Rcc9228c613ac4b38"/>
    <p:sldId xmlns:r="http://schemas.openxmlformats.org/officeDocument/2006/relationships" id="263" r:id="Rb00e074e2a4f4ef7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056e3f6eaa43e6" /><Relationship Type="http://schemas.openxmlformats.org/officeDocument/2006/relationships/theme" Target="/ppt/theme/theme1.xml" Id="Rf72397c7654d4c0d" /><Relationship Type="http://schemas.openxmlformats.org/officeDocument/2006/relationships/notesMaster" Target="/ppt/notesMasters/notesMaster1.xml" Id="R4d1f1986ef284f10" /><Relationship Type="http://schemas.openxmlformats.org/officeDocument/2006/relationships/presProps" Target="/ppt/presProps.xml" Id="R8bb86eeab9f44778" /><Relationship Type="http://schemas.openxmlformats.org/officeDocument/2006/relationships/viewProps" Target="/ppt/viewProps.xml" Id="R8343ec83b7464a0c" /><Relationship Type="http://schemas.openxmlformats.org/officeDocument/2006/relationships/tableStyles" Target="/ppt/tableStyles.xml" Id="R05c37c3b3b2b486e" /><Relationship Type="http://schemas.openxmlformats.org/officeDocument/2006/relationships/slide" Target="/ppt/slides/slide1.xml" Id="Rc9fba26c2bfd4d9c" /><Relationship Type="http://schemas.openxmlformats.org/officeDocument/2006/relationships/slide" Target="/ppt/slides/slide2.xml" Id="Rfc6dc8397d874df0" /><Relationship Type="http://schemas.openxmlformats.org/officeDocument/2006/relationships/slide" Target="/ppt/slides/slide3.xml" Id="R70ec9d0814274419" /><Relationship Type="http://schemas.openxmlformats.org/officeDocument/2006/relationships/slide" Target="/ppt/slides/slide4.xml" Id="R5379ecf69a634d2f" /><Relationship Type="http://schemas.openxmlformats.org/officeDocument/2006/relationships/slide" Target="/ppt/slides/slide5.xml" Id="Rdec4330402864d8a" /><Relationship Type="http://schemas.openxmlformats.org/officeDocument/2006/relationships/slide" Target="/ppt/slides/slide6.xml" Id="Rec3ea2e7925b49d8" /><Relationship Type="http://schemas.openxmlformats.org/officeDocument/2006/relationships/slide" Target="/ppt/slides/slide7.xml" Id="Rcc9228c613ac4b38" /><Relationship Type="http://schemas.openxmlformats.org/officeDocument/2006/relationships/slide" Target="/ppt/slides/slide8.xml" Id="Rb00e074e2a4f4e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d44c4743f954ab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d07fe5e774d4fd7" /><Relationship Type="http://schemas.openxmlformats.org/officeDocument/2006/relationships/notesMaster" Target="/ppt/notesMasters/notesMaster1.xml" Id="R955c2120932a4a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16379583e534b09" /><Relationship Type="http://schemas.openxmlformats.org/officeDocument/2006/relationships/notesMaster" Target="/ppt/notesMasters/notesMaster1.xml" Id="Rfdbad95d113a47a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1c22e897fc54275" /><Relationship Type="http://schemas.openxmlformats.org/officeDocument/2006/relationships/notesMaster" Target="/ppt/notesMasters/notesMaster1.xml" Id="R6390ea0391c9460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dd63a3db48b4a20" /><Relationship Type="http://schemas.openxmlformats.org/officeDocument/2006/relationships/notesMaster" Target="/ppt/notesMasters/notesMaster1.xml" Id="R314a41103f9e4c5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8b50f5bd624541" /><Relationship Type="http://schemas.openxmlformats.org/officeDocument/2006/relationships/notesMaster" Target="/ppt/notesMasters/notesMaster1.xml" Id="R3f26564a4f4245a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5d83d8708394d31" /><Relationship Type="http://schemas.openxmlformats.org/officeDocument/2006/relationships/notesMaster" Target="/ppt/notesMasters/notesMaster1.xml" Id="R63c4c22571b4430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2ad7e88779d4c6b" /><Relationship Type="http://schemas.openxmlformats.org/officeDocument/2006/relationships/notesMaster" Target="/ppt/notesMasters/notesMaster1.xml" Id="R959fc64a9be1495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ad85f06f9f24791" /><Relationship Type="http://schemas.openxmlformats.org/officeDocument/2006/relationships/notesMaster" Target="/ppt/notesMasters/notesMaster1.xml" Id="R69492e0787d34ca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fee602e6c54264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5eb875ee2484ade" /><Relationship Type="http://schemas.openxmlformats.org/officeDocument/2006/relationships/slideLayout" Target="/ppt/slideLayouts/slideLayout2.xml" Id="R368124988b454d4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8124988b454d4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148af72a6b43d1" /><Relationship Type="http://schemas.openxmlformats.org/officeDocument/2006/relationships/notesSlide" Target="/ppt/notesSlides/notesSlide1.xml" Id="Ra169c65cf7f94fc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a79f38c4ac4129" /><Relationship Type="http://schemas.openxmlformats.org/officeDocument/2006/relationships/notesSlide" Target="/ppt/notesSlides/notesSlide2.xml" Id="R6e7025d582d64c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99ccf1c30a4ff3" /><Relationship Type="http://schemas.openxmlformats.org/officeDocument/2006/relationships/notesSlide" Target="/ppt/notesSlides/notesSlide3.xml" Id="R4763b2c67e0e423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20fed9d4094b7a" /><Relationship Type="http://schemas.openxmlformats.org/officeDocument/2006/relationships/image" Target="/ppt/media/image.png" Id="R3a101acb160b4b5a" /><Relationship Type="http://schemas.openxmlformats.org/officeDocument/2006/relationships/notesSlide" Target="/ppt/notesSlides/notesSlide4.xml" Id="Rd8d3b94422bf47e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179cbdac3343c0" /><Relationship Type="http://schemas.openxmlformats.org/officeDocument/2006/relationships/image" Target="/ppt/media/image2.png" Id="R4d86b48ca0cd4722" /><Relationship Type="http://schemas.openxmlformats.org/officeDocument/2006/relationships/notesSlide" Target="/ppt/notesSlides/notesSlide5.xml" Id="R59ec2b4ea4b440a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7085248ecb4ce7" /><Relationship Type="http://schemas.openxmlformats.org/officeDocument/2006/relationships/image" Target="/ppt/media/image3.png" Id="R7dfa601f35ad4636" /><Relationship Type="http://schemas.openxmlformats.org/officeDocument/2006/relationships/notesSlide" Target="/ppt/notesSlides/notesSlide6.xml" Id="Rc32f0ed2a597458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10eb58bde846fc" /><Relationship Type="http://schemas.openxmlformats.org/officeDocument/2006/relationships/notesSlide" Target="/ppt/notesSlides/notesSlide7.xml" Id="Rfe113303073a42f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720111c5c442df" /><Relationship Type="http://schemas.openxmlformats.org/officeDocument/2006/relationships/notesSlide" Target="/ppt/notesSlides/notesSlide8.xml" Id="Rfbb1268a6b7e49c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AA06128-D2C3-49C7-9799-2139AF6C8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00100"/>
            <a:ext cx="91630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000000"/>
                </a:solidFill>
              </a:defRPr>
            </a:pPr>
            <a:r>
              <a:rPr sz="5700" b="1">
                <a:solidFill>
                  <a:srgbClr val="000000"/>
                </a:solidFill>
              </a:rPr>
              <a:t>Mixture-of-Prefetchers</a:t>
            </a:r>
          </a:p>
        </p:txBody>
      </p:sp>
      <p:sp>
        <p:nvSpPr>
          <p:cNvPr id="2" name="cover-rule">
            <a:extLst xmlns:a="http://schemas.openxmlformats.org/drawingml/2006/main">
              <a:ext uri="{FF2B5EF4-FFF2-40B4-BE49-F238E27FC236}">
                <a16:creationId xmlns:a16="http://schemas.microsoft.com/office/drawing/2014/main" id="{FCCCE44D-FD62-4161-950B-2D654A09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665B6407-59C4-4F13-AFE2-5FADA6D0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91630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000000"/>
                </a:solidFill>
              </a:defRPr>
            </a:pPr>
            <a:r>
              <a:rPr sz="2550">
                <a:solidFill>
                  <a:srgbClr val="000000"/>
                </a:solidFill>
              </a:rPr>
              <a:t>A small L2C router that closes the train-window pair-best gap and clears no-prefetch on heldout</a:t>
            </a:r>
          </a:p>
        </p:txBody>
      </p:sp>
      <p:sp>
        <p:nvSpPr>
          <p:cNvPr id="4" name="cover-metric-1">
            <a:extLst xmlns:a="http://schemas.openxmlformats.org/drawingml/2006/main">
              <a:ext uri="{FF2B5EF4-FFF2-40B4-BE49-F238E27FC236}">
                <a16:creationId xmlns:a16="http://schemas.microsoft.com/office/drawing/2014/main" id="{9D731DA8-0CC3-4E15-B60C-689346423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800100"/>
            <a:ext cx="6762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DC267F"/>
                </a:solidFill>
              </a:defRPr>
            </a:pPr>
            <a:r>
              <a:rPr sz="5850" b="1">
                <a:solidFill>
                  <a:srgbClr val="DC267F"/>
                </a:solidFill>
              </a:rPr>
              <a:t>0.9829x</a:t>
            </a:r>
          </a:p>
        </p:txBody>
      </p:sp>
      <p:sp>
        <p:nvSpPr>
          <p:cNvPr id="5" name="cover-label-1">
            <a:extLst xmlns:a="http://schemas.openxmlformats.org/drawingml/2006/main">
              <a:ext uri="{FF2B5EF4-FFF2-40B4-BE49-F238E27FC236}">
                <a16:creationId xmlns:a16="http://schemas.microsoft.com/office/drawing/2014/main" id="{C9DC9791-195F-43D5-BD4B-D7FFB21E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038350"/>
            <a:ext cx="676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train-window vs pair-best</a:t>
            </a:r>
          </a:p>
        </p:txBody>
      </p:sp>
      <p:sp>
        <p:nvSpPr>
          <p:cNvPr id="6" name="cover-metric-2">
            <a:extLst xmlns:a="http://schemas.openxmlformats.org/drawingml/2006/main">
              <a:ext uri="{FF2B5EF4-FFF2-40B4-BE49-F238E27FC236}">
                <a16:creationId xmlns:a16="http://schemas.microsoft.com/office/drawing/2014/main" id="{F5EFE05B-DF10-4F08-811C-C7E20B9D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667000"/>
            <a:ext cx="6762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648FFF"/>
                </a:solidFill>
              </a:defRPr>
            </a:pPr>
            <a:r>
              <a:rPr sz="5850" b="1">
                <a:solidFill>
                  <a:srgbClr val="648FFF"/>
                </a:solidFill>
              </a:rPr>
              <a:t>1.0033x</a:t>
            </a:r>
          </a:p>
        </p:txBody>
      </p:sp>
      <p:sp>
        <p:nvSpPr>
          <p:cNvPr id="7" name="cover-label-2">
            <a:extLst xmlns:a="http://schemas.openxmlformats.org/drawingml/2006/main">
              <a:ext uri="{FF2B5EF4-FFF2-40B4-BE49-F238E27FC236}">
                <a16:creationId xmlns:a16="http://schemas.microsoft.com/office/drawing/2014/main" id="{E8035DC6-83C4-4C66-8665-AEBA0DE6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905250"/>
            <a:ext cx="676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heldout vs no-prefetch</a:t>
            </a:r>
          </a:p>
        </p:txBody>
      </p:sp>
      <p:sp>
        <p:nvSpPr>
          <p:cNvPr id="8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B2A557B4-39B7-49C3-B8CE-DC3EB7AE0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343900"/>
            <a:ext cx="164592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CMU 15-740 class project, Stage 2 OpenEvolve report</a:t>
            </a:r>
          </a:p>
        </p:txBody>
      </p:sp>
    </p:spTree>
    <p:extLst>
      <p:ext uri="{BB962C8B-B14F-4D97-AF65-F5344CB8AC3E}">
        <p14:creationId xmlns:p14="http://schemas.microsoft.com/office/powerpoint/2010/main" val="27502259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A8C3815-8D57-431A-A058-7F48B585F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What we added to Athena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12D3449-1FB1-4135-B3AE-50D879CB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653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Athena is the simulator substrate. Our work is the router, sandboxed search, ledgers, and report pipeline.</a:t>
            </a:r>
          </a:p>
        </p:txBody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D259D593-04AE-4D22-B8CD-97982D9F4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Athena substrate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6722DAC3-8B70-44E9-91CB-63E38EC0A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ChampSim-derived simulator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18FCBE21-8C28-42ED-9323-D9FB22B7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Existing L2C prefetchers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57D3A22C-54BA-430B-94D8-C4968587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AthenaMAB comparator</a:t>
            </a:r>
          </a:p>
        </p:txBody>
      </p:sp>
      <p:sp>
        <p:nvSpPr>
          <p:cNvPr id="7" name="bullet-0">
            <a:extLst xmlns:a="http://schemas.openxmlformats.org/drawingml/2006/main">
              <a:ext uri="{FF2B5EF4-FFF2-40B4-BE49-F238E27FC236}">
                <a16:creationId xmlns:a16="http://schemas.microsoft.com/office/drawing/2014/main" id="{7D21B9FF-1173-400C-87E7-F09AD9C38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Our MoP layer</a:t>
            </a:r>
          </a:p>
        </p:txBody>
      </p:sp>
      <p:sp>
        <p:nvSpPr>
          <p:cNvPr id="8" name="bullet-1">
            <a:extLst xmlns:a="http://schemas.openxmlformats.org/drawingml/2006/main">
              <a:ext uri="{FF2B5EF4-FFF2-40B4-BE49-F238E27FC236}">
                <a16:creationId xmlns:a16="http://schemas.microsoft.com/office/drawing/2014/main" id="{F3E2172A-8E2A-4659-B352-A45BC877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Router aliases V0 through V1.3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FC209193-F756-4B4E-BFD4-AE0C359D2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Epoch action logging</a:t>
            </a:r>
          </a:p>
        </p:txBody>
      </p:sp>
      <p:sp>
        <p:nvSpPr>
          <p:cNvPr id="10" name="bullet-3">
            <a:extLst xmlns:a="http://schemas.openxmlformats.org/drawingml/2006/main">
              <a:ext uri="{FF2B5EF4-FFF2-40B4-BE49-F238E27FC236}">
                <a16:creationId xmlns:a16="http://schemas.microsoft.com/office/drawing/2014/main" id="{55A1FCBB-3D2D-4741-BAA6-310DFDF79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Budget and sticky controls</a:t>
            </a:r>
          </a:p>
        </p:txBody>
      </p:sp>
      <p:sp>
        <p:nvSpPr>
          <p:cNvPr id="11" name="bullet-0">
            <a:extLst xmlns:a="http://schemas.openxmlformats.org/drawingml/2006/main">
              <a:ext uri="{FF2B5EF4-FFF2-40B4-BE49-F238E27FC236}">
                <a16:creationId xmlns:a16="http://schemas.microsoft.com/office/drawing/2014/main" id="{858C6237-3079-4EA8-AEE9-A853006B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Our evidence layer</a:t>
            </a:r>
          </a:p>
        </p:txBody>
      </p:sp>
      <p:sp>
        <p:nvSpPr>
          <p:cNvPr id="12" name="bullet-1">
            <a:extLst xmlns:a="http://schemas.openxmlformats.org/drawingml/2006/main">
              <a:ext uri="{FF2B5EF4-FFF2-40B4-BE49-F238E27FC236}">
                <a16:creationId xmlns:a16="http://schemas.microsoft.com/office/drawing/2014/main" id="{8EBCC444-1FD5-4764-82D2-F8151F84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Frozen train/heldout split</a:t>
            </a:r>
          </a:p>
        </p:txBody>
      </p:sp>
      <p:sp>
        <p:nvSpPr>
          <p:cNvPr id="13" name="bullet-2">
            <a:extLst xmlns:a="http://schemas.openxmlformats.org/drawingml/2006/main">
              <a:ext uri="{FF2B5EF4-FFF2-40B4-BE49-F238E27FC236}">
                <a16:creationId xmlns:a16="http://schemas.microsoft.com/office/drawing/2014/main" id="{7DB1B36A-0B4E-4A13-8111-10738012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OpenEvolve candidate ledger</a:t>
            </a:r>
          </a:p>
        </p:txBody>
      </p:sp>
      <p:sp>
        <p:nvSpPr>
          <p:cNvPr id="14" name="bullet-3">
            <a:extLst xmlns:a="http://schemas.openxmlformats.org/drawingml/2006/main">
              <a:ext uri="{FF2B5EF4-FFF2-40B4-BE49-F238E27FC236}">
                <a16:creationId xmlns:a16="http://schemas.microsoft.com/office/drawing/2014/main" id="{E93617EC-B7BF-4845-A917-3A77B4743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Parser-preserving report assets</a:t>
            </a:r>
          </a:p>
        </p:txBody>
      </p:sp>
    </p:spTree>
    <p:extLst>
      <p:ext uri="{BB962C8B-B14F-4D97-AF65-F5344CB8AC3E}">
        <p14:creationId xmlns:p14="http://schemas.microsoft.com/office/powerpoint/2010/main" val="132564086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FD0ED3C-3839-4B60-8498-37FE7D3D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Protocol: pair-best first, no-prefetch second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25EAC628-50AC-42C6-9357-1E30D672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223FB2E0-2641-430C-81CA-7E8558DDF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Expert pair: MLOP + SPP+PPF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4C97958E-9778-4BAD-A174-140C2502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Cache level: L2C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255B7AEE-2CCF-4602-A3E8-53EDF14D2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4320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17 train traces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EF8F71BB-1A61-4FBF-A747-B6140EC57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7 heldout traces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D9FE6660-96E7-4278-B9B0-5C2C984B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Heldout used after selection freeze</a:t>
            </a:r>
          </a:p>
        </p:txBody>
      </p:sp>
      <p:sp>
        <p:nvSpPr>
          <p:cNvPr id="8" name="bullet-0">
            <a:extLst xmlns:a="http://schemas.openxmlformats.org/drawingml/2006/main">
              <a:ext uri="{FF2B5EF4-FFF2-40B4-BE49-F238E27FC236}">
                <a16:creationId xmlns:a16="http://schemas.microsoft.com/office/drawing/2014/main" id="{48014A44-C117-4A71-A281-7498FFCA8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77165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Primary comparator: pair-best single</a:t>
            </a:r>
          </a:p>
        </p:txBody>
      </p:sp>
      <p:sp>
        <p:nvSpPr>
          <p:cNvPr id="9" name="bullet-1">
            <a:extLst xmlns:a="http://schemas.openxmlformats.org/drawingml/2006/main">
              <a:ext uri="{FF2B5EF4-FFF2-40B4-BE49-F238E27FC236}">
                <a16:creationId xmlns:a16="http://schemas.microsoft.com/office/drawing/2014/main" id="{042533C8-0304-4599-A288-5A1FE1E71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4790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Secondary comparator: no-prefetch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FC20D685-6F2B-47F1-9018-4F43C7B3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4320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Practical floor: weaker expert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354B3A50-6A37-4CF8-B9B3-B798D78B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21945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Simple coordinators: WinnerTakeAll, OneShotFit, AthenaMAB</a:t>
            </a:r>
          </a:p>
        </p:txBody>
      </p:sp>
      <p:sp>
        <p:nvSpPr>
          <p:cNvPr id="12" name="protocol-footer">
            <a:extLst xmlns:a="http://schemas.openxmlformats.org/drawingml/2006/main">
              <a:ext uri="{FF2B5EF4-FFF2-40B4-BE49-F238E27FC236}">
                <a16:creationId xmlns:a16="http://schemas.microsoft.com/office/drawing/2014/main" id="{5E529179-81D8-4172-84B8-083387BF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372600"/>
            <a:ext cx="16535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Selection used train/search surfaces. Heldout appears only after the seed is fixed.</a:t>
            </a:r>
          </a:p>
        </p:txBody>
      </p:sp>
    </p:spTree>
    <p:extLst>
      <p:ext uri="{BB962C8B-B14F-4D97-AF65-F5344CB8AC3E}">
        <p14:creationId xmlns:p14="http://schemas.microsoft.com/office/powerpoint/2010/main" val="23760502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3879717-2C1A-4B17-85D2-E5829F68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OpenEvolve improved the train-window router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1184FF6-EEB2-4548-837F-65E181AA2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MoP-V1.3 improves both train-window comparators, then shows a smaller heldout lift.</a:t>
            </a:r>
          </a:p>
        </p:txBody>
      </p:sp>
      <p:pic>
        <p:nvPicPr>
          <p:cNvPr id="3" name="pre-post-figur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101acb160b4b5a"/>
          <a:stretch xmlns:a="http://schemas.openxmlformats.org/drawingml/2006/main"/>
        </p:blipFill>
        <p:spPr>
          <a:xfrm xmlns:a="http://schemas.openxmlformats.org/drawingml/2006/main">
            <a:off x="666750" y="2002155"/>
            <a:ext cx="16954500" cy="745998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50104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5CA4FA-E8EB-4FCA-8101-7A6296B9E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Heldout shows a modest geomean lift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CD03C7D-CC85-4455-B3F3-46373D043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Heldout clears no-prefetch by geomean, while trace-level placement shows why pair-best remains the upper bar.</a:t>
            </a:r>
          </a:p>
        </p:txBody>
      </p:sp>
      <p:pic>
        <p:nvPicPr>
          <p:cNvPr id="3" name="heldout-profil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86b48ca0cd4722"/>
          <a:stretch xmlns:a="http://schemas.openxmlformats.org/drawingml/2006/main"/>
        </p:blipFill>
        <p:spPr>
          <a:xfrm xmlns:a="http://schemas.openxmlformats.org/drawingml/2006/main">
            <a:off x="1023754" y="1710690"/>
            <a:ext cx="16240491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18772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1624A67-BEF8-494E-B9EC-723B75D8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Model sweeps improved screens, confirmation kept the seed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537EC2E-9125-4CBF-A90A-1586C6AB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Scaled search found similar cheap-screen candidates, then 10-trace confirmation preserved the active seed at 0.9801x.</a:t>
            </a:r>
          </a:p>
        </p:txBody>
      </p:sp>
      <p:pic>
        <p:nvPicPr>
          <p:cNvPr id="3" name="scale-model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fa601f35ad4636"/>
          <a:stretch xmlns:a="http://schemas.openxmlformats.org/drawingml/2006/main"/>
        </p:blipFill>
        <p:spPr>
          <a:xfrm xmlns:a="http://schemas.openxmlformats.org/drawingml/2006/main">
            <a:off x="666750" y="2495377"/>
            <a:ext cx="16954500" cy="647353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08486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59BE67E-57A7-4620-868F-1B02B911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The evaluator made search auditable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00D3706-0A33-440F-9394-C91B91BB1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653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Candidate programs were allowed to change only a literal policy dictionary.</a:t>
            </a:r>
          </a:p>
        </p:txBody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B837558C-FF5B-4EF8-B790-2474E9AF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Allowed outputs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39E537AF-0074-4138-BF39-E879E635D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Router choice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4D1CC32D-FD95-4991-AA8C-26F34243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Budget split knobs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6202887A-13A8-4604-9636-338429E0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Sticky margin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4744D77D-AE0D-4D78-BE8A-D7F047E07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243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Score weights</a:t>
            </a:r>
          </a:p>
        </p:txBody>
      </p:sp>
      <p:sp>
        <p:nvSpPr>
          <p:cNvPr id="8" name="bullet-0">
            <a:extLst xmlns:a="http://schemas.openxmlformats.org/drawingml/2006/main">
              <a:ext uri="{FF2B5EF4-FFF2-40B4-BE49-F238E27FC236}">
                <a16:creationId xmlns:a16="http://schemas.microsoft.com/office/drawing/2014/main" id="{8663253C-D99F-459A-952A-3370B59C9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002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Recorded failures</a:t>
            </a:r>
          </a:p>
        </p:txBody>
      </p:sp>
      <p:sp>
        <p:nvSpPr>
          <p:cNvPr id="9" name="bullet-1">
            <a:extLst xmlns:a="http://schemas.openxmlformats.org/drawingml/2006/main">
              <a:ext uri="{FF2B5EF4-FFF2-40B4-BE49-F238E27FC236}">
                <a16:creationId xmlns:a16="http://schemas.microsoft.com/office/drawing/2014/main" id="{5656CA13-A510-4D57-8C68-8E7CB9630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Simulator SIGBUS rows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3423E923-E3FA-4D62-BBB5-C3F66D3D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9718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Unknown policy keys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88822A33-1164-43AB-8753-50F9CC8D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480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Helper/import code</a:t>
            </a:r>
          </a:p>
        </p:txBody>
      </p:sp>
      <p:sp>
        <p:nvSpPr>
          <p:cNvPr id="12" name="bullet-4">
            <a:extLst xmlns:a="http://schemas.openxmlformats.org/drawingml/2006/main">
              <a:ext uri="{FF2B5EF4-FFF2-40B4-BE49-F238E27FC236}">
                <a16:creationId xmlns:a16="http://schemas.microsoft.com/office/drawing/2014/main" id="{410C9636-3CC2-4763-8CBC-04323CA10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9243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Missing evolve markers</a:t>
            </a:r>
          </a:p>
        </p:txBody>
      </p:sp>
      <p:sp>
        <p:nvSpPr>
          <p:cNvPr id="13" name="audit-footer">
            <a:extLst xmlns:a="http://schemas.openxmlformats.org/drawingml/2006/main">
              <a:ext uri="{FF2B5EF4-FFF2-40B4-BE49-F238E27FC236}">
                <a16:creationId xmlns:a16="http://schemas.microsoft.com/office/drawing/2014/main" id="{23562AB2-8337-4EC3-9C84-843878EC3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372600"/>
            <a:ext cx="16535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Ledger: 290 candidates, 225 valid scored rows, 65 fail-closed rows. Malformed or crashed candidates receive combined_score = -10.0.</a:t>
            </a:r>
          </a:p>
        </p:txBody>
      </p:sp>
    </p:spTree>
    <p:extLst>
      <p:ext uri="{BB962C8B-B14F-4D97-AF65-F5344CB8AC3E}">
        <p14:creationId xmlns:p14="http://schemas.microsoft.com/office/powerpoint/2010/main" val="172031117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9007733-2C31-4541-8E03-95D1EF89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Defensible claims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D9CA3DA7-0301-400E-8C4F-DD70F896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DA335108-832B-4E51-8C38-7C8781D03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Primary defended claim: Stage 2 closes the train-window gap against pair-best single.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94C8C1AF-001D-4B4B-96B7-EC42C17AB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Heldout claim: the selected router clears no-prefetch in geomean.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675C358D-ADD1-49DE-B215-28292D7FE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The selected router beats simple coordination baselines on the 13-trace train-window surface.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7589EFB7-420C-4336-BD8B-06DD62A5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Pair-best single remains the upper comparator, which keeps the claim honest.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3BD6D933-3FE6-45A8-B449-EA5C406DE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The final artifacts preserve raw metric paths, ledgers, configs, and generated figures.</a:t>
            </a:r>
          </a:p>
        </p:txBody>
      </p:sp>
    </p:spTree>
    <p:extLst>
      <p:ext uri="{BB962C8B-B14F-4D97-AF65-F5344CB8AC3E}">
        <p14:creationId xmlns:p14="http://schemas.microsoft.com/office/powerpoint/2010/main" val="14160113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2026-04-30T02:06:31.4320000Z</dcterms:created>
  <dcterms:modified xsi:type="dcterms:W3CDTF">2026-04-30T02:06:31.4320000Z</dcterms:modified>
</coreProperties>
</file>