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927af611344965" /><Relationship Type="http://schemas.openxmlformats.org/officeDocument/2006/relationships/extended-properties" Target="/docProps/app.xml" Id="R8905b8f7de9245ad" /><Relationship Type="http://schemas.openxmlformats.org/officeDocument/2006/relationships/officeDocument" Target="/ppt/presentation.xml" Id="R7a509befed4440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d604f2ad8d4dac"/>
  </p:sldMasterIdLst>
  <p:notesMasterIdLst>
    <p:notesMasterId xmlns:r="http://schemas.openxmlformats.org/officeDocument/2006/relationships" r:id="R229392969a1641e6"/>
  </p:notesMasterIdLst>
  <p:sldIdLst>
    <p:sldId xmlns:r="http://schemas.openxmlformats.org/officeDocument/2006/relationships" id="256" r:id="R5863beff42844f83"/>
    <p:sldId xmlns:r="http://schemas.openxmlformats.org/officeDocument/2006/relationships" id="257" r:id="R70e3820ca45c4c8d"/>
    <p:sldId xmlns:r="http://schemas.openxmlformats.org/officeDocument/2006/relationships" id="258" r:id="Ra11e86026d924d24"/>
    <p:sldId xmlns:r="http://schemas.openxmlformats.org/officeDocument/2006/relationships" id="259" r:id="R88fc264c67e24c01"/>
    <p:sldId xmlns:r="http://schemas.openxmlformats.org/officeDocument/2006/relationships" id="260" r:id="R03297268302b4509"/>
    <p:sldId xmlns:r="http://schemas.openxmlformats.org/officeDocument/2006/relationships" id="261" r:id="R2478ab221263467d"/>
    <p:sldId xmlns:r="http://schemas.openxmlformats.org/officeDocument/2006/relationships" id="262" r:id="R6ade8a826c3041f5"/>
    <p:sldId xmlns:r="http://schemas.openxmlformats.org/officeDocument/2006/relationships" id="263" r:id="R6d80aa0b00ac4d28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d604f2ad8d4dac" /><Relationship Type="http://schemas.openxmlformats.org/officeDocument/2006/relationships/theme" Target="/ppt/theme/theme1.xml" Id="Rc6f135d2264e4454" /><Relationship Type="http://schemas.openxmlformats.org/officeDocument/2006/relationships/notesMaster" Target="/ppt/notesMasters/notesMaster1.xml" Id="R229392969a1641e6" /><Relationship Type="http://schemas.openxmlformats.org/officeDocument/2006/relationships/presProps" Target="/ppt/presProps.xml" Id="R752ee9c10c5848dd" /><Relationship Type="http://schemas.openxmlformats.org/officeDocument/2006/relationships/viewProps" Target="/ppt/viewProps.xml" Id="Rdb5922ae75b94f77" /><Relationship Type="http://schemas.openxmlformats.org/officeDocument/2006/relationships/tableStyles" Target="/ppt/tableStyles.xml" Id="Rd0f008201d694b62" /><Relationship Type="http://schemas.openxmlformats.org/officeDocument/2006/relationships/slide" Target="/ppt/slides/slide1.xml" Id="R5863beff42844f83" /><Relationship Type="http://schemas.openxmlformats.org/officeDocument/2006/relationships/slide" Target="/ppt/slides/slide2.xml" Id="R70e3820ca45c4c8d" /><Relationship Type="http://schemas.openxmlformats.org/officeDocument/2006/relationships/slide" Target="/ppt/slides/slide3.xml" Id="Ra11e86026d924d24" /><Relationship Type="http://schemas.openxmlformats.org/officeDocument/2006/relationships/slide" Target="/ppt/slides/slide4.xml" Id="R88fc264c67e24c01" /><Relationship Type="http://schemas.openxmlformats.org/officeDocument/2006/relationships/slide" Target="/ppt/slides/slide5.xml" Id="R03297268302b4509" /><Relationship Type="http://schemas.openxmlformats.org/officeDocument/2006/relationships/slide" Target="/ppt/slides/slide6.xml" Id="R2478ab221263467d" /><Relationship Type="http://schemas.openxmlformats.org/officeDocument/2006/relationships/slide" Target="/ppt/slides/slide7.xml" Id="R6ade8a826c3041f5" /><Relationship Type="http://schemas.openxmlformats.org/officeDocument/2006/relationships/slide" Target="/ppt/slides/slide8.xml" Id="R6d80aa0b00ac4d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a429902977c4f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3e0a7aed7444c1" /><Relationship Type="http://schemas.openxmlformats.org/officeDocument/2006/relationships/notesMaster" Target="/ppt/notesMasters/notesMaster1.xml" Id="R6705aadf157a40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65c161eb6f42c9" /><Relationship Type="http://schemas.openxmlformats.org/officeDocument/2006/relationships/notesMaster" Target="/ppt/notesMasters/notesMaster1.xml" Id="Ra31dd6aedf9446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831cdaf1744cc2" /><Relationship Type="http://schemas.openxmlformats.org/officeDocument/2006/relationships/notesMaster" Target="/ppt/notesMasters/notesMaster1.xml" Id="R164f540a6c214c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0ed132081a410f" /><Relationship Type="http://schemas.openxmlformats.org/officeDocument/2006/relationships/notesMaster" Target="/ppt/notesMasters/notesMaster1.xml" Id="R57b41adcf0b84d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80f20a7d6f4d98" /><Relationship Type="http://schemas.openxmlformats.org/officeDocument/2006/relationships/notesMaster" Target="/ppt/notesMasters/notesMaster1.xml" Id="Rf157f3b9c30d4d3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63fb4ce3fd48e2" /><Relationship Type="http://schemas.openxmlformats.org/officeDocument/2006/relationships/notesMaster" Target="/ppt/notesMasters/notesMaster1.xml" Id="R7fbec346089d41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9b24e80e254488" /><Relationship Type="http://schemas.openxmlformats.org/officeDocument/2006/relationships/notesMaster" Target="/ppt/notesMasters/notesMaster1.xml" Id="R1529e79535f145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c7ea98af384abd" /><Relationship Type="http://schemas.openxmlformats.org/officeDocument/2006/relationships/notesMaster" Target="/ppt/notesMasters/notesMaster1.xml" Id="R6ee62b60f88d4e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35bc84ecaa42d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a8a47609de145ba" /><Relationship Type="http://schemas.openxmlformats.org/officeDocument/2006/relationships/slideLayout" Target="/ppt/slideLayouts/slideLayout2.xml" Id="R96df0cfde3cc43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df0cfde3cc43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ea185be5c448ba" /><Relationship Type="http://schemas.openxmlformats.org/officeDocument/2006/relationships/notesSlide" Target="/ppt/notesSlides/notesSlide1.xml" Id="Rcf9ca5cb635043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4c7be7d4174d8d" /><Relationship Type="http://schemas.openxmlformats.org/officeDocument/2006/relationships/notesSlide" Target="/ppt/notesSlides/notesSlide2.xml" Id="R6a4f617f7ade40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d5072be3e54a98" /><Relationship Type="http://schemas.openxmlformats.org/officeDocument/2006/relationships/notesSlide" Target="/ppt/notesSlides/notesSlide3.xml" Id="R3232a07ea91644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f3dfe14c524bb5" /><Relationship Type="http://schemas.openxmlformats.org/officeDocument/2006/relationships/image" Target="/ppt/media/image.png" Id="Rd653157f12eb443f" /><Relationship Type="http://schemas.openxmlformats.org/officeDocument/2006/relationships/notesSlide" Target="/ppt/notesSlides/notesSlide4.xml" Id="Rbd6ce7fae74942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214d4966094f36" /><Relationship Type="http://schemas.openxmlformats.org/officeDocument/2006/relationships/image" Target="/ppt/media/image2.png" Id="R5e8c08fc57714e6a" /><Relationship Type="http://schemas.openxmlformats.org/officeDocument/2006/relationships/notesSlide" Target="/ppt/notesSlides/notesSlide5.xml" Id="R5e0ea16a32ae49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e969bbf2994e3f" /><Relationship Type="http://schemas.openxmlformats.org/officeDocument/2006/relationships/image" Target="/ppt/media/image3.png" Id="R8616add91aee48b8" /><Relationship Type="http://schemas.openxmlformats.org/officeDocument/2006/relationships/notesSlide" Target="/ppt/notesSlides/notesSlide6.xml" Id="R46a397743a6845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3ef966e5984b2d" /><Relationship Type="http://schemas.openxmlformats.org/officeDocument/2006/relationships/notesSlide" Target="/ppt/notesSlides/notesSlide7.xml" Id="R32afa641f6e043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e4890b7ab34a84" /><Relationship Type="http://schemas.openxmlformats.org/officeDocument/2006/relationships/notesSlide" Target="/ppt/notesSlides/notesSlide8.xml" Id="R38f941a6b99041b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9E3762B-33BF-47B5-B980-7207449B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00100"/>
            <a:ext cx="91630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000000"/>
                </a:solidFill>
              </a:defRPr>
            </a:pPr>
            <a:r>
              <a:rPr sz="5700" b="1">
                <a:solidFill>
                  <a:srgbClr val="000000"/>
                </a:solidFill>
              </a:rPr>
              <a:t>Mixture-of-Prefetchers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9FCF0678-5DA3-48C3-9EBF-70C2B454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AF458420-EAB3-4A84-910C-B1EF2B74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91630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000000"/>
                </a:solidFill>
              </a:defRPr>
            </a:pPr>
            <a:r>
              <a:rPr sz="2550">
                <a:solidFill>
                  <a:srgbClr val="000000"/>
                </a:solidFill>
              </a:rPr>
              <a:t>A small L2-cache router that improves IPC over disabled prefetching and tracks a best expert</a:t>
            </a:r>
          </a:p>
        </p:txBody>
      </p:sp>
      <p:sp>
        <p:nvSpPr>
          <p:cNvPr id="4" name="cover-metric-1">
            <a:extLst xmlns:a="http://schemas.openxmlformats.org/drawingml/2006/main">
              <a:ext uri="{FF2B5EF4-FFF2-40B4-BE49-F238E27FC236}">
                <a16:creationId xmlns:a16="http://schemas.microsoft.com/office/drawing/2014/main" id="{9CDE8440-A185-468C-BFD5-16A8B0E9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8001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DC267F"/>
                </a:solidFill>
              </a:defRPr>
            </a:pPr>
            <a:r>
              <a:rPr sz="5850" b="1">
                <a:solidFill>
                  <a:srgbClr val="DC267F"/>
                </a:solidFill>
              </a:rPr>
              <a:t>1.066x</a:t>
            </a:r>
          </a:p>
        </p:txBody>
      </p:sp>
      <p:sp>
        <p:nvSpPr>
          <p:cNvPr id="5" name="cover-label-1">
            <a:extLst xmlns:a="http://schemas.openxmlformats.org/drawingml/2006/main">
              <a:ext uri="{FF2B5EF4-FFF2-40B4-BE49-F238E27FC236}">
                <a16:creationId xmlns:a16="http://schemas.microsoft.com/office/drawing/2014/main" id="{9A0DA18A-E21F-4539-A003-5856C34F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383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13-trace training-split validation vs disabled prefetching</a:t>
            </a:r>
          </a:p>
        </p:txBody>
      </p:sp>
      <p:sp>
        <p:nvSpPr>
          <p:cNvPr id="6" name="cover-metric-2">
            <a:extLst xmlns:a="http://schemas.openxmlformats.org/drawingml/2006/main">
              <a:ext uri="{FF2B5EF4-FFF2-40B4-BE49-F238E27FC236}">
                <a16:creationId xmlns:a16="http://schemas.microsoft.com/office/drawing/2014/main" id="{E4FBF75D-0376-48B3-B87B-64B1D5F0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667000"/>
            <a:ext cx="67627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648FFF"/>
                </a:solidFill>
              </a:defRPr>
            </a:pPr>
            <a:r>
              <a:rPr sz="5850" b="1">
                <a:solidFill>
                  <a:srgbClr val="648FFF"/>
                </a:solidFill>
              </a:rPr>
              <a:t>1.003x</a:t>
            </a:r>
          </a:p>
        </p:txBody>
      </p:sp>
      <p:sp>
        <p:nvSpPr>
          <p:cNvPr id="7" name="cover-label-2">
            <a:extLst xmlns:a="http://schemas.openxmlformats.org/drawingml/2006/main">
              <a:ext uri="{FF2B5EF4-FFF2-40B4-BE49-F238E27FC236}">
                <a16:creationId xmlns:a16="http://schemas.microsoft.com/office/drawing/2014/main" id="{25D31144-5D87-4BA0-AD99-8B8168F7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905250"/>
            <a:ext cx="6762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0000"/>
                </a:solidFill>
              </a:defRPr>
            </a:pPr>
            <a:r>
              <a:rPr sz="1950">
                <a:solidFill>
                  <a:srgbClr val="000000"/>
                </a:solidFill>
              </a:rPr>
              <a:t>7-trace heldout vs disabled prefetching</a:t>
            </a:r>
          </a:p>
        </p:txBody>
      </p:sp>
      <p:sp>
        <p:nvSpPr>
          <p:cNvPr id="8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5CFF5CF6-208C-4263-92B0-1F1185D8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343900"/>
            <a:ext cx="164592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CMU 15-740 class project, OpenEvolve training-split report</a:t>
            </a:r>
          </a:p>
        </p:txBody>
      </p:sp>
    </p:spTree>
    <p:extLst>
      <p:ext uri="{BB962C8B-B14F-4D97-AF65-F5344CB8AC3E}">
        <p14:creationId xmlns:p14="http://schemas.microsoft.com/office/powerpoint/2010/main" val="1793642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2D9EA3-E6FD-482F-80A7-35F5EFE4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What we added to Athena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BE82851-DCEB-4B5A-B885-C737C0ED3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Athena is the simulator substrate. Our work is the router, sandboxed search, ledgers, and report pipeline.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5F7D0960-A51D-4F09-B040-6D5BFC4F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 substrate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5E75341D-3F57-4EDD-82FB-B6BF713B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ChampSim-derived simulator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FEB625AF-8E1D-4911-A12E-63199986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Existing L2C prefetchers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EA6C2B86-C089-4D07-87FA-516A85D1D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AthenaMAB comparator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6761ECB7-067A-42BF-9AB3-9EBE0D2EA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router layer</a:t>
            </a:r>
          </a:p>
        </p:txBody>
      </p:sp>
      <p:sp>
        <p:nvSpPr>
          <p:cNvPr id="8" name="bullet-1">
            <a:extLst xmlns:a="http://schemas.openxmlformats.org/drawingml/2006/main">
              <a:ext uri="{FF2B5EF4-FFF2-40B4-BE49-F238E27FC236}">
                <a16:creationId xmlns:a16="http://schemas.microsoft.com/office/drawing/2014/main" id="{BCEF3C82-DEC8-4FE9-B078-03791722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MoP-V1 manual router</a:t>
            </a:r>
          </a:p>
        </p:txBody>
      </p:sp>
      <p:sp>
        <p:nvSpPr>
          <p:cNvPr id="9" name="bullet-2">
            <a:extLst xmlns:a="http://schemas.openxmlformats.org/drawingml/2006/main">
              <a:ext uri="{FF2B5EF4-FFF2-40B4-BE49-F238E27FC236}">
                <a16:creationId xmlns:a16="http://schemas.microsoft.com/office/drawing/2014/main" id="{AC0F4995-4576-430C-95A8-2E2AA3D0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MoP-V2 OpenEvolve-tuned router</a:t>
            </a:r>
          </a:p>
        </p:txBody>
      </p:sp>
      <p:sp>
        <p:nvSpPr>
          <p:cNvPr id="10" name="bullet-3">
            <a:extLst xmlns:a="http://schemas.openxmlformats.org/drawingml/2006/main">
              <a:ext uri="{FF2B5EF4-FFF2-40B4-BE49-F238E27FC236}">
                <a16:creationId xmlns:a16="http://schemas.microsoft.com/office/drawing/2014/main" id="{93E65DE0-DF16-4F1C-8591-F9E1B824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Epoch counters and budget controls</a:t>
            </a:r>
          </a:p>
        </p:txBody>
      </p:sp>
      <p:sp>
        <p:nvSpPr>
          <p:cNvPr id="11" name="bullet-0">
            <a:extLst xmlns:a="http://schemas.openxmlformats.org/drawingml/2006/main">
              <a:ext uri="{FF2B5EF4-FFF2-40B4-BE49-F238E27FC236}">
                <a16:creationId xmlns:a16="http://schemas.microsoft.com/office/drawing/2014/main" id="{D74FE309-7996-4D7E-88CD-593DC9FE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0002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Our evidence layer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DF30B93D-AD8A-4DF1-B85F-A4728E6A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4574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17 train traces, 7 heldout traces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62D084BB-D290-40FF-BFF0-8D3BC67D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29146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OpenEvolve candidate ledger</a:t>
            </a:r>
          </a:p>
        </p:txBody>
      </p:sp>
      <p:sp>
        <p:nvSpPr>
          <p:cNvPr id="14" name="bullet-3">
            <a:extLst xmlns:a="http://schemas.openxmlformats.org/drawingml/2006/main">
              <a:ext uri="{FF2B5EF4-FFF2-40B4-BE49-F238E27FC236}">
                <a16:creationId xmlns:a16="http://schemas.microsoft.com/office/drawing/2014/main" id="{1107181C-1C07-4842-AD34-262B8830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1050" y="3371850"/>
            <a:ext cx="5200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000000"/>
                </a:solidFill>
              </a:defRPr>
            </a:pPr>
            <a:r>
              <a:rPr sz="2025">
                <a:solidFill>
                  <a:srgbClr val="000000"/>
                </a:solidFill>
              </a:rPr>
              <a:t>Generated tables and figures</a:t>
            </a:r>
          </a:p>
        </p:txBody>
      </p:sp>
    </p:spTree>
    <p:extLst>
      <p:ext uri="{BB962C8B-B14F-4D97-AF65-F5344CB8AC3E}">
        <p14:creationId xmlns:p14="http://schemas.microsoft.com/office/powerpoint/2010/main" val="155407424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DB212F-F367-4072-875C-C4D8A7B0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Protocol: disabled prefetching is 1x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5B208A43-20C2-4982-9B39-DED45295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C65D4C71-54D8-4A25-AADE-B03D8E0C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Expert pair: MLOP + SPP+PPF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2D97471F-B799-45DC-A784-B0367182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Cache level: L2C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1009E340-FADE-4092-A50B-218F49E8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Search: 10 training traces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F2A0AEBA-7D15-4420-A41C-375CFBBE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Training-split validation: 13 local traces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3256B51B-4C60-45ED-86CC-BDA88D39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7200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Heldout: 7 traces after policy selection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D6549EB3-B152-435C-A335-15620061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716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Performance baseline: disabled prefetching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2A70479B-9E5D-4FEB-B509-FAD7EB93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479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Best expert: max(MLOP, SPP+PPF) per trace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EF42F35B-0AC3-4CF8-B627-69283985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4320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Minimum check: beat the worse prefetcher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CE64E229-A5F4-418E-A104-3B632C5A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19450"/>
            <a:ext cx="8801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Simple routers: WinnerTakeAll, OneShotFit, AthenaMAB</a:t>
            </a:r>
          </a:p>
        </p:txBody>
      </p:sp>
      <p:sp>
        <p:nvSpPr>
          <p:cNvPr id="12" name="protocol-footer">
            <a:extLst xmlns:a="http://schemas.openxmlformats.org/drawingml/2006/main">
              <a:ext uri="{FF2B5EF4-FFF2-40B4-BE49-F238E27FC236}">
                <a16:creationId xmlns:a16="http://schemas.microsoft.com/office/drawing/2014/main" id="{3DA69A02-6815-444D-BABA-4CCF04742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The 13-trace training-split surface has complete local artifacts. The four other train traces are facesim, ligra_BFS, ligra_Triangle, and secret_compute_int_243.</a:t>
            </a:r>
          </a:p>
        </p:txBody>
      </p:sp>
    </p:spTree>
    <p:extLst>
      <p:ext uri="{BB962C8B-B14F-4D97-AF65-F5344CB8AC3E}">
        <p14:creationId xmlns:p14="http://schemas.microsoft.com/office/powerpoint/2010/main" val="38473024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4FBD647-6AE3-4F8C-B0DB-DD1239BF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improved the router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0710CB7-9B56-416E-8375-03E10F2A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Bars use disabled prefetching as 1x. Yellow marks show the per-trace best expert.</a:t>
            </a:r>
          </a:p>
        </p:txBody>
      </p:sp>
      <p:pic>
        <p:nvPicPr>
          <p:cNvPr id="3" name="pre-post-figur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3157f12eb443f"/>
          <a:stretch xmlns:a="http://schemas.openxmlformats.org/drawingml/2006/main"/>
        </p:blipFill>
        <p:spPr>
          <a:xfrm xmlns:a="http://schemas.openxmlformats.org/drawingml/2006/main">
            <a:off x="765969" y="1710690"/>
            <a:ext cx="16756063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44728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F4EC86-18F3-4E37-B8A1-09B82CEC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Heldout shows a modest geomean lift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0BBD089-83B5-43E9-88B8-8303DBCA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Horizontal bars compare MLOP, SPP+PPF, MoP-V1, and MoP-V2 on each heldout trace.</a:t>
            </a:r>
          </a:p>
        </p:txBody>
      </p:sp>
      <p:pic>
        <p:nvPicPr>
          <p:cNvPr id="3" name="heldout-profil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c08fc57714e6a"/>
          <a:stretch xmlns:a="http://schemas.openxmlformats.org/drawingml/2006/main"/>
        </p:blipFill>
        <p:spPr>
          <a:xfrm xmlns:a="http://schemas.openxmlformats.org/drawingml/2006/main">
            <a:off x="1574202" y="1710690"/>
            <a:ext cx="15139595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74542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5999B9-B6A0-422B-8683-A4958437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"/>
            <a:ext cx="1695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OpenEvolve search trajectory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EE1DEE5-E3A7-4497-9F14-705BCA5B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1695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Left: 3-trace quick evaluation. Right: 10-trace wider validation. Lines show best-so-far by weighted score.</a:t>
            </a:r>
          </a:p>
        </p:txBody>
      </p:sp>
      <p:pic>
        <p:nvPicPr>
          <p:cNvPr id="3" name="scale-model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6add91aee48b8"/>
          <a:stretch xmlns:a="http://schemas.openxmlformats.org/drawingml/2006/main"/>
        </p:blipFill>
        <p:spPr>
          <a:xfrm xmlns:a="http://schemas.openxmlformats.org/drawingml/2006/main">
            <a:off x="1101090" y="1710690"/>
            <a:ext cx="16085820" cy="804291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6403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18F807-0C15-4F9B-B199-383D36DF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The evaluator made search auditable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3022133-752D-4BB3-B8AA-C1621D6B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16535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0000"/>
                </a:solidFill>
              </a:defRPr>
            </a:pPr>
            <a:r>
              <a:rPr sz="1800">
                <a:solidFill>
                  <a:srgbClr val="000000"/>
                </a:solidFill>
              </a:rPr>
              <a:t>Candidate programs changed a literal policy dictionary.</a:t>
            </a:r>
          </a:p>
        </p:txBody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1C7E2466-7327-4226-9D91-D4CED110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Allowed outputs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DD0FF99E-5CA1-4BC9-971C-EEBB3B44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Router choice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F94D9D8B-A872-4631-8563-73F4E240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Budget split knobs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C279219F-EF60-49A0-B3B4-78F91DC1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Close-score tie margin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2F5BEB86-66B8-4D2B-BD30-4B7EE897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Score weights</a:t>
            </a:r>
          </a:p>
        </p:txBody>
      </p:sp>
      <p:sp>
        <p:nvSpPr>
          <p:cNvPr id="8" name="bullet-0">
            <a:extLst xmlns:a="http://schemas.openxmlformats.org/drawingml/2006/main">
              <a:ext uri="{FF2B5EF4-FFF2-40B4-BE49-F238E27FC236}">
                <a16:creationId xmlns:a16="http://schemas.microsoft.com/office/drawing/2014/main" id="{CAC47D35-6485-4226-867C-390C2934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002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Recorded failures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17A73E26-FAB0-441F-8959-FE13744E1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Simulator failures</a:t>
            </a:r>
          </a:p>
        </p:txBody>
      </p:sp>
      <p:sp>
        <p:nvSpPr>
          <p:cNvPr id="10" name="bullet-2">
            <a:extLst xmlns:a="http://schemas.openxmlformats.org/drawingml/2006/main">
              <a:ext uri="{FF2B5EF4-FFF2-40B4-BE49-F238E27FC236}">
                <a16:creationId xmlns:a16="http://schemas.microsoft.com/office/drawing/2014/main" id="{67E0BE1A-D7FE-41F1-8F09-B4503D6A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9718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Unknown policy keys</a:t>
            </a:r>
          </a:p>
        </p:txBody>
      </p:sp>
      <p:sp>
        <p:nvSpPr>
          <p:cNvPr id="11" name="bullet-3">
            <a:extLst xmlns:a="http://schemas.openxmlformats.org/drawingml/2006/main">
              <a:ext uri="{FF2B5EF4-FFF2-40B4-BE49-F238E27FC236}">
                <a16:creationId xmlns:a16="http://schemas.microsoft.com/office/drawing/2014/main" id="{A197B1D9-31E4-4C9A-90D7-5674F927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4805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Helper/import code</a:t>
            </a:r>
          </a:p>
        </p:txBody>
      </p:sp>
      <p:sp>
        <p:nvSpPr>
          <p:cNvPr id="12" name="bullet-4">
            <a:extLst xmlns:a="http://schemas.openxmlformats.org/drawingml/2006/main">
              <a:ext uri="{FF2B5EF4-FFF2-40B4-BE49-F238E27FC236}">
                <a16:creationId xmlns:a16="http://schemas.microsoft.com/office/drawing/2014/main" id="{76B8E222-3F4A-4AAF-8213-7F11042C8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924300"/>
            <a:ext cx="7981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000000"/>
                </a:solidFill>
              </a:defRPr>
            </a:pPr>
            <a:r>
              <a:rPr sz="2175">
                <a:solidFill>
                  <a:srgbClr val="000000"/>
                </a:solidFill>
              </a:rPr>
              <a:t>Missing evolve markers</a:t>
            </a:r>
          </a:p>
        </p:txBody>
      </p:sp>
      <p:sp>
        <p:nvSpPr>
          <p:cNvPr id="13" name="audit-footer">
            <a:extLst xmlns:a="http://schemas.openxmlformats.org/drawingml/2006/main">
              <a:ext uri="{FF2B5EF4-FFF2-40B4-BE49-F238E27FC236}">
                <a16:creationId xmlns:a16="http://schemas.microsoft.com/office/drawing/2014/main" id="{4C9892D8-3674-4494-9BFD-F9BBDF6C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372600"/>
            <a:ext cx="16535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00000"/>
                </a:solidFill>
              </a:defRPr>
            </a:pPr>
            <a:r>
              <a:rPr sz="1650">
                <a:solidFill>
                  <a:srgbClr val="000000"/>
                </a:solidFill>
              </a:rPr>
              <a:t>Ledger: 374 candidates, 306 valid scored rows, 68 fail-closed rows. Malformed or crashed candidates receive combined_score = -10.0.</a:t>
            </a:r>
          </a:p>
        </p:txBody>
      </p:sp>
    </p:spTree>
    <p:extLst>
      <p:ext uri="{BB962C8B-B14F-4D97-AF65-F5344CB8AC3E}">
        <p14:creationId xmlns:p14="http://schemas.microsoft.com/office/powerpoint/2010/main" val="2997890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B0A662-A3D4-4BB8-A381-0273CB4A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65354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0000"/>
                </a:solidFill>
              </a:defRPr>
            </a:pPr>
            <a:r>
              <a:rPr sz="4050" b="1">
                <a:solidFill>
                  <a:srgbClr val="000000"/>
                </a:solidFill>
              </a:rPr>
              <a:t>Result scope</a:t>
            </a:r>
          </a:p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DECA9C25-3785-4166-BE2A-18263728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9065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7F"/>
          </a:solidFill>
          <a:ln xmlns:a="http://schemas.openxmlformats.org/drawingml/2006/main" w="0">
            <a:solidFill>
              <a:srgbClr val="DC267F"/>
            </a:solidFill>
            <a:prstDash val="solid"/>
          </a:ln>
        </p:spPr>
      </p:sp>
      <p:sp>
        <p:nvSpPr>
          <p:cNvPr id="3" name="bullet-0">
            <a:extLst xmlns:a="http://schemas.openxmlformats.org/drawingml/2006/main">
              <a:ext uri="{FF2B5EF4-FFF2-40B4-BE49-F238E27FC236}">
                <a16:creationId xmlns:a16="http://schemas.microsoft.com/office/drawing/2014/main" id="{ED1C44ED-C535-4C61-A594-6D6F3232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Primary claim: OpenEvolve improves IPC speedup over disabled prefetching on 13 training-split validation traces.</a:t>
            </a:r>
          </a:p>
        </p:txBody>
      </p:sp>
      <p:sp>
        <p:nvSpPr>
          <p:cNvPr id="4" name="bullet-1">
            <a:extLst xmlns:a="http://schemas.openxmlformats.org/drawingml/2006/main">
              <a:ext uri="{FF2B5EF4-FFF2-40B4-BE49-F238E27FC236}">
                <a16:creationId xmlns:a16="http://schemas.microsoft.com/office/drawing/2014/main" id="{61A3DC56-A24D-4FFD-BCFD-5E192589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Heldout claim: the selected router reaches 1.003x over disabled prefetching on seven heldout traces.</a:t>
            </a:r>
          </a:p>
        </p:txBody>
      </p:sp>
      <p:sp>
        <p:nvSpPr>
          <p:cNvPr id="5" name="bullet-2">
            <a:extLst xmlns:a="http://schemas.openxmlformats.org/drawingml/2006/main">
              <a:ext uri="{FF2B5EF4-FFF2-40B4-BE49-F238E27FC236}">
                <a16:creationId xmlns:a16="http://schemas.microsoft.com/office/drawing/2014/main" id="{51E49126-3A53-498B-A481-1187E7D2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Instruction-count ratios round to 1.000x on training-split validation and heldout.</a:t>
            </a:r>
          </a:p>
        </p:txBody>
      </p:sp>
      <p:sp>
        <p:nvSpPr>
          <p:cNvPr id="6" name="bullet-3">
            <a:extLst xmlns:a="http://schemas.openxmlformats.org/drawingml/2006/main">
              <a:ext uri="{FF2B5EF4-FFF2-40B4-BE49-F238E27FC236}">
                <a16:creationId xmlns:a16="http://schemas.microsoft.com/office/drawing/2014/main" id="{3314B64C-98B4-44BE-9EA5-CED2DE36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The best expert result stays as a separate reference, which keeps the claim sized correctly.</a:t>
            </a:r>
          </a:p>
        </p:txBody>
      </p:sp>
      <p:sp>
        <p:nvSpPr>
          <p:cNvPr id="7" name="bullet-4">
            <a:extLst xmlns:a="http://schemas.openxmlformats.org/drawingml/2006/main">
              <a:ext uri="{FF2B5EF4-FFF2-40B4-BE49-F238E27FC236}">
                <a16:creationId xmlns:a16="http://schemas.microsoft.com/office/drawing/2014/main" id="{AAD2A684-FDE1-47A5-BE41-97AC4F15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6535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000000"/>
                </a:solidFill>
              </a:defRPr>
            </a:pPr>
            <a:r>
              <a:rPr sz="2325">
                <a:solidFill>
                  <a:srgbClr val="000000"/>
                </a:solidFill>
              </a:rPr>
              <a:t>Reproduction paths and naming details live in report/writing_logistics.md.</a:t>
            </a:r>
          </a:p>
        </p:txBody>
      </p:sp>
    </p:spTree>
    <p:extLst>
      <p:ext uri="{BB962C8B-B14F-4D97-AF65-F5344CB8AC3E}">
        <p14:creationId xmlns:p14="http://schemas.microsoft.com/office/powerpoint/2010/main" val="4921658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2026-04-30T13:48:15.6020000Z</dcterms:created>
  <dcterms:modified xsi:type="dcterms:W3CDTF">2026-04-30T13:48:15.6020000Z</dcterms:modified>
</coreProperties>
</file>