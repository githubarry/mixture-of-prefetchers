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bcf0d3f229468c" /><Relationship Type="http://schemas.openxmlformats.org/officeDocument/2006/relationships/extended-properties" Target="/docProps/app.xml" Id="R85f50f713ec74c1f" /><Relationship Type="http://schemas.openxmlformats.org/officeDocument/2006/relationships/officeDocument" Target="/ppt/presentation.xml" Id="R30e04a95d99844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a33fbafcc9409c"/>
  </p:sldMasterIdLst>
  <p:notesMasterIdLst>
    <p:notesMasterId xmlns:r="http://schemas.openxmlformats.org/officeDocument/2006/relationships" r:id="R34cd7deb0bc54e06"/>
  </p:notesMasterIdLst>
  <p:sldIdLst>
    <p:sldId xmlns:r="http://schemas.openxmlformats.org/officeDocument/2006/relationships" id="256" r:id="R9a85c97fc87245b7"/>
    <p:sldId xmlns:r="http://schemas.openxmlformats.org/officeDocument/2006/relationships" id="257" r:id="R80ca945afc644a44"/>
    <p:sldId xmlns:r="http://schemas.openxmlformats.org/officeDocument/2006/relationships" id="258" r:id="R4d58be53c789419b"/>
    <p:sldId xmlns:r="http://schemas.openxmlformats.org/officeDocument/2006/relationships" id="259" r:id="Rd77eb761a495447e"/>
    <p:sldId xmlns:r="http://schemas.openxmlformats.org/officeDocument/2006/relationships" id="260" r:id="R9300e5a6e79c4563"/>
    <p:sldId xmlns:r="http://schemas.openxmlformats.org/officeDocument/2006/relationships" id="261" r:id="Rd06931ad3bf04c27"/>
    <p:sldId xmlns:r="http://schemas.openxmlformats.org/officeDocument/2006/relationships" id="262" r:id="Rc1ac44173cfd4aed"/>
    <p:sldId xmlns:r="http://schemas.openxmlformats.org/officeDocument/2006/relationships" id="263" r:id="R36728d18253943f1"/>
    <p:sldId xmlns:r="http://schemas.openxmlformats.org/officeDocument/2006/relationships" id="264" r:id="R4f6575ddbb3142a9"/>
    <p:sldId xmlns:r="http://schemas.openxmlformats.org/officeDocument/2006/relationships" id="265" r:id="R492160151ca94786"/>
    <p:sldId xmlns:r="http://schemas.openxmlformats.org/officeDocument/2006/relationships" id="266" r:id="R88adb371101a44e8"/>
    <p:sldId xmlns:r="http://schemas.openxmlformats.org/officeDocument/2006/relationships" id="267" r:id="Rc19fccfbf2af4255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a33fbafcc9409c" /><Relationship Type="http://schemas.openxmlformats.org/officeDocument/2006/relationships/theme" Target="/ppt/theme/theme1.xml" Id="R0d324f350efe4cb3" /><Relationship Type="http://schemas.openxmlformats.org/officeDocument/2006/relationships/notesMaster" Target="/ppt/notesMasters/notesMaster1.xml" Id="R34cd7deb0bc54e06" /><Relationship Type="http://schemas.openxmlformats.org/officeDocument/2006/relationships/presProps" Target="/ppt/presProps.xml" Id="Rd4aadb4c432f4d75" /><Relationship Type="http://schemas.openxmlformats.org/officeDocument/2006/relationships/viewProps" Target="/ppt/viewProps.xml" Id="R8df1c530e01a4db6" /><Relationship Type="http://schemas.openxmlformats.org/officeDocument/2006/relationships/tableStyles" Target="/ppt/tableStyles.xml" Id="R7c465a1e676143b8" /><Relationship Type="http://schemas.openxmlformats.org/officeDocument/2006/relationships/slide" Target="/ppt/slides/slide1.xml" Id="R9a85c97fc87245b7" /><Relationship Type="http://schemas.openxmlformats.org/officeDocument/2006/relationships/slide" Target="/ppt/slides/slide2.xml" Id="R80ca945afc644a44" /><Relationship Type="http://schemas.openxmlformats.org/officeDocument/2006/relationships/slide" Target="/ppt/slides/slide3.xml" Id="R4d58be53c789419b" /><Relationship Type="http://schemas.openxmlformats.org/officeDocument/2006/relationships/slide" Target="/ppt/slides/slide4.xml" Id="Rd77eb761a495447e" /><Relationship Type="http://schemas.openxmlformats.org/officeDocument/2006/relationships/slide" Target="/ppt/slides/slide5.xml" Id="R9300e5a6e79c4563" /><Relationship Type="http://schemas.openxmlformats.org/officeDocument/2006/relationships/slide" Target="/ppt/slides/slide6.xml" Id="Rd06931ad3bf04c27" /><Relationship Type="http://schemas.openxmlformats.org/officeDocument/2006/relationships/slide" Target="/ppt/slides/slide7.xml" Id="Rc1ac44173cfd4aed" /><Relationship Type="http://schemas.openxmlformats.org/officeDocument/2006/relationships/slide" Target="/ppt/slides/slide8.xml" Id="R36728d18253943f1" /><Relationship Type="http://schemas.openxmlformats.org/officeDocument/2006/relationships/slide" Target="/ppt/slides/slide9.xml" Id="R4f6575ddbb3142a9" /><Relationship Type="http://schemas.openxmlformats.org/officeDocument/2006/relationships/slide" Target="/ppt/slides/slide10.xml" Id="R492160151ca94786" /><Relationship Type="http://schemas.openxmlformats.org/officeDocument/2006/relationships/slide" Target="/ppt/slides/slide11.xml" Id="R88adb371101a44e8" /><Relationship Type="http://schemas.openxmlformats.org/officeDocument/2006/relationships/slide" Target="/ppt/slides/slide12.xml" Id="Rc19fccfbf2af42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864ab88c3d542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bdff321032417f" /><Relationship Type="http://schemas.openxmlformats.org/officeDocument/2006/relationships/notesMaster" Target="/ppt/notesMasters/notesMaster1.xml" Id="Rded3956dd4a54d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426ce7cf4b4e2b" /><Relationship Type="http://schemas.openxmlformats.org/officeDocument/2006/relationships/notesMaster" Target="/ppt/notesMasters/notesMaster1.xml" Id="R4c4c58c14362425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c53d168da74192" /><Relationship Type="http://schemas.openxmlformats.org/officeDocument/2006/relationships/notesMaster" Target="/ppt/notesMasters/notesMaster1.xml" Id="R9947aaddd71248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7102df379244f6" /><Relationship Type="http://schemas.openxmlformats.org/officeDocument/2006/relationships/notesMaster" Target="/ppt/notesMasters/notesMaster1.xml" Id="R5d5ee4c6e3184a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0659e4996c4384" /><Relationship Type="http://schemas.openxmlformats.org/officeDocument/2006/relationships/notesMaster" Target="/ppt/notesMasters/notesMaster1.xml" Id="R5ff4064ade8544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d2990f4ab9449a" /><Relationship Type="http://schemas.openxmlformats.org/officeDocument/2006/relationships/notesMaster" Target="/ppt/notesMasters/notesMaster1.xml" Id="R24124f0fe22e46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26428d53704e63" /><Relationship Type="http://schemas.openxmlformats.org/officeDocument/2006/relationships/notesMaster" Target="/ppt/notesMasters/notesMaster1.xml" Id="R47680f3ffbc242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47d831a7cf4bce" /><Relationship Type="http://schemas.openxmlformats.org/officeDocument/2006/relationships/notesMaster" Target="/ppt/notesMasters/notesMaster1.xml" Id="Rff1bf8ac56b34e1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f0a5fe634da4ee4" /><Relationship Type="http://schemas.openxmlformats.org/officeDocument/2006/relationships/notesMaster" Target="/ppt/notesMasters/notesMaster1.xml" Id="R72693d46f232433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fac79c8ed7476c" /><Relationship Type="http://schemas.openxmlformats.org/officeDocument/2006/relationships/notesMaster" Target="/ppt/notesMasters/notesMaster1.xml" Id="R7e2ac32de57845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d774bea46c74e62" /><Relationship Type="http://schemas.openxmlformats.org/officeDocument/2006/relationships/notesMaster" Target="/ppt/notesMasters/notesMaster1.xml" Id="R1d9e0db30ffb4d2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fc1428f0efb49b8" /><Relationship Type="http://schemas.openxmlformats.org/officeDocument/2006/relationships/notesMaster" Target="/ppt/notesMasters/notesMaster1.xml" Id="Rc87e724ceb974e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c951c716bc410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44c7cec539a4f2a" /><Relationship Type="http://schemas.openxmlformats.org/officeDocument/2006/relationships/slideLayout" Target="/ppt/slideLayouts/slideLayout2.xml" Id="Rcd9539473a3348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9539473a3348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b852b888314f8f" /><Relationship Type="http://schemas.openxmlformats.org/officeDocument/2006/relationships/image" Target="/ppt/media/image.png" Id="R239471b5ac9e4ca0" /><Relationship Type="http://schemas.openxmlformats.org/officeDocument/2006/relationships/image" Target="/ppt/media/image2.png" Id="Red8917ec9d964cff" /><Relationship Type="http://schemas.openxmlformats.org/officeDocument/2006/relationships/image" Target="/ppt/media/image3.png" Id="R942ccf26245d4a99" /><Relationship Type="http://schemas.openxmlformats.org/officeDocument/2006/relationships/notesSlide" Target="/ppt/notesSlides/notesSlide1.xml" Id="R75b9581e60b947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cd668d526d457b" /><Relationship Type="http://schemas.openxmlformats.org/officeDocument/2006/relationships/notesSlide" Target="/ppt/notesSlides/notesSlide2.xml" Id="Rec9616f7946441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3ebf107a304381" /><Relationship Type="http://schemas.openxmlformats.org/officeDocument/2006/relationships/notesSlide" Target="/ppt/notesSlides/notesSlide3.xml" Id="R9b012d75fcad47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73a5f1b4dd4dbd" /><Relationship Type="http://schemas.openxmlformats.org/officeDocument/2006/relationships/notesSlide" Target="/ppt/notesSlides/notesSlide4.xml" Id="R65d5458630cb4d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f84281caa94bb6" /><Relationship Type="http://schemas.openxmlformats.org/officeDocument/2006/relationships/image" Target="/ppt/media/image4.png" Id="Raaf501cc30324f11" /><Relationship Type="http://schemas.openxmlformats.org/officeDocument/2006/relationships/notesSlide" Target="/ppt/notesSlides/notesSlide5.xml" Id="R73c803685c614d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79101306ce4e79" /><Relationship Type="http://schemas.openxmlformats.org/officeDocument/2006/relationships/image" Target="/ppt/media/image5.png" Id="R10a37459e78b4735" /><Relationship Type="http://schemas.openxmlformats.org/officeDocument/2006/relationships/notesSlide" Target="/ppt/notesSlides/notesSlide6.xml" Id="R33ea2765ea994f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09a18809ed496d" /><Relationship Type="http://schemas.openxmlformats.org/officeDocument/2006/relationships/image" Target="/ppt/media/image6.png" Id="R6850a710d81f442f" /><Relationship Type="http://schemas.openxmlformats.org/officeDocument/2006/relationships/notesSlide" Target="/ppt/notesSlides/notesSlide7.xml" Id="R4d908ebaffd249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db2c4629274f3c" /><Relationship Type="http://schemas.openxmlformats.org/officeDocument/2006/relationships/image" Target="/ppt/media/image7.png" Id="R682a2120eb134db2" /><Relationship Type="http://schemas.openxmlformats.org/officeDocument/2006/relationships/notesSlide" Target="/ppt/notesSlides/notesSlide8.xml" Id="Rc4a79bb2fca940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bfcfb75d514ec4" /><Relationship Type="http://schemas.openxmlformats.org/officeDocument/2006/relationships/image" Target="/ppt/media/image8.png" Id="R79d4de77429648e3" /><Relationship Type="http://schemas.openxmlformats.org/officeDocument/2006/relationships/notesSlide" Target="/ppt/notesSlides/notesSlide9.xml" Id="R0c249950a58949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95a4ee06224aff" /><Relationship Type="http://schemas.openxmlformats.org/officeDocument/2006/relationships/image" Target="/ppt/media/image9.png" Id="R2d0b8327d84a4075" /><Relationship Type="http://schemas.openxmlformats.org/officeDocument/2006/relationships/notesSlide" Target="/ppt/notesSlides/notesSlide10.xml" Id="R4c67c2d73c4a4d6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fce7cf747342e3" /><Relationship Type="http://schemas.openxmlformats.org/officeDocument/2006/relationships/image" Target="/ppt/media/image10.png" Id="R3dd1ced64e0f4b7c" /><Relationship Type="http://schemas.openxmlformats.org/officeDocument/2006/relationships/notesSlide" Target="/ppt/notesSlides/notesSlide11.xml" Id="R2d0cbc400ce844e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76cc4ee3f04d40" /><Relationship Type="http://schemas.openxmlformats.org/officeDocument/2006/relationships/notesSlide" Target="/ppt/notesSlides/notesSlide12.xml" Id="R80666bf9ad0f4c0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3A0D086-FF78-4E47-B157-BDF5391C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79438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OPENEVOLVE-TUNED L2 CACHE PREFETCH ROUTING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221013F-4FF2-459F-90BD-7AA78032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23950"/>
            <a:ext cx="79438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 of Prefetchers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992FF1E7-4F9D-4D74-9F40-491C4055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28850"/>
            <a:ext cx="4381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4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F678377C-83D6-4E6C-960C-ECD48D8A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79438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A compact router chooses between MLOP and SPP+PPF at epoch boundaries, then OpenEvolve tunes the policy surface.</a:t>
            </a:r>
          </a:p>
        </p:txBody>
      </p:sp>
      <p:sp>
        <p:nvSpPr>
          <p:cNvPr id="5" name="cover-scope">
            <a:extLst xmlns:a="http://schemas.openxmlformats.org/drawingml/2006/main">
              <a:ext uri="{FF2B5EF4-FFF2-40B4-BE49-F238E27FC236}">
                <a16:creationId xmlns:a16="http://schemas.microsoft.com/office/drawing/2014/main" id="{ED7A7568-EE8D-4CE2-86DC-9375B127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79438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Final claim size: strong 13-trace training-split validation result, modest heldout generalization over disabled prefetching.</a:t>
            </a:r>
          </a:p>
        </p:txBody>
      </p:sp>
      <p:pic>
        <p:nvPicPr>
          <p:cNvPr id="6" name="icon-rou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9471b5ac9e4ca0"/>
          <a:stretch xmlns:a="http://schemas.openxmlformats.org/drawingml/2006/main"/>
        </p:blipFill>
        <p:spPr>
          <a:xfrm xmlns:a="http://schemas.openxmlformats.org/drawingml/2006/main">
            <a:off x="9477375" y="66675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7" name="icon-heading-Route the next epoch">
            <a:extLst xmlns:a="http://schemas.openxmlformats.org/drawingml/2006/main">
              <a:ext uri="{FF2B5EF4-FFF2-40B4-BE49-F238E27FC236}">
                <a16:creationId xmlns:a16="http://schemas.microsoft.com/office/drawing/2014/main" id="{E0DA82D1-A883-431C-B3D4-9A64DB95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66750"/>
            <a:ext cx="7258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F6FD1"/>
                </a:solidFill>
              </a:defRPr>
            </a:pPr>
            <a:r>
              <a:rPr sz="1950" b="1">
                <a:solidFill>
                  <a:srgbClr val="3F6FD1"/>
                </a:solidFill>
              </a:rPr>
              <a:t>Route the next epoch</a:t>
            </a:r>
          </a:p>
        </p:txBody>
      </p:sp>
      <p:sp>
        <p:nvSpPr>
          <p:cNvPr id="8" name="icon-body-Route the next epoch">
            <a:extLst xmlns:a="http://schemas.openxmlformats.org/drawingml/2006/main">
              <a:ext uri="{FF2B5EF4-FFF2-40B4-BE49-F238E27FC236}">
                <a16:creationId xmlns:a16="http://schemas.microsoft.com/office/drawing/2014/main" id="{6984D0AC-74A9-4A7F-9FC0-36E39BF2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009650"/>
            <a:ext cx="7258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3333"/>
                </a:solidFill>
              </a:defRPr>
            </a:pPr>
            <a:r>
              <a:rPr sz="1500">
                <a:solidFill>
                  <a:srgbClr val="333333"/>
                </a:solidFill>
              </a:rPr>
              <a:t>Use recent usefulness counters to choose MLOP, SPP+PPF, both, or the off action.</a:t>
            </a:r>
          </a:p>
        </p:txBody>
      </p:sp>
      <p:pic>
        <p:nvPicPr>
          <p:cNvPr id="9" name="icon-tun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8917ec9d964cff"/>
          <a:stretch xmlns:a="http://schemas.openxmlformats.org/drawingml/2006/main"/>
        </p:blipFill>
        <p:spPr>
          <a:xfrm xmlns:a="http://schemas.openxmlformats.org/drawingml/2006/main">
            <a:off x="9477375" y="152590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0" name="icon-heading-Tune a small policy">
            <a:extLst xmlns:a="http://schemas.openxmlformats.org/drawingml/2006/main">
              <a:ext uri="{FF2B5EF4-FFF2-40B4-BE49-F238E27FC236}">
                <a16:creationId xmlns:a16="http://schemas.microsoft.com/office/drawing/2014/main" id="{D4464403-C491-4EC2-B1B4-A1BD9090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524000"/>
            <a:ext cx="7258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DC267F"/>
                </a:solidFill>
              </a:defRPr>
            </a:pPr>
            <a:r>
              <a:rPr sz="1950" b="1">
                <a:solidFill>
                  <a:srgbClr val="DC267F"/>
                </a:solidFill>
              </a:rPr>
              <a:t>Tune a small policy</a:t>
            </a:r>
          </a:p>
        </p:txBody>
      </p:sp>
      <p:sp>
        <p:nvSpPr>
          <p:cNvPr id="11" name="icon-body-Tune a small policy">
            <a:extLst xmlns:a="http://schemas.openxmlformats.org/drawingml/2006/main">
              <a:ext uri="{FF2B5EF4-FFF2-40B4-BE49-F238E27FC236}">
                <a16:creationId xmlns:a16="http://schemas.microsoft.com/office/drawing/2014/main" id="{D8392ABB-B03A-45CB-BD47-42184E9F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866900"/>
            <a:ext cx="7258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3333"/>
                </a:solidFill>
              </a:defRPr>
            </a:pPr>
            <a:r>
              <a:rPr sz="1500">
                <a:solidFill>
                  <a:srgbClr val="333333"/>
                </a:solidFill>
              </a:rPr>
              <a:t>OpenEvolve changes budget, score weights, accuracy floor, and tie margin.</a:t>
            </a:r>
          </a:p>
        </p:txBody>
      </p:sp>
      <p:pic>
        <p:nvPicPr>
          <p:cNvPr id="12" name="icon-fact_check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2ccf26245d4a99"/>
          <a:stretch xmlns:a="http://schemas.openxmlformats.org/drawingml/2006/main"/>
        </p:blipFill>
        <p:spPr>
          <a:xfrm xmlns:a="http://schemas.openxmlformats.org/drawingml/2006/main">
            <a:off x="9477375" y="23850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icon-heading-Claim the right result size">
            <a:extLst xmlns:a="http://schemas.openxmlformats.org/drawingml/2006/main">
              <a:ext uri="{FF2B5EF4-FFF2-40B4-BE49-F238E27FC236}">
                <a16:creationId xmlns:a16="http://schemas.microsoft.com/office/drawing/2014/main" id="{A5D4A2F1-6DF6-489B-9B8A-31A5C3A8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381250"/>
            <a:ext cx="7258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E6100"/>
                </a:solidFill>
              </a:defRPr>
            </a:pPr>
            <a:r>
              <a:rPr sz="1950" b="1">
                <a:solidFill>
                  <a:srgbClr val="FE6100"/>
                </a:solidFill>
              </a:rPr>
              <a:t>Claim the right result size</a:t>
            </a:r>
          </a:p>
        </p:txBody>
      </p:sp>
      <p:sp>
        <p:nvSpPr>
          <p:cNvPr id="14" name="icon-body-Claim the right result size">
            <a:extLst xmlns:a="http://schemas.openxmlformats.org/drawingml/2006/main">
              <a:ext uri="{FF2B5EF4-FFF2-40B4-BE49-F238E27FC236}">
                <a16:creationId xmlns:a16="http://schemas.microsoft.com/office/drawing/2014/main" id="{B99621A0-8148-473A-9E12-0CC4B75B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724150"/>
            <a:ext cx="7258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3333"/>
                </a:solidFill>
              </a:defRPr>
            </a:pPr>
            <a:r>
              <a:rPr sz="1500">
                <a:solidFill>
                  <a:srgbClr val="333333"/>
                </a:solidFill>
              </a:rPr>
              <a:t>MoP-V2 reaches 1.066x on 13 training-split validation traces and 1.003x on heldout.</a:t>
            </a:r>
          </a:p>
        </p:txBody>
      </p:sp>
      <p:sp>
        <p:nvSpPr>
          <p:cNvPr id="15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18991FD9-3BF8-42C9-9053-A0E36663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801100"/>
            <a:ext cx="165354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project. Disabled prefetching is the 1.000x reference throughout.</a:t>
            </a:r>
          </a:p>
        </p:txBody>
      </p:sp>
    </p:spTree>
    <p:extLst>
      <p:ext uri="{BB962C8B-B14F-4D97-AF65-F5344CB8AC3E}">
        <p14:creationId xmlns:p14="http://schemas.microsoft.com/office/powerpoint/2010/main" val="7127830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8C1763-AA09-474C-B1D1-13F199B4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76009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What we built on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417E108-8CF0-44C4-8637-B00ECD29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33500"/>
            <a:ext cx="76009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The project adds a router layer and a small policy-search loop above existing Athena L2C prefetchers.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549D4100-5371-48D5-8E67-630E1356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66750"/>
            <a:ext cx="838200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B0F0EFCA-5BA7-4A40-AB10-3D9B1935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7600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C267F"/>
                </a:solidFill>
              </a:defRPr>
            </a:pPr>
            <a:r>
              <a:rPr sz="1350" b="1">
                <a:solidFill>
                  <a:srgbClr val="DC267F"/>
                </a:solidFill>
              </a:rPr>
              <a:t>ROUTER NAMES</a:t>
            </a:r>
          </a:p>
        </p:txBody>
      </p:sp>
      <p:sp>
        <p:nvSpPr>
          <p:cNvPr id="5" name="kv-key-0">
            <a:extLst xmlns:a="http://schemas.openxmlformats.org/drawingml/2006/main">
              <a:ext uri="{FF2B5EF4-FFF2-40B4-BE49-F238E27FC236}">
                <a16:creationId xmlns:a16="http://schemas.microsoft.com/office/drawing/2014/main" id="{65224A6A-D5E2-4A0C-80A2-21CA65B0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257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MoP-V1</a:t>
            </a:r>
          </a:p>
        </p:txBody>
      </p:sp>
      <p:sp>
        <p:nvSpPr>
          <p:cNvPr id="6" name="kv-value-0">
            <a:extLst xmlns:a="http://schemas.openxmlformats.org/drawingml/2006/main">
              <a:ext uri="{FF2B5EF4-FFF2-40B4-BE49-F238E27FC236}">
                <a16:creationId xmlns:a16="http://schemas.microsoft.com/office/drawing/2014/main" id="{318C91DE-677B-493A-ADA2-F1B4C3F3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61341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Manual one-epoch probe router. It probes both experts, then routes to the higher-scoring expert.</a:t>
            </a:r>
          </a:p>
        </p:txBody>
      </p:sp>
      <p:sp>
        <p:nvSpPr>
          <p:cNvPr id="7" name="kv-key-1">
            <a:extLst xmlns:a="http://schemas.openxmlformats.org/drawingml/2006/main">
              <a:ext uri="{FF2B5EF4-FFF2-40B4-BE49-F238E27FC236}">
                <a16:creationId xmlns:a16="http://schemas.microsoft.com/office/drawing/2014/main" id="{8416271E-F526-4CC2-B4F8-11A0D5C4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1257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MoP-V2</a:t>
            </a:r>
          </a:p>
        </p:txBody>
      </p:sp>
      <p:sp>
        <p:nvSpPr>
          <p:cNvPr id="8" name="kv-value-1">
            <a:extLst xmlns:a="http://schemas.openxmlformats.org/drawingml/2006/main">
              <a:ext uri="{FF2B5EF4-FFF2-40B4-BE49-F238E27FC236}">
                <a16:creationId xmlns:a16="http://schemas.microsoft.com/office/drawing/2014/main" id="{BA23D74B-18DF-4577-91F3-C6F3CA52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61341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OpenEvolve-tuned router. It keeps the same public role and tunes budget, scoring, and tie behavior.</a:t>
            </a:r>
          </a:p>
        </p:txBody>
      </p:sp>
      <p:sp>
        <p:nvSpPr>
          <p:cNvPr id="9" name="kv-key-2">
            <a:extLst xmlns:a="http://schemas.openxmlformats.org/drawingml/2006/main">
              <a:ext uri="{FF2B5EF4-FFF2-40B4-BE49-F238E27FC236}">
                <a16:creationId xmlns:a16="http://schemas.microsoft.com/office/drawing/2014/main" id="{AC1530EB-64FC-47B6-AC92-05011A82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1257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Experts</a:t>
            </a:r>
          </a:p>
        </p:txBody>
      </p:sp>
      <p:sp>
        <p:nvSpPr>
          <p:cNvPr id="10" name="kv-value-2">
            <a:extLst xmlns:a="http://schemas.openxmlformats.org/drawingml/2006/main">
              <a:ext uri="{FF2B5EF4-FFF2-40B4-BE49-F238E27FC236}">
                <a16:creationId xmlns:a16="http://schemas.microsoft.com/office/drawing/2014/main" id="{44D1CE68-FBB1-4C67-9945-5250B49B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24300"/>
            <a:ext cx="61341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MLOP and SPP+PPF are the two Athena L2-cache prefetchers used by this router.</a:t>
            </a:r>
          </a:p>
        </p:txBody>
      </p:sp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9B2E9D81-616A-49A5-9229-BF2408A1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90750"/>
            <a:ext cx="838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EVIDENCE LAYER</a:t>
            </a:r>
          </a:p>
        </p:txBody>
      </p:sp>
      <p:sp>
        <p:nvSpPr>
          <p:cNvPr id="12" name="bullet-0">
            <a:extLst xmlns:a="http://schemas.openxmlformats.org/drawingml/2006/main">
              <a:ext uri="{FF2B5EF4-FFF2-40B4-BE49-F238E27FC236}">
                <a16:creationId xmlns:a16="http://schemas.microsoft.com/office/drawing/2014/main" id="{412FF4C7-3696-4309-89F9-FA6C2B25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8382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Epoch-level counters record issued and useful prefetches.</a:t>
            </a:r>
          </a:p>
        </p:txBody>
      </p:sp>
      <p:sp>
        <p:nvSpPr>
          <p:cNvPr id="13" name="bullet-1">
            <a:extLst xmlns:a="http://schemas.openxmlformats.org/drawingml/2006/main">
              <a:ext uri="{FF2B5EF4-FFF2-40B4-BE49-F238E27FC236}">
                <a16:creationId xmlns:a16="http://schemas.microsoft.com/office/drawing/2014/main" id="{902AC3F6-168C-4C85-A22D-50E97342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48000"/>
            <a:ext cx="8382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OpenEvolve edits a small literal policy dictionary.</a:t>
            </a:r>
          </a:p>
        </p:txBody>
      </p:sp>
      <p:sp>
        <p:nvSpPr>
          <p:cNvPr id="14" name="bullet-2">
            <a:extLst xmlns:a="http://schemas.openxmlformats.org/drawingml/2006/main">
              <a:ext uri="{FF2B5EF4-FFF2-40B4-BE49-F238E27FC236}">
                <a16:creationId xmlns:a16="http://schemas.microsoft.com/office/drawing/2014/main" id="{EDA8B86D-7C3A-4F60-BD46-1550F9CE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05200"/>
            <a:ext cx="8382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Generated ledgers preserve valid scored rows and fail-closed rows.</a:t>
            </a:r>
          </a:p>
        </p:txBody>
      </p:sp>
      <p:sp>
        <p:nvSpPr>
          <p:cNvPr id="15" name="bullet-3">
            <a:extLst xmlns:a="http://schemas.openxmlformats.org/drawingml/2006/main">
              <a:ext uri="{FF2B5EF4-FFF2-40B4-BE49-F238E27FC236}">
                <a16:creationId xmlns:a16="http://schemas.microsoft.com/office/drawing/2014/main" id="{189B19C6-0EED-4621-9522-D25629B3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962400"/>
            <a:ext cx="8382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Report tables and figures rebuild from simulator summaries.</a:t>
            </a:r>
          </a:p>
        </p:txBody>
      </p:sp>
    </p:spTree>
    <p:extLst>
      <p:ext uri="{BB962C8B-B14F-4D97-AF65-F5344CB8AC3E}">
        <p14:creationId xmlns:p14="http://schemas.microsoft.com/office/powerpoint/2010/main" val="209104303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4F25E4-BE7D-4B0A-A568-F65A16F0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8382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Trace protocol and comparators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976115F-C08A-4648-8F94-63B25DB7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33500"/>
            <a:ext cx="8382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All performance numbers use disabled prefetching as 1.000x. Best expert is a per-trace reference.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469BE59D-19D9-463A-9CBE-B7558D8D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666750"/>
            <a:ext cx="758190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FFC7D1CE-6125-4DC3-B72F-05528988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838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FIXED SETUP</a:t>
            </a:r>
          </a:p>
        </p:txBody>
      </p:sp>
      <p:sp>
        <p:nvSpPr>
          <p:cNvPr id="5" name="kv-key-0">
            <a:extLst xmlns:a="http://schemas.openxmlformats.org/drawingml/2006/main">
              <a:ext uri="{FF2B5EF4-FFF2-40B4-BE49-F238E27FC236}">
                <a16:creationId xmlns:a16="http://schemas.microsoft.com/office/drawing/2014/main" id="{02230E45-2406-424E-B212-D7D9904D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Cache</a:t>
            </a:r>
          </a:p>
        </p:txBody>
      </p:sp>
      <p:sp>
        <p:nvSpPr>
          <p:cNvPr id="6" name="kv-value-0">
            <a:extLst xmlns:a="http://schemas.openxmlformats.org/drawingml/2006/main">
              <a:ext uri="{FF2B5EF4-FFF2-40B4-BE49-F238E27FC236}">
                <a16:creationId xmlns:a16="http://schemas.microsoft.com/office/drawing/2014/main" id="{42E92C8C-155B-4BC3-8428-D109C608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7175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Athena L2C</a:t>
            </a:r>
          </a:p>
        </p:txBody>
      </p:sp>
      <p:sp>
        <p:nvSpPr>
          <p:cNvPr id="7" name="kv-key-1">
            <a:extLst xmlns:a="http://schemas.openxmlformats.org/drawingml/2006/main">
              <a:ext uri="{FF2B5EF4-FFF2-40B4-BE49-F238E27FC236}">
                <a16:creationId xmlns:a16="http://schemas.microsoft.com/office/drawing/2014/main" id="{BBA2EBAF-F662-40CE-BDDB-8FF314EA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Expert pair</a:t>
            </a:r>
          </a:p>
        </p:txBody>
      </p:sp>
      <p:sp>
        <p:nvSpPr>
          <p:cNvPr id="8" name="kv-value-1">
            <a:extLst xmlns:a="http://schemas.openxmlformats.org/drawingml/2006/main">
              <a:ext uri="{FF2B5EF4-FFF2-40B4-BE49-F238E27FC236}">
                <a16:creationId xmlns:a16="http://schemas.microsoft.com/office/drawing/2014/main" id="{00BFD74A-D14F-4332-B92D-BBA1385A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93370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MLOP + SPP+PPF</a:t>
            </a:r>
          </a:p>
        </p:txBody>
      </p:sp>
      <p:sp>
        <p:nvSpPr>
          <p:cNvPr id="9" name="kv-key-2">
            <a:extLst xmlns:a="http://schemas.openxmlformats.org/drawingml/2006/main">
              <a:ext uri="{FF2B5EF4-FFF2-40B4-BE49-F238E27FC236}">
                <a16:creationId xmlns:a16="http://schemas.microsoft.com/office/drawing/2014/main" id="{62263F97-1B4A-49FA-B669-01AB8FBD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Official split</a:t>
            </a:r>
          </a:p>
        </p:txBody>
      </p:sp>
      <p:sp>
        <p:nvSpPr>
          <p:cNvPr id="10" name="kv-value-2">
            <a:extLst xmlns:a="http://schemas.openxmlformats.org/drawingml/2006/main">
              <a:ext uri="{FF2B5EF4-FFF2-40B4-BE49-F238E27FC236}">
                <a16:creationId xmlns:a16="http://schemas.microsoft.com/office/drawing/2014/main" id="{80198430-6BBC-4142-BE7A-6EAAA809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29565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24 traces total: 17 training, 7 heldout</a:t>
            </a:r>
          </a:p>
        </p:txBody>
      </p:sp>
      <p:sp>
        <p:nvSpPr>
          <p:cNvPr id="11" name="kv-key-3">
            <a:extLst xmlns:a="http://schemas.openxmlformats.org/drawingml/2006/main">
              <a:ext uri="{FF2B5EF4-FFF2-40B4-BE49-F238E27FC236}">
                <a16:creationId xmlns:a16="http://schemas.microsoft.com/office/drawing/2014/main" id="{05375626-3A53-49E4-83F0-E82B87C7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Final validation</a:t>
            </a:r>
          </a:p>
        </p:txBody>
      </p:sp>
      <p:sp>
        <p:nvSpPr>
          <p:cNvPr id="12" name="kv-value-3">
            <a:extLst xmlns:a="http://schemas.openxmlformats.org/drawingml/2006/main">
              <a:ext uri="{FF2B5EF4-FFF2-40B4-BE49-F238E27FC236}">
                <a16:creationId xmlns:a16="http://schemas.microsoft.com/office/drawing/2014/main" id="{541A2C59-7DAF-4087-9A2D-0214F0D6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5760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13 available training traces, 500K warmup, 1M simulation</a:t>
            </a:r>
          </a:p>
        </p:txBody>
      </p:sp>
      <p:sp>
        <p:nvSpPr>
          <p:cNvPr id="13" name="kv-key-4">
            <a:extLst xmlns:a="http://schemas.openxmlformats.org/drawingml/2006/main">
              <a:ext uri="{FF2B5EF4-FFF2-40B4-BE49-F238E27FC236}">
                <a16:creationId xmlns:a16="http://schemas.microsoft.com/office/drawing/2014/main" id="{6597531A-79C7-47D5-BE9C-91B03422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Heldout</a:t>
            </a:r>
          </a:p>
        </p:txBody>
      </p:sp>
      <p:sp>
        <p:nvSpPr>
          <p:cNvPr id="14" name="kv-value-4">
            <a:extLst xmlns:a="http://schemas.openxmlformats.org/drawingml/2006/main">
              <a:ext uri="{FF2B5EF4-FFF2-40B4-BE49-F238E27FC236}">
                <a16:creationId xmlns:a16="http://schemas.microsoft.com/office/drawing/2014/main" id="{935C9F70-245F-4EB3-90B6-ADE2C4FE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01955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7 frozen traces, 5M warmup, 10M simulation</a:t>
            </a:r>
          </a:p>
        </p:txBody>
      </p:sp>
      <p:sp>
        <p:nvSpPr>
          <p:cNvPr id="15" name="kv-key-5">
            <a:extLst xmlns:a="http://schemas.openxmlformats.org/drawingml/2006/main">
              <a:ext uri="{FF2B5EF4-FFF2-40B4-BE49-F238E27FC236}">
                <a16:creationId xmlns:a16="http://schemas.microsoft.com/office/drawing/2014/main" id="{AC1FD234-9931-4F6E-B41C-52D24CBA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2209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Epoch</a:t>
            </a:r>
          </a:p>
        </p:txBody>
      </p:sp>
      <p:sp>
        <p:nvSpPr>
          <p:cNvPr id="16" name="kv-value-5">
            <a:extLst xmlns:a="http://schemas.openxmlformats.org/drawingml/2006/main">
              <a:ext uri="{FF2B5EF4-FFF2-40B4-BE49-F238E27FC236}">
                <a16:creationId xmlns:a16="http://schemas.microsoft.com/office/drawing/2014/main" id="{BD1C2DAE-624A-4C2C-961C-70A6DD06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62450"/>
            <a:ext cx="5962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500K retired instructions</a:t>
            </a:r>
          </a:p>
        </p:txBody>
      </p:sp>
      <p:sp>
        <p:nvSpPr>
          <p:cNvPr id="17" name="eyebrow">
            <a:extLst xmlns:a="http://schemas.openxmlformats.org/drawingml/2006/main">
              <a:ext uri="{FF2B5EF4-FFF2-40B4-BE49-F238E27FC236}">
                <a16:creationId xmlns:a16="http://schemas.microsoft.com/office/drawing/2014/main" id="{8B6D3605-E136-421B-81E8-093098DC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190750"/>
            <a:ext cx="7581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C267F"/>
                </a:solidFill>
              </a:defRPr>
            </a:pPr>
            <a:r>
              <a:rPr sz="1350" b="1">
                <a:solidFill>
                  <a:srgbClr val="DC267F"/>
                </a:solidFill>
              </a:rPr>
              <a:t>COMPARISON LADDER</a:t>
            </a:r>
          </a:p>
        </p:txBody>
      </p:sp>
      <p:sp>
        <p:nvSpPr>
          <p:cNvPr id="18" name="kv-key-0">
            <a:extLst xmlns:a="http://schemas.openxmlformats.org/drawingml/2006/main">
              <a:ext uri="{FF2B5EF4-FFF2-40B4-BE49-F238E27FC236}">
                <a16:creationId xmlns:a16="http://schemas.microsoft.com/office/drawing/2014/main" id="{89DDBC26-EFE3-4633-BD3E-F333A124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571750"/>
            <a:ext cx="17716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Disabled</a:t>
            </a:r>
          </a:p>
        </p:txBody>
      </p:sp>
      <p:sp>
        <p:nvSpPr>
          <p:cNvPr id="19" name="kv-value-0">
            <a:extLst xmlns:a="http://schemas.openxmlformats.org/drawingml/2006/main">
              <a:ext uri="{FF2B5EF4-FFF2-40B4-BE49-F238E27FC236}">
                <a16:creationId xmlns:a16="http://schemas.microsoft.com/office/drawing/2014/main" id="{BAF24B4B-86D6-4FB0-A3FE-A6E9CAA25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2571750"/>
            <a:ext cx="5600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Universal 1.000x baseline.</a:t>
            </a:r>
          </a:p>
        </p:txBody>
      </p:sp>
      <p:sp>
        <p:nvSpPr>
          <p:cNvPr id="20" name="kv-key-1">
            <a:extLst xmlns:a="http://schemas.openxmlformats.org/drawingml/2006/main">
              <a:ext uri="{FF2B5EF4-FFF2-40B4-BE49-F238E27FC236}">
                <a16:creationId xmlns:a16="http://schemas.microsoft.com/office/drawing/2014/main" id="{BCA53F19-9491-4842-B8CC-67E39F8F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52750"/>
            <a:ext cx="1771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Best expert</a:t>
            </a:r>
          </a:p>
        </p:txBody>
      </p:sp>
      <p:sp>
        <p:nvSpPr>
          <p:cNvPr id="21" name="kv-value-1">
            <a:extLst xmlns:a="http://schemas.openxmlformats.org/drawingml/2006/main">
              <a:ext uri="{FF2B5EF4-FFF2-40B4-BE49-F238E27FC236}">
                <a16:creationId xmlns:a16="http://schemas.microsoft.com/office/drawing/2014/main" id="{025D7ABA-9CE7-4E4C-AF54-BC74CE91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2952750"/>
            <a:ext cx="5600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max(MLOP, SPP+PPF) per trace, then geomeaned. It is colored dark blue in the result plots.</a:t>
            </a:r>
          </a:p>
        </p:txBody>
      </p:sp>
      <p:sp>
        <p:nvSpPr>
          <p:cNvPr id="22" name="kv-key-2">
            <a:extLst xmlns:a="http://schemas.openxmlformats.org/drawingml/2006/main">
              <a:ext uri="{FF2B5EF4-FFF2-40B4-BE49-F238E27FC236}">
                <a16:creationId xmlns:a16="http://schemas.microsoft.com/office/drawing/2014/main" id="{DDC3A2E7-B947-402C-BDA7-A947D668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600450"/>
            <a:ext cx="1771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Worse expert</a:t>
            </a:r>
          </a:p>
        </p:txBody>
      </p:sp>
      <p:sp>
        <p:nvSpPr>
          <p:cNvPr id="23" name="kv-value-2">
            <a:extLst xmlns:a="http://schemas.openxmlformats.org/drawingml/2006/main">
              <a:ext uri="{FF2B5EF4-FFF2-40B4-BE49-F238E27FC236}">
                <a16:creationId xmlns:a16="http://schemas.microsoft.com/office/drawing/2014/main" id="{25148564-F623-4EE4-AAA1-FF4F65F9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3600450"/>
            <a:ext cx="5600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Minimum practical check for whether routing clears the weaker constituent prefetcher.</a:t>
            </a:r>
          </a:p>
        </p:txBody>
      </p:sp>
      <p:sp>
        <p:nvSpPr>
          <p:cNvPr id="24" name="kv-key-3">
            <a:extLst xmlns:a="http://schemas.openxmlformats.org/drawingml/2006/main">
              <a:ext uri="{FF2B5EF4-FFF2-40B4-BE49-F238E27FC236}">
                <a16:creationId xmlns:a16="http://schemas.microsoft.com/office/drawing/2014/main" id="{4D35B150-0C4E-426B-9A6D-D88971AC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229100"/>
            <a:ext cx="1771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Simple routers</a:t>
            </a:r>
          </a:p>
        </p:txBody>
      </p:sp>
      <p:sp>
        <p:nvSpPr>
          <p:cNvPr id="25" name="kv-value-3">
            <a:extLst xmlns:a="http://schemas.openxmlformats.org/drawingml/2006/main">
              <a:ext uri="{FF2B5EF4-FFF2-40B4-BE49-F238E27FC236}">
                <a16:creationId xmlns:a16="http://schemas.microsoft.com/office/drawing/2014/main" id="{5A28424C-E0B8-455E-A5AA-005AF752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4229100"/>
            <a:ext cx="56007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WinnerTakeAll, OneShotFit, and Athena MAB appear as small baselines.</a:t>
            </a:r>
          </a:p>
        </p:txBody>
      </p:sp>
    </p:spTree>
    <p:extLst>
      <p:ext uri="{BB962C8B-B14F-4D97-AF65-F5344CB8AC3E}">
        <p14:creationId xmlns:p14="http://schemas.microsoft.com/office/powerpoint/2010/main" val="162950667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005F1A-ADF1-4885-98F3-38A0A8E3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5151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OpenEvolve changed a small policy surface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660138E-AEB7-44D4-B250-667C08F6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65151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The search could tune router-family settings and numeric policy weights while the trace split and simulator stayed fixed.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2AD08C07-4517-4D70-8A67-8A27B4D1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52450"/>
            <a:ext cx="977265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A4EFFE9A-9472-42CD-BE4A-48A0B4FD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6515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C267F"/>
                </a:solidFill>
              </a:defRPr>
            </a:pPr>
            <a:r>
              <a:rPr sz="1350" b="1">
                <a:solidFill>
                  <a:srgbClr val="DC267F"/>
                </a:solidFill>
              </a:rPr>
              <a:t>SELECTED MOP-V2 POLICY</a:t>
            </a:r>
          </a:p>
        </p:txBody>
      </p:sp>
      <p:sp>
        <p:nvSpPr>
          <p:cNvPr id="5" name="kv-key-0">
            <a:extLst xmlns:a="http://schemas.openxmlformats.org/drawingml/2006/main">
              <a:ext uri="{FF2B5EF4-FFF2-40B4-BE49-F238E27FC236}">
                <a16:creationId xmlns:a16="http://schemas.microsoft.com/office/drawing/2014/main" id="{7994DC74-97A8-4B25-9029-4B5B0E957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13525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Budget</a:t>
            </a:r>
          </a:p>
        </p:txBody>
      </p:sp>
      <p:sp>
        <p:nvSpPr>
          <p:cNvPr id="6" name="kv-value-0">
            <a:extLst xmlns:a="http://schemas.openxmlformats.org/drawingml/2006/main">
              <a:ext uri="{FF2B5EF4-FFF2-40B4-BE49-F238E27FC236}">
                <a16:creationId xmlns:a16="http://schemas.microsoft.com/office/drawing/2014/main" id="{B5E0F48A-B803-4699-9487-DAA2D917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933700"/>
            <a:ext cx="4953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9,216 prefetches per 500K-instruction epoch, about 18.4 per 1K retired instructions</a:t>
            </a:r>
          </a:p>
        </p:txBody>
      </p:sp>
      <p:sp>
        <p:nvSpPr>
          <p:cNvPr id="7" name="kv-key-1">
            <a:extLst xmlns:a="http://schemas.openxmlformats.org/drawingml/2006/main">
              <a:ext uri="{FF2B5EF4-FFF2-40B4-BE49-F238E27FC236}">
                <a16:creationId xmlns:a16="http://schemas.microsoft.com/office/drawing/2014/main" id="{5B54FF3A-A06F-41E5-8ED0-1EC1F1DD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1352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Probe</a:t>
            </a:r>
          </a:p>
        </p:txBody>
      </p:sp>
      <p:sp>
        <p:nvSpPr>
          <p:cNvPr id="8" name="kv-value-1">
            <a:extLst xmlns:a="http://schemas.openxmlformats.org/drawingml/2006/main">
              <a:ext uri="{FF2B5EF4-FFF2-40B4-BE49-F238E27FC236}">
                <a16:creationId xmlns:a16="http://schemas.microsoft.com/office/drawing/2014/main" id="{D0B33A59-8949-4951-BC0B-8931F439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6235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One initial dual-expert probe epoch</a:t>
            </a:r>
          </a:p>
        </p:txBody>
      </p:sp>
      <p:sp>
        <p:nvSpPr>
          <p:cNvPr id="9" name="kv-key-2">
            <a:extLst xmlns:a="http://schemas.openxmlformats.org/drawingml/2006/main">
              <a:ext uri="{FF2B5EF4-FFF2-40B4-BE49-F238E27FC236}">
                <a16:creationId xmlns:a16="http://schemas.microsoft.com/office/drawing/2014/main" id="{7806F86E-4E85-45E2-BB1C-49D113B52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1352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Guardrails</a:t>
            </a:r>
          </a:p>
        </p:txBody>
      </p:sp>
      <p:sp>
        <p:nvSpPr>
          <p:cNvPr id="10" name="kv-value-2">
            <a:extLst xmlns:a="http://schemas.openxmlformats.org/drawingml/2006/main">
              <a:ext uri="{FF2B5EF4-FFF2-40B4-BE49-F238E27FC236}">
                <a16:creationId xmlns:a16="http://schemas.microsoft.com/office/drawing/2014/main" id="{33A504B3-52AE-44B9-9365-D3FCE773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2430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Accuracy floor 30 and 3% close-score tie margin</a:t>
            </a:r>
          </a:p>
        </p:txBody>
      </p:sp>
      <p:sp>
        <p:nvSpPr>
          <p:cNvPr id="11" name="kv-key-3">
            <a:extLst xmlns:a="http://schemas.openxmlformats.org/drawingml/2006/main">
              <a:ext uri="{FF2B5EF4-FFF2-40B4-BE49-F238E27FC236}">
                <a16:creationId xmlns:a16="http://schemas.microsoft.com/office/drawing/2014/main" id="{8E7A434F-6CB6-4671-B820-BF4FD42A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352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Weights</a:t>
            </a:r>
          </a:p>
        </p:txBody>
      </p:sp>
      <p:sp>
        <p:nvSpPr>
          <p:cNvPr id="12" name="kv-value-3">
            <a:extLst xmlns:a="http://schemas.openxmlformats.org/drawingml/2006/main">
              <a:ext uri="{FF2B5EF4-FFF2-40B4-BE49-F238E27FC236}">
                <a16:creationId xmlns:a16="http://schemas.microsoft.com/office/drawing/2014/main" id="{A12A95CF-EBAE-4E9A-B2AE-4BE2D79E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8625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Accuracy 1.0, coverage 0.55, traffic 1.0</a:t>
            </a:r>
          </a:p>
        </p:txBody>
      </p:sp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CB5C914B-B0F7-4593-A68A-2DD723FD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71750"/>
            <a:ext cx="9772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SELECTION SCORE</a:t>
            </a:r>
          </a:p>
        </p:txBody>
      </p:sp>
      <p:sp>
        <p:nvSpPr>
          <p:cNvPr id="14" name="weighted-score-once">
            <a:extLst xmlns:a="http://schemas.openxmlformats.org/drawingml/2006/main">
              <a:ext uri="{FF2B5EF4-FFF2-40B4-BE49-F238E27FC236}">
                <a16:creationId xmlns:a16="http://schemas.microsoft.com/office/drawing/2014/main" id="{CD5156AA-11B9-4506-903E-A10E756D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990850"/>
            <a:ext cx="97726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Weighted score combines closeness to best expert, IPC over disabled prefetching, margin over the worse expert, tail-loss penalty, and off-action penalty.</a:t>
            </a:r>
          </a:p>
        </p:txBody>
      </p:sp>
      <p:sp>
        <p:nvSpPr>
          <p:cNvPr id="15" name="failure-score">
            <a:extLst xmlns:a="http://schemas.openxmlformats.org/drawingml/2006/main">
              <a:ext uri="{FF2B5EF4-FFF2-40B4-BE49-F238E27FC236}">
                <a16:creationId xmlns:a16="http://schemas.microsoft.com/office/drawing/2014/main" id="{DF68B3A7-DFC1-431E-B169-9097FDF3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86250"/>
            <a:ext cx="97726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Candidate programs received failure scores for simulator failures, unknown policy keys, helper/import code, and missing evolve markers.</a:t>
            </a:r>
          </a:p>
        </p:txBody>
      </p:sp>
      <p:sp>
        <p:nvSpPr>
          <p:cNvPr id="16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6690AB9E-971F-4D71-A869-5E6CB316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086350"/>
            <a:ext cx="600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F6FD1"/>
                </a:solidFill>
              </a:defRPr>
            </a:pPr>
            <a:r>
              <a:rPr sz="1875" b="1">
                <a:solidFill>
                  <a:srgbClr val="3F6FD1"/>
                </a:solidFill>
              </a:rPr>
              <a:t>Ledger</a:t>
            </a:r>
          </a:p>
        </p:txBody>
      </p:sp>
      <p:sp>
        <p:nvSpPr>
          <p:cNvPr id="17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41B7F7C0-9691-41CB-99CB-AFACF3A8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5086350"/>
            <a:ext cx="3600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3F6FD1"/>
                </a:solidFill>
              </a:defRPr>
            </a:pPr>
            <a:r>
              <a:rPr sz="1875" b="1">
                <a:solidFill>
                  <a:srgbClr val="3F6FD1"/>
                </a:solidFill>
              </a:rPr>
              <a:t>Rows</a:t>
            </a:r>
          </a:p>
        </p:txBody>
      </p:sp>
      <p:sp>
        <p:nvSpPr>
          <p:cNvPr id="18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3B207272-1225-4606-99D6-41A301B6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448300"/>
            <a:ext cx="600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All candidates</a:t>
            </a:r>
          </a:p>
        </p:txBody>
      </p:sp>
      <p:sp>
        <p:nvSpPr>
          <p:cNvPr id="19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B48BADDC-85F5-4469-89F6-5DAFF099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5448300"/>
            <a:ext cx="3600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374</a:t>
            </a:r>
          </a:p>
        </p:txBody>
      </p:sp>
      <p:sp>
        <p:nvSpPr>
          <p:cNvPr id="20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BA93EFCB-E4D1-4FAA-BE54-C50D68F4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810250"/>
            <a:ext cx="600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Valid scored</a:t>
            </a:r>
          </a:p>
        </p:txBody>
      </p:sp>
      <p:sp>
        <p:nvSpPr>
          <p:cNvPr id="21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6476A411-D3D4-44E1-8A1F-22D94D86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5810250"/>
            <a:ext cx="3600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306</a:t>
            </a:r>
          </a:p>
        </p:txBody>
      </p:sp>
      <p:sp>
        <p:nvSpPr>
          <p:cNvPr id="22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261A9238-137E-4DEC-8C48-CD6552808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172200"/>
            <a:ext cx="600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Fail-closed</a:t>
            </a:r>
          </a:p>
        </p:txBody>
      </p:sp>
      <p:sp>
        <p:nvSpPr>
          <p:cNvPr id="23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C43905FE-2BA9-43B6-B660-2E26194E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6172200"/>
            <a:ext cx="3600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68</a:t>
            </a:r>
          </a:p>
        </p:txBody>
      </p:sp>
    </p:spTree>
    <p:extLst>
      <p:ext uri="{BB962C8B-B14F-4D97-AF65-F5344CB8AC3E}">
        <p14:creationId xmlns:p14="http://schemas.microsoft.com/office/powerpoint/2010/main" val="148027789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D328CC-E576-4B73-B7DF-E8BCFEC9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"/>
            <a:ext cx="169926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Training-split validation is the main win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C22A08E-CAEA-4B82-952F-4EBC10E7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81100"/>
            <a:ext cx="16992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Disabled prefetching is 1.000x. Dark blue is best expert, orange is MoP-V1, and pink is MoP-V2.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f501cc30324f11"/>
          <a:stretch xmlns:a="http://schemas.openxmlformats.org/drawingml/2006/main"/>
        </p:blipFill>
        <p:spPr>
          <a:xfrm xmlns:a="http://schemas.openxmlformats.org/drawingml/2006/main">
            <a:off x="1051719" y="1615440"/>
            <a:ext cx="16184563" cy="7768590"/>
          </a:xfrm>
          <a:prstGeom xmlns:a="http://schemas.openxmlformats.org/drawingml/2006/main" prst="rect">
            <a:avLst/>
          </a:prstGeom>
        </p:spPr>
      </p:pic>
      <p:sp>
        <p:nvSpPr>
          <p:cNvPr id="4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7C6EED1C-3422-47DA-9367-D504D04B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563100"/>
            <a:ext cx="16992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13-trace validation bars show the main gain from MoP-V1 to MoP-V2. The 7-trace heldout bars show the smaller post-selection result. Prefetcher off is black at 1.000x and best expert is dark blue.</a:t>
            </a:r>
          </a:p>
        </p:txBody>
      </p:sp>
    </p:spTree>
    <p:extLst>
      <p:ext uri="{BB962C8B-B14F-4D97-AF65-F5344CB8AC3E}">
        <p14:creationId xmlns:p14="http://schemas.microsoft.com/office/powerpoint/2010/main" val="195950018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F781B1E-C1E5-48F5-934F-865057EB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2390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The numeric result is stronger on training than heldout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FB6BBEC-5850-410B-A8F9-FABA1124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23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Training-split validation carries the quantitative weight. Heldout supports a modest generalization claim.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A2ADFCDB-2B26-447B-BEFE-3CAE2B05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4350"/>
            <a:ext cx="92202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8B4D2AAC-99FC-4A70-8FE0-AE978FBA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Surface</a:t>
            </a:r>
          </a:p>
        </p:txBody>
      </p:sp>
      <p:sp>
        <p:nvSpPr>
          <p:cNvPr id="5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C48AA4B9-3C96-480B-92A8-500D1DD3E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146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MoP-V1</a:t>
            </a:r>
          </a:p>
        </p:txBody>
      </p:sp>
      <p:sp>
        <p:nvSpPr>
          <p:cNvPr id="6" name="table-cell-0-2">
            <a:extLst xmlns:a="http://schemas.openxmlformats.org/drawingml/2006/main">
              <a:ext uri="{FF2B5EF4-FFF2-40B4-BE49-F238E27FC236}">
                <a16:creationId xmlns:a16="http://schemas.microsoft.com/office/drawing/2014/main" id="{0BB9844C-C88A-409D-96B6-675E1DFA5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5146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MoP-V2</a:t>
            </a:r>
          </a:p>
        </p:txBody>
      </p:sp>
      <p:sp>
        <p:nvSpPr>
          <p:cNvPr id="7" name="table-cell-0-3">
            <a:extLst xmlns:a="http://schemas.openxmlformats.org/drawingml/2006/main">
              <a:ext uri="{FF2B5EF4-FFF2-40B4-BE49-F238E27FC236}">
                <a16:creationId xmlns:a16="http://schemas.microsoft.com/office/drawing/2014/main" id="{516A4FA6-922A-4B42-A956-FAF0E26B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1460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Best expert</a:t>
            </a:r>
          </a:p>
        </p:txBody>
      </p:sp>
      <p:sp>
        <p:nvSpPr>
          <p:cNvPr id="8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445DEFDE-FB76-4357-98F1-C19F3A1D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13-trace speedup</a:t>
            </a:r>
          </a:p>
        </p:txBody>
      </p:sp>
      <p:sp>
        <p:nvSpPr>
          <p:cNvPr id="9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ED21A7BE-F3DE-457F-ABD3-FB69327A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8194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1.048x</a:t>
            </a:r>
          </a:p>
        </p:txBody>
      </p:sp>
      <p:sp>
        <p:nvSpPr>
          <p:cNvPr id="10" name="table-cell-1-2">
            <a:extLst xmlns:a="http://schemas.openxmlformats.org/drawingml/2006/main">
              <a:ext uri="{FF2B5EF4-FFF2-40B4-BE49-F238E27FC236}">
                <a16:creationId xmlns:a16="http://schemas.microsoft.com/office/drawing/2014/main" id="{2D882489-B346-4728-9969-EB75C506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194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1.066x</a:t>
            </a:r>
          </a:p>
        </p:txBody>
      </p:sp>
      <p:sp>
        <p:nvSpPr>
          <p:cNvPr id="11" name="table-cell-1-3">
            <a:extLst xmlns:a="http://schemas.openxmlformats.org/drawingml/2006/main">
              <a:ext uri="{FF2B5EF4-FFF2-40B4-BE49-F238E27FC236}">
                <a16:creationId xmlns:a16="http://schemas.microsoft.com/office/drawing/2014/main" id="{1E0452D9-DA42-4E0E-9B3A-735EA9D6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1940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1.085x</a:t>
            </a:r>
          </a:p>
        </p:txBody>
      </p:sp>
      <p:sp>
        <p:nvSpPr>
          <p:cNvPr id="12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6C051DB9-4C9E-4CBD-A8B1-D6ED96BF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13-trace % best</a:t>
            </a:r>
          </a:p>
        </p:txBody>
      </p:sp>
      <p:sp>
        <p:nvSpPr>
          <p:cNvPr id="13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07B3D406-4677-4F45-811F-023C9871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432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96.5%</a:t>
            </a:r>
          </a:p>
        </p:txBody>
      </p:sp>
      <p:sp>
        <p:nvSpPr>
          <p:cNvPr id="14" name="table-cell-2-2">
            <a:extLst xmlns:a="http://schemas.openxmlformats.org/drawingml/2006/main">
              <a:ext uri="{FF2B5EF4-FFF2-40B4-BE49-F238E27FC236}">
                <a16:creationId xmlns:a16="http://schemas.microsoft.com/office/drawing/2014/main" id="{B16A879C-CFEA-4546-9A04-3351ED4B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1432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98.3%</a:t>
            </a:r>
          </a:p>
        </p:txBody>
      </p:sp>
      <p:sp>
        <p:nvSpPr>
          <p:cNvPr id="15" name="table-cell-2-3">
            <a:extLst xmlns:a="http://schemas.openxmlformats.org/drawingml/2006/main">
              <a:ext uri="{FF2B5EF4-FFF2-40B4-BE49-F238E27FC236}">
                <a16:creationId xmlns:a16="http://schemas.microsoft.com/office/drawing/2014/main" id="{5FD60A3D-984C-4444-9E30-B92DB3E9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4325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16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894D0867-ABF1-4759-86D3-F973B461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Beats worse expert</a:t>
            </a:r>
          </a:p>
        </p:txBody>
      </p:sp>
      <p:sp>
        <p:nvSpPr>
          <p:cNvPr id="17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9C5E8A52-B994-43D4-BA78-0BFA750F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4480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9/13</a:t>
            </a:r>
          </a:p>
        </p:txBody>
      </p:sp>
      <p:sp>
        <p:nvSpPr>
          <p:cNvPr id="18" name="table-cell-3-2">
            <a:extLst xmlns:a="http://schemas.openxmlformats.org/drawingml/2006/main">
              <a:ext uri="{FF2B5EF4-FFF2-40B4-BE49-F238E27FC236}">
                <a16:creationId xmlns:a16="http://schemas.microsoft.com/office/drawing/2014/main" id="{F6446B24-5345-47C5-95E3-40E71690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480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11/13</a:t>
            </a:r>
          </a:p>
        </p:txBody>
      </p:sp>
      <p:sp>
        <p:nvSpPr>
          <p:cNvPr id="19" name="table-cell-3-3">
            <a:extLst xmlns:a="http://schemas.openxmlformats.org/drawingml/2006/main">
              <a:ext uri="{FF2B5EF4-FFF2-40B4-BE49-F238E27FC236}">
                <a16:creationId xmlns:a16="http://schemas.microsoft.com/office/drawing/2014/main" id="{B3D2F2ED-D77B-491F-B317-1505CB03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4805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table-cell-4-0">
            <a:extLst xmlns:a="http://schemas.openxmlformats.org/drawingml/2006/main">
              <a:ext uri="{FF2B5EF4-FFF2-40B4-BE49-F238E27FC236}">
                <a16:creationId xmlns:a16="http://schemas.microsoft.com/office/drawing/2014/main" id="{9F65F736-ADDA-42F4-8E97-8967BC2B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Below 95% best</a:t>
            </a:r>
          </a:p>
        </p:txBody>
      </p:sp>
      <p:sp>
        <p:nvSpPr>
          <p:cNvPr id="21" name="table-cell-4-1">
            <a:extLst xmlns:a="http://schemas.openxmlformats.org/drawingml/2006/main">
              <a:ext uri="{FF2B5EF4-FFF2-40B4-BE49-F238E27FC236}">
                <a16:creationId xmlns:a16="http://schemas.microsoft.com/office/drawing/2014/main" id="{2108766B-28FC-405A-B55A-3E7CB60A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7719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3/13</a:t>
            </a:r>
          </a:p>
        </p:txBody>
      </p:sp>
      <p:sp>
        <p:nvSpPr>
          <p:cNvPr id="22" name="table-cell-4-2">
            <a:extLst xmlns:a="http://schemas.openxmlformats.org/drawingml/2006/main">
              <a:ext uri="{FF2B5EF4-FFF2-40B4-BE49-F238E27FC236}">
                <a16:creationId xmlns:a16="http://schemas.microsoft.com/office/drawing/2014/main" id="{322DB0A4-8DC7-40BD-9EF8-867CE510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7190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2/13</a:t>
            </a:r>
          </a:p>
        </p:txBody>
      </p:sp>
      <p:sp>
        <p:nvSpPr>
          <p:cNvPr id="23" name="table-cell-4-3">
            <a:extLst xmlns:a="http://schemas.openxmlformats.org/drawingml/2006/main">
              <a:ext uri="{FF2B5EF4-FFF2-40B4-BE49-F238E27FC236}">
                <a16:creationId xmlns:a16="http://schemas.microsoft.com/office/drawing/2014/main" id="{75345447-C730-4C32-84F1-A67EAE5F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7190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table-cell-5-0">
            <a:extLst xmlns:a="http://schemas.openxmlformats.org/drawingml/2006/main">
              <a:ext uri="{FF2B5EF4-FFF2-40B4-BE49-F238E27FC236}">
                <a16:creationId xmlns:a16="http://schemas.microsoft.com/office/drawing/2014/main" id="{7466C51C-3E23-44EB-A10F-6E0E3B8C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7-heldout speedup</a:t>
            </a:r>
          </a:p>
        </p:txBody>
      </p:sp>
      <p:sp>
        <p:nvSpPr>
          <p:cNvPr id="25" name="table-cell-5-1">
            <a:extLst xmlns:a="http://schemas.openxmlformats.org/drawingml/2006/main">
              <a:ext uri="{FF2B5EF4-FFF2-40B4-BE49-F238E27FC236}">
                <a16:creationId xmlns:a16="http://schemas.microsoft.com/office/drawing/2014/main" id="{62C05943-8713-40A5-A45F-BFC63CCB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957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0.998x</a:t>
            </a:r>
          </a:p>
        </p:txBody>
      </p:sp>
      <p:sp>
        <p:nvSpPr>
          <p:cNvPr id="26" name="table-cell-5-2">
            <a:extLst xmlns:a="http://schemas.openxmlformats.org/drawingml/2006/main">
              <a:ext uri="{FF2B5EF4-FFF2-40B4-BE49-F238E27FC236}">
                <a16:creationId xmlns:a16="http://schemas.microsoft.com/office/drawing/2014/main" id="{2BC7208B-D638-451B-95BE-25534808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0957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1.003x</a:t>
            </a:r>
          </a:p>
        </p:txBody>
      </p:sp>
      <p:sp>
        <p:nvSpPr>
          <p:cNvPr id="27" name="table-cell-5-3">
            <a:extLst xmlns:a="http://schemas.openxmlformats.org/drawingml/2006/main">
              <a:ext uri="{FF2B5EF4-FFF2-40B4-BE49-F238E27FC236}">
                <a16:creationId xmlns:a16="http://schemas.microsoft.com/office/drawing/2014/main" id="{92F72B7C-4C24-4518-B4CF-EC11DDB7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9575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1.024x</a:t>
            </a:r>
          </a:p>
        </p:txBody>
      </p:sp>
      <p:sp>
        <p:nvSpPr>
          <p:cNvPr id="28" name="table-cell-6-0">
            <a:extLst xmlns:a="http://schemas.openxmlformats.org/drawingml/2006/main">
              <a:ext uri="{FF2B5EF4-FFF2-40B4-BE49-F238E27FC236}">
                <a16:creationId xmlns:a16="http://schemas.microsoft.com/office/drawing/2014/main" id="{A903CA7A-F37C-4D1C-AD94-ADDBE575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609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7-heldout % best</a:t>
            </a:r>
          </a:p>
        </p:txBody>
      </p:sp>
      <p:sp>
        <p:nvSpPr>
          <p:cNvPr id="29" name="table-cell-6-1">
            <a:extLst xmlns:a="http://schemas.openxmlformats.org/drawingml/2006/main">
              <a:ext uri="{FF2B5EF4-FFF2-40B4-BE49-F238E27FC236}">
                <a16:creationId xmlns:a16="http://schemas.microsoft.com/office/drawing/2014/main" id="{EFF0E0FC-0EF9-407F-ADF2-2DA828D2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4005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97.6%</a:t>
            </a:r>
          </a:p>
        </p:txBody>
      </p:sp>
      <p:sp>
        <p:nvSpPr>
          <p:cNvPr id="30" name="table-cell-6-2">
            <a:extLst xmlns:a="http://schemas.openxmlformats.org/drawingml/2006/main">
              <a:ext uri="{FF2B5EF4-FFF2-40B4-BE49-F238E27FC236}">
                <a16:creationId xmlns:a16="http://schemas.microsoft.com/office/drawing/2014/main" id="{251E8587-58AD-47F0-8504-0E461AF2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400550"/>
            <a:ext cx="1257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97.9%</a:t>
            </a:r>
          </a:p>
        </p:txBody>
      </p:sp>
      <p:sp>
        <p:nvSpPr>
          <p:cNvPr id="31" name="table-cell-6-3">
            <a:extLst xmlns:a="http://schemas.openxmlformats.org/drawingml/2006/main">
              <a:ext uri="{FF2B5EF4-FFF2-40B4-BE49-F238E27FC236}">
                <a16:creationId xmlns:a16="http://schemas.microsoft.com/office/drawing/2014/main" id="{6A4D1EBA-430D-413A-AB52-DBA9A761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00550"/>
            <a:ext cx="1600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100.0%</a:t>
            </a:r>
          </a:p>
        </p:txBody>
      </p:sp>
      <p:sp>
        <p:nvSpPr>
          <p:cNvPr id="32" name="cycle-interpretation">
            <a:extLst xmlns:a="http://schemas.openxmlformats.org/drawingml/2006/main">
              <a:ext uri="{FF2B5EF4-FFF2-40B4-BE49-F238E27FC236}">
                <a16:creationId xmlns:a16="http://schemas.microsoft.com/office/drawing/2014/main" id="{F119884A-98DE-45E8-8C21-C5827C7A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723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33333"/>
                </a:solidFill>
              </a:defRPr>
            </a:pPr>
            <a:r>
              <a:rPr sz="1575">
                <a:solidFill>
                  <a:srgbClr val="333333"/>
                </a:solidFill>
              </a:rPr>
              <a:t>The IPC movement is cycle movement under a fixed retired-instruction window: MoP-V2 has instruction-count ratio 1.000x on both final surfaces, with cycle-count ratio 0.938x on training-split validation and 0.997x on heldout.</a:t>
            </a:r>
          </a:p>
        </p:txBody>
      </p:sp>
      <p:pic>
        <p:nvPicPr>
          <p:cNvPr id="33" name="win-los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a37459e78b4735"/>
          <a:stretch xmlns:a="http://schemas.openxmlformats.org/drawingml/2006/main"/>
        </p:blipFill>
        <p:spPr>
          <a:xfrm xmlns:a="http://schemas.openxmlformats.org/drawingml/2006/main">
            <a:off x="9719141" y="2506980"/>
            <a:ext cx="6548967" cy="6736080"/>
          </a:xfrm>
          <a:prstGeom xmlns:a="http://schemas.openxmlformats.org/drawingml/2006/main" prst="rect">
            <a:avLst/>
          </a:prstGeom>
        </p:spPr>
      </p:pic>
      <p:sp>
        <p:nvSpPr>
          <p:cNvPr id="34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40F56903-A958-4320-960D-0C85942C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9334500"/>
            <a:ext cx="92202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Blue rows are trace-level wins versus the best single prefetcher. Pink rows are losses. The mixed pattern motivates the measured heldout claim.</a:t>
            </a:r>
          </a:p>
        </p:txBody>
      </p:sp>
    </p:spTree>
    <p:extLst>
      <p:ext uri="{BB962C8B-B14F-4D97-AF65-F5344CB8AC3E}">
        <p14:creationId xmlns:p14="http://schemas.microsoft.com/office/powerpoint/2010/main" val="99269764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C3C76F-942D-4A3E-AD5A-7A4F8F46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"/>
            <a:ext cx="170307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Heldout behavior is trace-specific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2DFFD75-06A7-4AA8-9DE8-00F8933D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17030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Within each heldout trace the profile order is Expert 1, Expert 2, MoP-V1, MoP-V2. The 1.000x line is disabled prefetching.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0a710d81f442f"/>
          <a:stretch xmlns:a="http://schemas.openxmlformats.org/drawingml/2006/main"/>
        </p:blipFill>
        <p:spPr>
          <a:xfrm xmlns:a="http://schemas.openxmlformats.org/drawingml/2006/main">
            <a:off x="1796527" y="1596390"/>
            <a:ext cx="14694946" cy="7806690"/>
          </a:xfrm>
          <a:prstGeom xmlns:a="http://schemas.openxmlformats.org/drawingml/2006/main" prst="rect">
            <a:avLst/>
          </a:prstGeom>
        </p:spPr>
      </p:pic>
      <p:sp>
        <p:nvSpPr>
          <p:cNvPr id="4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98CBA306-07AC-49D2-B175-BAE9D825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82150"/>
            <a:ext cx="17030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single experts share one blue hue with different opacity, MoP-V1 is orange, MoP-V2 is pink, and the black vertical line is disabled prefetching at 1.000x.</a:t>
            </a:r>
          </a:p>
        </p:txBody>
      </p:sp>
    </p:spTree>
    <p:extLst>
      <p:ext uri="{BB962C8B-B14F-4D97-AF65-F5344CB8AC3E}">
        <p14:creationId xmlns:p14="http://schemas.microsoft.com/office/powerpoint/2010/main" val="84994508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8C5396-004E-4B11-99F1-2C114A1F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94678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The expert pair gives routing something real to choose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5717F81-E5D8-4752-AA6B-BACEE8BF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9467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MLOP and SPP+PPF have different strengths across traces, so the router has a meaningful selection problem.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99DD63D3-5AC1-49FE-BC6A-0139D6E2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14350"/>
            <a:ext cx="70104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4" name="expert-profile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a2120eb134db2"/>
          <a:stretch xmlns:a="http://schemas.openxmlformats.org/drawingml/2006/main"/>
        </p:blipFill>
        <p:spPr>
          <a:xfrm xmlns:a="http://schemas.openxmlformats.org/drawingml/2006/main">
            <a:off x="1391690" y="2506980"/>
            <a:ext cx="8025114" cy="6736080"/>
          </a:xfrm>
          <a:prstGeom xmlns:a="http://schemas.openxmlformats.org/drawingml/2006/main" prst="rect">
            <a:avLst/>
          </a:prstGeom>
        </p:spPr>
      </p:pic>
      <p:sp>
        <p:nvSpPr>
          <p:cNvPr id="5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1F6E7F3C-ACFE-4617-8E01-0BC5AAD0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0"/>
            <a:ext cx="94678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scatter shows which single expert wins by trace. Different trace winners create room for a router to approach the dark-blue best-expert reference.</a:t>
            </a:r>
          </a:p>
        </p:txBody>
      </p:sp>
      <p:sp>
        <p:nvSpPr>
          <p:cNvPr id="6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49391206-9B3F-440A-BD3B-0AC0ADF6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514600"/>
            <a:ext cx="70104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3F6FD1"/>
                </a:solidFill>
              </a:defRPr>
            </a:pPr>
            <a:r>
              <a:rPr sz="4650" b="1">
                <a:solidFill>
                  <a:srgbClr val="3F6FD1"/>
                </a:solidFill>
              </a:rPr>
              <a:t>1.024x</a:t>
            </a:r>
          </a:p>
        </p:txBody>
      </p:sp>
      <p:sp>
        <p:nvSpPr>
          <p:cNvPr id="7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E2099D70-B846-4B88-A2B8-DA77139F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95650"/>
            <a:ext cx="7010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SPP+PPF heldout geomean over disabled prefetching</a:t>
            </a:r>
          </a:p>
        </p:txBody>
      </p:sp>
      <p:sp>
        <p:nvSpPr>
          <p:cNvPr id="8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EFDB922B-ADCA-498B-B1A8-4AF961F7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733800"/>
            <a:ext cx="70104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E6100"/>
                </a:solidFill>
              </a:defRPr>
            </a:pPr>
            <a:r>
              <a:rPr sz="4350" b="1">
                <a:solidFill>
                  <a:srgbClr val="FE6100"/>
                </a:solidFill>
              </a:rPr>
              <a:t>0.974x</a:t>
            </a:r>
          </a:p>
        </p:txBody>
      </p:sp>
      <p:sp>
        <p:nvSpPr>
          <p:cNvPr id="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14F77780-26C8-40BB-8B15-380AC0E8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476750"/>
            <a:ext cx="7010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MLOP heldout geomean over disabled prefetching</a:t>
            </a:r>
          </a:p>
        </p:txBody>
      </p:sp>
      <p:sp>
        <p:nvSpPr>
          <p:cNvPr id="10" name="best-expert-copy">
            <a:extLst xmlns:a="http://schemas.openxmlformats.org/drawingml/2006/main">
              <a:ext uri="{FF2B5EF4-FFF2-40B4-BE49-F238E27FC236}">
                <a16:creationId xmlns:a16="http://schemas.microsoft.com/office/drawing/2014/main" id="{6322FD20-C240-4304-95E7-0141BE58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914900"/>
            <a:ext cx="70104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333333"/>
                </a:solidFill>
              </a:defRPr>
            </a:pPr>
            <a:r>
              <a:rPr sz="1875">
                <a:solidFill>
                  <a:srgbClr val="333333"/>
                </a:solidFill>
              </a:rPr>
              <a:t>The best-expert reference is computed per trace, then geomeaned. It is a reference curve for routing quality.</a:t>
            </a:r>
          </a:p>
        </p:txBody>
      </p:sp>
    </p:spTree>
    <p:extLst>
      <p:ext uri="{BB962C8B-B14F-4D97-AF65-F5344CB8AC3E}">
        <p14:creationId xmlns:p14="http://schemas.microsoft.com/office/powerpoint/2010/main" val="203276848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01397D-8105-4C9F-90EC-FC63F584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64198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MoP-V2 clears the simple router baselines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F3E3DF8-1E45-40D4-B944-863C782D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6419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WinnerTakeAll and OneShotFit are intentionally small baselines for the same expert pair.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944B1A2A-6691-4D9C-B0B8-117447F5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14350"/>
            <a:ext cx="1003935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kv-key-0">
            <a:extLst xmlns:a="http://schemas.openxmlformats.org/drawingml/2006/main">
              <a:ext uri="{FF2B5EF4-FFF2-40B4-BE49-F238E27FC236}">
                <a16:creationId xmlns:a16="http://schemas.microsoft.com/office/drawing/2014/main" id="{5D6128BD-EC9B-4B52-AFFA-029D73E3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2228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WinnerTakeAll</a:t>
            </a:r>
          </a:p>
        </p:txBody>
      </p:sp>
      <p:sp>
        <p:nvSpPr>
          <p:cNvPr id="5" name="kv-value-0">
            <a:extLst xmlns:a="http://schemas.openxmlformats.org/drawingml/2006/main">
              <a:ext uri="{FF2B5EF4-FFF2-40B4-BE49-F238E27FC236}">
                <a16:creationId xmlns:a16="http://schemas.microsoft.com/office/drawing/2014/main" id="{6C6832CB-6A7A-435B-9EFE-6A127CCE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14600"/>
            <a:ext cx="3981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Picks the expert with the stronger previous-epoch usefulness score.</a:t>
            </a:r>
          </a:p>
        </p:txBody>
      </p:sp>
      <p:sp>
        <p:nvSpPr>
          <p:cNvPr id="6" name="kv-key-1">
            <a:extLst xmlns:a="http://schemas.openxmlformats.org/drawingml/2006/main">
              <a:ext uri="{FF2B5EF4-FFF2-40B4-BE49-F238E27FC236}">
                <a16:creationId xmlns:a16="http://schemas.microsoft.com/office/drawing/2014/main" id="{00640352-B769-43FD-B02A-92CB13DB4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2228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OneShotFit</a:t>
            </a:r>
          </a:p>
        </p:txBody>
      </p:sp>
      <p:sp>
        <p:nvSpPr>
          <p:cNvPr id="7" name="kv-value-1">
            <a:extLst xmlns:a="http://schemas.openxmlformats.org/drawingml/2006/main">
              <a:ext uri="{FF2B5EF4-FFF2-40B4-BE49-F238E27FC236}">
                <a16:creationId xmlns:a16="http://schemas.microsoft.com/office/drawing/2014/main" id="{E22EA374-072B-47ED-8920-3B0E6807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124200"/>
            <a:ext cx="3981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Probes the experts once, then keeps the better early winner.</a:t>
            </a:r>
          </a:p>
        </p:txBody>
      </p:sp>
      <p:sp>
        <p:nvSpPr>
          <p:cNvPr id="8" name="kv-key-2">
            <a:extLst xmlns:a="http://schemas.openxmlformats.org/drawingml/2006/main">
              <a:ext uri="{FF2B5EF4-FFF2-40B4-BE49-F238E27FC236}">
                <a16:creationId xmlns:a16="http://schemas.microsoft.com/office/drawing/2014/main" id="{03AA67A6-EBA3-4AE3-A67A-6756A970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22288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Athena MAB</a:t>
            </a:r>
          </a:p>
        </p:txBody>
      </p:sp>
      <p:sp>
        <p:nvSpPr>
          <p:cNvPr id="9" name="kv-value-2">
            <a:extLst xmlns:a="http://schemas.openxmlformats.org/drawingml/2006/main">
              <a:ext uri="{FF2B5EF4-FFF2-40B4-BE49-F238E27FC236}">
                <a16:creationId xmlns:a16="http://schemas.microsoft.com/office/drawing/2014/main" id="{02F09724-B333-4450-A4DD-548F0900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752850"/>
            <a:ext cx="3981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Athena's multi-armed-bandit router baseline for the same expert pair.</a:t>
            </a:r>
          </a:p>
        </p:txBody>
      </p:sp>
      <p:sp>
        <p:nvSpPr>
          <p:cNvPr id="10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CD143D12-139B-4A40-8F2C-6A1FFB58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13-trace method</a:t>
            </a:r>
          </a:p>
        </p:txBody>
      </p:sp>
      <p:sp>
        <p:nvSpPr>
          <p:cNvPr id="11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BB74E4F9-5588-42D9-8044-FC809931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43865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Speedup</a:t>
            </a:r>
          </a:p>
        </p:txBody>
      </p:sp>
      <p:sp>
        <p:nvSpPr>
          <p:cNvPr id="12" name="table-cell-0-2">
            <a:extLst xmlns:a="http://schemas.openxmlformats.org/drawingml/2006/main">
              <a:ext uri="{FF2B5EF4-FFF2-40B4-BE49-F238E27FC236}">
                <a16:creationId xmlns:a16="http://schemas.microsoft.com/office/drawing/2014/main" id="{37992BDE-E65C-4B80-BB87-0F1FC712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F6FD1"/>
                </a:solidFill>
              </a:defRPr>
            </a:pPr>
            <a:r>
              <a:rPr sz="1575" b="1">
                <a:solidFill>
                  <a:srgbClr val="3F6FD1"/>
                </a:solidFill>
              </a:rPr>
              <a:t>% best</a:t>
            </a:r>
          </a:p>
        </p:txBody>
      </p:sp>
      <p:sp>
        <p:nvSpPr>
          <p:cNvPr id="13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E6EA48D7-6167-4334-BE17-793224B5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MoP-V2</a:t>
            </a:r>
          </a:p>
        </p:txBody>
      </p:sp>
      <p:sp>
        <p:nvSpPr>
          <p:cNvPr id="14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605D52F3-63E0-4791-BEBB-1222E08D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76250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1.066x</a:t>
            </a:r>
          </a:p>
        </p:txBody>
      </p:sp>
      <p:sp>
        <p:nvSpPr>
          <p:cNvPr id="15" name="table-cell-1-2">
            <a:extLst xmlns:a="http://schemas.openxmlformats.org/drawingml/2006/main">
              <a:ext uri="{FF2B5EF4-FFF2-40B4-BE49-F238E27FC236}">
                <a16:creationId xmlns:a16="http://schemas.microsoft.com/office/drawing/2014/main" id="{014B0693-823F-4472-96A9-68811015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6250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98.3%</a:t>
            </a:r>
          </a:p>
        </p:txBody>
      </p:sp>
      <p:sp>
        <p:nvSpPr>
          <p:cNvPr id="16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6A25DA8E-0A7C-4FA0-97C0-BE422F99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WinnerTakeAll</a:t>
            </a:r>
          </a:p>
        </p:txBody>
      </p:sp>
      <p:sp>
        <p:nvSpPr>
          <p:cNvPr id="17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75A8454F-1B0C-4EF0-B1BF-0A8C07A1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8635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1.025x</a:t>
            </a:r>
          </a:p>
        </p:txBody>
      </p:sp>
      <p:sp>
        <p:nvSpPr>
          <p:cNvPr id="18" name="table-cell-2-2">
            <a:extLst xmlns:a="http://schemas.openxmlformats.org/drawingml/2006/main">
              <a:ext uri="{FF2B5EF4-FFF2-40B4-BE49-F238E27FC236}">
                <a16:creationId xmlns:a16="http://schemas.microsoft.com/office/drawing/2014/main" id="{1012144B-055C-49B5-8F0F-87A5C973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08635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94.3%</a:t>
            </a:r>
          </a:p>
        </p:txBody>
      </p:sp>
      <p:sp>
        <p:nvSpPr>
          <p:cNvPr id="19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51C623C9-8072-49EC-9447-FF4DED24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OneShotFit</a:t>
            </a:r>
          </a:p>
        </p:txBody>
      </p:sp>
      <p:sp>
        <p:nvSpPr>
          <p:cNvPr id="20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FF6F4622-4D4D-486D-A04D-1D401D36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39115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1.027x</a:t>
            </a:r>
          </a:p>
        </p:txBody>
      </p:sp>
      <p:sp>
        <p:nvSpPr>
          <p:cNvPr id="21" name="table-cell-3-2">
            <a:extLst xmlns:a="http://schemas.openxmlformats.org/drawingml/2006/main">
              <a:ext uri="{FF2B5EF4-FFF2-40B4-BE49-F238E27FC236}">
                <a16:creationId xmlns:a16="http://schemas.microsoft.com/office/drawing/2014/main" id="{099A71CD-1586-4CA1-B8DB-3B77A4CB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39115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94.3%</a:t>
            </a:r>
          </a:p>
        </p:txBody>
      </p:sp>
      <p:sp>
        <p:nvSpPr>
          <p:cNvPr id="22" name="table-cell-4-0">
            <a:extLst xmlns:a="http://schemas.openxmlformats.org/drawingml/2006/main">
              <a:ext uri="{FF2B5EF4-FFF2-40B4-BE49-F238E27FC236}">
                <a16:creationId xmlns:a16="http://schemas.microsoft.com/office/drawing/2014/main" id="{F80BB79E-594D-4672-99D3-6D83279B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15000"/>
            <a:ext cx="2914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Athena MAB</a:t>
            </a:r>
          </a:p>
        </p:txBody>
      </p:sp>
      <p:sp>
        <p:nvSpPr>
          <p:cNvPr id="23" name="table-cell-4-1">
            <a:extLst xmlns:a="http://schemas.openxmlformats.org/drawingml/2006/main">
              <a:ext uri="{FF2B5EF4-FFF2-40B4-BE49-F238E27FC236}">
                <a16:creationId xmlns:a16="http://schemas.microsoft.com/office/drawing/2014/main" id="{1A9CB7AB-E4BA-4217-A38A-DC253D3E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715000"/>
            <a:ext cx="1638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1.021x</a:t>
            </a:r>
          </a:p>
        </p:txBody>
      </p:sp>
      <p:sp>
        <p:nvSpPr>
          <p:cNvPr id="24" name="table-cell-4-2">
            <a:extLst xmlns:a="http://schemas.openxmlformats.org/drawingml/2006/main">
              <a:ext uri="{FF2B5EF4-FFF2-40B4-BE49-F238E27FC236}">
                <a16:creationId xmlns:a16="http://schemas.microsoft.com/office/drawing/2014/main" id="{A0E70FC0-1C42-44BC-B0E6-B21E24A4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71500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94.2%</a:t>
            </a:r>
          </a:p>
        </p:txBody>
      </p:sp>
      <p:pic>
        <p:nvPicPr>
          <p:cNvPr id="25" name="router-criteri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4de77429648e3"/>
          <a:stretch xmlns:a="http://schemas.openxmlformats.org/drawingml/2006/main"/>
        </p:blipFill>
        <p:spPr>
          <a:xfrm xmlns:a="http://schemas.openxmlformats.org/drawingml/2006/main">
            <a:off x="8391144" y="2506980"/>
            <a:ext cx="8420100" cy="6736080"/>
          </a:xfrm>
          <a:prstGeom xmlns:a="http://schemas.openxmlformats.org/drawingml/2006/main" prst="rect">
            <a:avLst/>
          </a:prstGeom>
        </p:spPr>
      </p:pic>
      <p:sp>
        <p:nvSpPr>
          <p:cNvPr id="26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5CB75700-76A5-4BE1-82B4-13141D62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9334500"/>
            <a:ext cx="100393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comparison keeps the baseline routers plain. MoP-V2 clears the simple router baselines on the 13-trace final validation surface.</a:t>
            </a:r>
          </a:p>
        </p:txBody>
      </p:sp>
    </p:spTree>
    <p:extLst>
      <p:ext uri="{BB962C8B-B14F-4D97-AF65-F5344CB8AC3E}">
        <p14:creationId xmlns:p14="http://schemas.microsoft.com/office/powerpoint/2010/main" val="179937209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42D6CB-3426-4317-BA39-AB028C49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9753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OpenEvolve found close candidates across models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67FDB77-F1BE-4FDE-8023-15773411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33550"/>
            <a:ext cx="97536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Quick-evaluation winners were similar, then wider validation and 13-trace confirmation selected MoP-V2.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8C7F4D55-3F34-4BEB-B0C8-65350C45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95300"/>
            <a:ext cx="67818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4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b8327d84a4075"/>
          <a:stretch xmlns:a="http://schemas.openxmlformats.org/drawingml/2006/main"/>
        </p:blipFill>
        <p:spPr>
          <a:xfrm xmlns:a="http://schemas.openxmlformats.org/drawingml/2006/main">
            <a:off x="647700" y="3436048"/>
            <a:ext cx="9755886" cy="4877943"/>
          </a:xfrm>
          <a:prstGeom xmlns:a="http://schemas.openxmlformats.org/drawingml/2006/main" prst="rect">
            <a:avLst/>
          </a:prstGeom>
        </p:spPr>
      </p:pic>
      <p:sp>
        <p:nvSpPr>
          <p:cNvPr id="5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05B9AA0C-244F-47EA-8C02-9155941D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353550"/>
            <a:ext cx="97536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Faint points are quick-evaluation candidates. Dashed lines track the score-selected incumbent IPC, while solid lines track best IPC seen so far.</a:t>
            </a:r>
          </a:p>
        </p:txBody>
      </p:sp>
      <p:sp>
        <p:nvSpPr>
          <p:cNvPr id="6" name="table-cell-0-0">
            <a:extLst xmlns:a="http://schemas.openxmlformats.org/drawingml/2006/main">
              <a:ext uri="{FF2B5EF4-FFF2-40B4-BE49-F238E27FC236}">
                <a16:creationId xmlns:a16="http://schemas.microsoft.com/office/drawing/2014/main" id="{81AFE5CE-5D42-4AAA-854F-2742007C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95550"/>
            <a:ext cx="3124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F6FD1"/>
                </a:solidFill>
              </a:defRPr>
            </a:pPr>
            <a:r>
              <a:rPr sz="1650" b="1">
                <a:solidFill>
                  <a:srgbClr val="3F6FD1"/>
                </a:solidFill>
              </a:rPr>
              <a:t>Model</a:t>
            </a:r>
          </a:p>
        </p:txBody>
      </p:sp>
      <p:sp>
        <p:nvSpPr>
          <p:cNvPr id="7" name="table-cell-0-1">
            <a:extLst xmlns:a="http://schemas.openxmlformats.org/drawingml/2006/main">
              <a:ext uri="{FF2B5EF4-FFF2-40B4-BE49-F238E27FC236}">
                <a16:creationId xmlns:a16="http://schemas.microsoft.com/office/drawing/2014/main" id="{0A7A737A-5CBF-4CF3-B0BA-EA8272CF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2495550"/>
            <a:ext cx="137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F6FD1"/>
                </a:solidFill>
              </a:defRPr>
            </a:pPr>
            <a:r>
              <a:rPr sz="1650" b="1">
                <a:solidFill>
                  <a:srgbClr val="3F6FD1"/>
                </a:solidFill>
              </a:rPr>
              <a:t>Iter</a:t>
            </a:r>
          </a:p>
        </p:txBody>
      </p:sp>
      <p:sp>
        <p:nvSpPr>
          <p:cNvPr id="8" name="table-cell-0-2">
            <a:extLst xmlns:a="http://schemas.openxmlformats.org/drawingml/2006/main">
              <a:ext uri="{FF2B5EF4-FFF2-40B4-BE49-F238E27FC236}">
                <a16:creationId xmlns:a16="http://schemas.microsoft.com/office/drawing/2014/main" id="{BB87E616-5422-47D2-B07F-8B1ADEE5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2495550"/>
            <a:ext cx="1943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F6FD1"/>
                </a:solidFill>
              </a:defRPr>
            </a:pPr>
            <a:r>
              <a:rPr sz="1650" b="1">
                <a:solidFill>
                  <a:srgbClr val="3F6FD1"/>
                </a:solidFill>
              </a:rPr>
              <a:t>Wide val</a:t>
            </a:r>
          </a:p>
        </p:txBody>
      </p:sp>
      <p:sp>
        <p:nvSpPr>
          <p:cNvPr id="9" name="table-cell-1-0">
            <a:extLst xmlns:a="http://schemas.openxmlformats.org/drawingml/2006/main">
              <a:ext uri="{FF2B5EF4-FFF2-40B4-BE49-F238E27FC236}">
                <a16:creationId xmlns:a16="http://schemas.microsoft.com/office/drawing/2014/main" id="{E45639E7-25F6-489B-B366-6C24ED1A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19400"/>
            <a:ext cx="3124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GPT-5 mini</a:t>
            </a:r>
          </a:p>
        </p:txBody>
      </p:sp>
      <p:sp>
        <p:nvSpPr>
          <p:cNvPr id="10" name="table-cell-1-1">
            <a:extLst xmlns:a="http://schemas.openxmlformats.org/drawingml/2006/main">
              <a:ext uri="{FF2B5EF4-FFF2-40B4-BE49-F238E27FC236}">
                <a16:creationId xmlns:a16="http://schemas.microsoft.com/office/drawing/2014/main" id="{81D25339-8672-4588-8662-FFCEE146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2819400"/>
            <a:ext cx="137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80</a:t>
            </a:r>
          </a:p>
        </p:txBody>
      </p:sp>
      <p:sp>
        <p:nvSpPr>
          <p:cNvPr id="11" name="table-cell-1-2">
            <a:extLst xmlns:a="http://schemas.openxmlformats.org/drawingml/2006/main">
              <a:ext uri="{FF2B5EF4-FFF2-40B4-BE49-F238E27FC236}">
                <a16:creationId xmlns:a16="http://schemas.microsoft.com/office/drawing/2014/main" id="{DA0F75D5-977D-448A-A90B-06B07117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2819400"/>
            <a:ext cx="1943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1.087x</a:t>
            </a:r>
          </a:p>
        </p:txBody>
      </p:sp>
      <p:sp>
        <p:nvSpPr>
          <p:cNvPr id="12" name="table-cell-2-0">
            <a:extLst xmlns:a="http://schemas.openxmlformats.org/drawingml/2006/main">
              <a:ext uri="{FF2B5EF4-FFF2-40B4-BE49-F238E27FC236}">
                <a16:creationId xmlns:a16="http://schemas.microsoft.com/office/drawing/2014/main" id="{AEBBD817-995F-4D62-B4B3-ABEF4051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143250"/>
            <a:ext cx="3124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GPT-5.4</a:t>
            </a:r>
          </a:p>
        </p:txBody>
      </p:sp>
      <p:sp>
        <p:nvSpPr>
          <p:cNvPr id="13" name="table-cell-2-1">
            <a:extLst xmlns:a="http://schemas.openxmlformats.org/drawingml/2006/main">
              <a:ext uri="{FF2B5EF4-FFF2-40B4-BE49-F238E27FC236}">
                <a16:creationId xmlns:a16="http://schemas.microsoft.com/office/drawing/2014/main" id="{9D7D1074-AB37-4BA3-9F27-956376D3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3143250"/>
            <a:ext cx="137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80</a:t>
            </a:r>
          </a:p>
        </p:txBody>
      </p:sp>
      <p:sp>
        <p:nvSpPr>
          <p:cNvPr id="14" name="table-cell-2-2">
            <a:extLst xmlns:a="http://schemas.openxmlformats.org/drawingml/2006/main">
              <a:ext uri="{FF2B5EF4-FFF2-40B4-BE49-F238E27FC236}">
                <a16:creationId xmlns:a16="http://schemas.microsoft.com/office/drawing/2014/main" id="{073C3840-5FA5-4350-B15C-6B92D4EE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143250"/>
            <a:ext cx="1943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1.088x</a:t>
            </a:r>
          </a:p>
        </p:txBody>
      </p:sp>
      <p:sp>
        <p:nvSpPr>
          <p:cNvPr id="15" name="table-cell-3-0">
            <a:extLst xmlns:a="http://schemas.openxmlformats.org/drawingml/2006/main">
              <a:ext uri="{FF2B5EF4-FFF2-40B4-BE49-F238E27FC236}">
                <a16:creationId xmlns:a16="http://schemas.microsoft.com/office/drawing/2014/main" id="{BE53ABF8-6547-45D9-944F-510365E7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467100"/>
            <a:ext cx="3124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Sonnet 4.6</a:t>
            </a:r>
          </a:p>
        </p:txBody>
      </p:sp>
      <p:sp>
        <p:nvSpPr>
          <p:cNvPr id="16" name="table-cell-3-1">
            <a:extLst xmlns:a="http://schemas.openxmlformats.org/drawingml/2006/main">
              <a:ext uri="{FF2B5EF4-FFF2-40B4-BE49-F238E27FC236}">
                <a16:creationId xmlns:a16="http://schemas.microsoft.com/office/drawing/2014/main" id="{91BDF4BB-BB2B-4390-A0B4-3DD50FA6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3467100"/>
            <a:ext cx="1371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17" name="table-cell-3-2">
            <a:extLst xmlns:a="http://schemas.openxmlformats.org/drawingml/2006/main">
              <a:ext uri="{FF2B5EF4-FFF2-40B4-BE49-F238E27FC236}">
                <a16:creationId xmlns:a16="http://schemas.microsoft.com/office/drawing/2014/main" id="{FD67435C-7643-484F-87B1-BB6921B1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467100"/>
            <a:ext cx="1943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1.087x</a:t>
            </a:r>
          </a:p>
        </p:txBody>
      </p:sp>
      <p:sp>
        <p:nvSpPr>
          <p:cNvPr id="18" name="selected-policy">
            <a:extLst xmlns:a="http://schemas.openxmlformats.org/drawingml/2006/main">
              <a:ext uri="{FF2B5EF4-FFF2-40B4-BE49-F238E27FC236}">
                <a16:creationId xmlns:a16="http://schemas.microsoft.com/office/drawing/2014/main" id="{0E6AB521-424E-4CDE-8522-166AF1D0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905250"/>
            <a:ext cx="67818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33333"/>
                </a:solidFill>
              </a:defRPr>
            </a:pPr>
            <a:r>
              <a:rPr sz="1800">
                <a:solidFill>
                  <a:srgbClr val="333333"/>
                </a:solidFill>
              </a:rPr>
              <a:t>The selected policy reached 1.089x on the same 10-trace wider-validation surface, then 1.066x on the 13-trace training-split validation surface.</a:t>
            </a:r>
          </a:p>
        </p:txBody>
      </p:sp>
    </p:spTree>
    <p:extLst>
      <p:ext uri="{BB962C8B-B14F-4D97-AF65-F5344CB8AC3E}">
        <p14:creationId xmlns:p14="http://schemas.microsoft.com/office/powerpoint/2010/main" val="169468849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CB6E32-54E5-471C-BB45-D7C6F4E4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6296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Routing behavior remained interpretable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1609DA1-945F-442B-B47D-4B0AAB37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86296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MoP-V2 still acts like a compact epoch router, with observable action choices and budget behavior.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7D122272-49C4-415B-8DCC-5DC0473D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33400"/>
            <a:ext cx="779145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4" name="action-distributio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d1ced64e0f4b7c"/>
          <a:stretch xmlns:a="http://schemas.openxmlformats.org/drawingml/2006/main"/>
        </p:blipFill>
        <p:spPr>
          <a:xfrm xmlns:a="http://schemas.openxmlformats.org/drawingml/2006/main">
            <a:off x="685800" y="3288697"/>
            <a:ext cx="8621078" cy="5172646"/>
          </a:xfrm>
          <a:prstGeom xmlns:a="http://schemas.openxmlformats.org/drawingml/2006/main" prst="rect">
            <a:avLst/>
          </a:prstGeom>
        </p:spPr>
      </p:pic>
      <p:sp>
        <p:nvSpPr>
          <p:cNvPr id="5" name="figure-caption">
            <a:extLst xmlns:a="http://schemas.openxmlformats.org/drawingml/2006/main">
              <a:ext uri="{FF2B5EF4-FFF2-40B4-BE49-F238E27FC236}">
                <a16:creationId xmlns:a16="http://schemas.microsoft.com/office/drawing/2014/main" id="{7E96E0A0-6DA9-41E1-8720-D02E9EB4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15450"/>
            <a:ext cx="86296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</a:defRPr>
            </a:pPr>
            <a:r>
              <a:rPr sz="1425">
                <a:solidFill>
                  <a:srgbClr val="333333"/>
                </a:solidFill>
              </a:rPr>
              <a:t>Caption: The action distribution keeps the tuned policy interpretable by showing how often the router selects each action across final traces.</a:t>
            </a:r>
          </a:p>
        </p:txBody>
      </p:sp>
      <p:sp>
        <p:nvSpPr>
          <p:cNvPr id="6" name="bullet-0">
            <a:extLst xmlns:a="http://schemas.openxmlformats.org/drawingml/2006/main">
              <a:ext uri="{FF2B5EF4-FFF2-40B4-BE49-F238E27FC236}">
                <a16:creationId xmlns:a16="http://schemas.microsoft.com/office/drawing/2014/main" id="{748DF96E-C56B-4D1C-AB0A-1C9C32D5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33650"/>
            <a:ext cx="77914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The router can choose MLOP, SPP+PPF, both, or the off action at epoch boundaries.</a:t>
            </a:r>
          </a:p>
        </p:txBody>
      </p:sp>
      <p:sp>
        <p:nvSpPr>
          <p:cNvPr id="7" name="bullet-1">
            <a:extLst xmlns:a="http://schemas.openxmlformats.org/drawingml/2006/main">
              <a:ext uri="{FF2B5EF4-FFF2-40B4-BE49-F238E27FC236}">
                <a16:creationId xmlns:a16="http://schemas.microsoft.com/office/drawing/2014/main" id="{4DB6334D-9E40-4968-9FB0-8F963AFB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276600"/>
            <a:ext cx="77914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The selected budget and score weights shape these choices without changing simulator internals.</a:t>
            </a:r>
          </a:p>
        </p:txBody>
      </p:sp>
      <p:sp>
        <p:nvSpPr>
          <p:cNvPr id="8" name="bullet-2">
            <a:extLst xmlns:a="http://schemas.openxmlformats.org/drawingml/2006/main">
              <a:ext uri="{FF2B5EF4-FFF2-40B4-BE49-F238E27FC236}">
                <a16:creationId xmlns:a16="http://schemas.microsoft.com/office/drawing/2014/main" id="{3790681D-DF5A-4051-AACA-B6E6B2C4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19550"/>
            <a:ext cx="77914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This keeps the final method inside a compact, auditable policy surface.</a:t>
            </a:r>
          </a:p>
        </p:txBody>
      </p:sp>
      <p:sp>
        <p:nvSpPr>
          <p:cNvPr id="9" name="logistics-pointer">
            <a:extLst xmlns:a="http://schemas.openxmlformats.org/drawingml/2006/main">
              <a:ext uri="{FF2B5EF4-FFF2-40B4-BE49-F238E27FC236}">
                <a16:creationId xmlns:a16="http://schemas.microsoft.com/office/drawing/2014/main" id="{9BA66C64-0550-441E-93E2-846E850E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7791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The report keeps raw implementation keys in writing_logistics.md so the main story can use public names.</a:t>
            </a:r>
          </a:p>
        </p:txBody>
      </p:sp>
    </p:spTree>
    <p:extLst>
      <p:ext uri="{BB962C8B-B14F-4D97-AF65-F5344CB8AC3E}">
        <p14:creationId xmlns:p14="http://schemas.microsoft.com/office/powerpoint/2010/main" val="37251844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188D23-CC8C-4C7D-AE65-A7678A59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79819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</a:defRPr>
            </a:pPr>
            <a:r>
              <a:rPr sz="3750" b="1">
                <a:solidFill>
                  <a:srgbClr val="000000"/>
                </a:solidFill>
              </a:rPr>
              <a:t>Claim boundary and limitations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FF12D2D-77CB-40EF-8AF7-74D25116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33500"/>
            <a:ext cx="79819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33333"/>
                </a:solidFill>
              </a:defRPr>
            </a:pPr>
            <a:r>
              <a:rPr sz="1725">
                <a:solidFill>
                  <a:srgbClr val="333333"/>
                </a:solidFill>
              </a:rPr>
              <a:t>The final report makes a measured claim: strong training-split validation, small heldout lift, and transparent limits.</a:t>
            </a:r>
          </a:p>
        </p:txBody>
      </p:sp>
      <p:sp>
        <p:nvSpPr>
          <p:cNvPr id="3" name="blank-title-peer">
            <a:extLst xmlns:a="http://schemas.openxmlformats.org/drawingml/2006/main">
              <a:ext uri="{FF2B5EF4-FFF2-40B4-BE49-F238E27FC236}">
                <a16:creationId xmlns:a16="http://schemas.microsoft.com/office/drawing/2014/main" id="{00348D68-63E0-47B7-81D4-B9133991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66750"/>
            <a:ext cx="79819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EDB163B5-2603-4AB6-8FEF-77DD33C6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798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C267F"/>
                </a:solidFill>
              </a:defRPr>
            </a:pPr>
            <a:r>
              <a:rPr sz="1350" b="1">
                <a:solidFill>
                  <a:srgbClr val="DC267F"/>
                </a:solidFill>
              </a:rPr>
              <a:t>CLAIMS</a:t>
            </a:r>
          </a:p>
        </p:txBody>
      </p:sp>
      <p:sp>
        <p:nvSpPr>
          <p:cNvPr id="5" name="bullet-0">
            <a:extLst xmlns:a="http://schemas.openxmlformats.org/drawingml/2006/main">
              <a:ext uri="{FF2B5EF4-FFF2-40B4-BE49-F238E27FC236}">
                <a16:creationId xmlns:a16="http://schemas.microsoft.com/office/drawing/2014/main" id="{2CC89799-7ACB-45A3-A893-CD0FB3F8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MoP-V2 improves over MoP-V1 on the 13-trace training-split validation surface.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3A3C7280-B35A-436E-8BFA-F40D3EC1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MoP-V2 reaches 1.003x over disabled prefetching on seven heldout traces.</a:t>
            </a:r>
          </a:p>
        </p:txBody>
      </p:sp>
      <p:sp>
        <p:nvSpPr>
          <p:cNvPr id="7" name="bullet-2">
            <a:extLst xmlns:a="http://schemas.openxmlformats.org/drawingml/2006/main">
              <a:ext uri="{FF2B5EF4-FFF2-40B4-BE49-F238E27FC236}">
                <a16:creationId xmlns:a16="http://schemas.microsoft.com/office/drawing/2014/main" id="{6938305D-EDA0-4E9A-B4E8-17E8BA2B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Best expert remains a separate reference, with MoP-V2 reaching 97.9% of it on heldout.</a:t>
            </a:r>
          </a:p>
        </p:txBody>
      </p:sp>
      <p:sp>
        <p:nvSpPr>
          <p:cNvPr id="8" name="bullet-3">
            <a:extLst xmlns:a="http://schemas.openxmlformats.org/drawingml/2006/main">
              <a:ext uri="{FF2B5EF4-FFF2-40B4-BE49-F238E27FC236}">
                <a16:creationId xmlns:a16="http://schemas.microsoft.com/office/drawing/2014/main" id="{82467B81-E11A-4E64-B675-49CDD531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81550"/>
            <a:ext cx="7981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Instruction count stays fixed within simulator-rounding error.</a:t>
            </a:r>
          </a:p>
        </p:txBody>
      </p: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7EE08FA9-88E5-4B13-9787-1BA490CB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90750"/>
            <a:ext cx="7981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F6FD1"/>
                </a:solidFill>
              </a:defRPr>
            </a:pPr>
            <a:r>
              <a:rPr sz="1350" b="1">
                <a:solidFill>
                  <a:srgbClr val="3F6FD1"/>
                </a:solidFill>
              </a:rPr>
              <a:t>LIMITS AND REPRODUCTION</a:t>
            </a:r>
          </a:p>
        </p:txBody>
      </p:sp>
      <p:sp>
        <p:nvSpPr>
          <p:cNvPr id="10" name="bullet-0">
            <a:extLst xmlns:a="http://schemas.openxmlformats.org/drawingml/2006/main">
              <a:ext uri="{FF2B5EF4-FFF2-40B4-BE49-F238E27FC236}">
                <a16:creationId xmlns:a16="http://schemas.microsoft.com/office/drawing/2014/main" id="{6E94BA94-4793-44F4-AAB5-6C9C7B21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9080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Seven heldout traces make the heldout result a sanity check with visible per-trace variation.</a:t>
            </a:r>
          </a:p>
        </p:txBody>
      </p:sp>
      <p:sp>
        <p:nvSpPr>
          <p:cNvPr id="11" name="bullet-1">
            <a:extLst xmlns:a="http://schemas.openxmlformats.org/drawingml/2006/main">
              <a:ext uri="{FF2B5EF4-FFF2-40B4-BE49-F238E27FC236}">
                <a16:creationId xmlns:a16="http://schemas.microsoft.com/office/drawing/2014/main" id="{98447218-0488-4C72-82CC-565E4C95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337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secret_compute_fp_105 remains the largest heldout loss relative to best expert.</a:t>
            </a:r>
          </a:p>
        </p:txBody>
      </p:sp>
      <p:sp>
        <p:nvSpPr>
          <p:cNvPr id="12" name="bullet-2">
            <a:extLst xmlns:a="http://schemas.openxmlformats.org/drawingml/2006/main">
              <a:ext uri="{FF2B5EF4-FFF2-40B4-BE49-F238E27FC236}">
                <a16:creationId xmlns:a16="http://schemas.microsoft.com/office/drawing/2014/main" id="{FD32A2E0-DA0C-4AB1-B233-2A35C93F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576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Malformed or out-of-contract OpenEvolve candidates stay in the ledger with failure scores.</a:t>
            </a:r>
          </a:p>
        </p:txBody>
      </p:sp>
      <p:sp>
        <p:nvSpPr>
          <p:cNvPr id="13" name="bullet-3">
            <a:extLst xmlns:a="http://schemas.openxmlformats.org/drawingml/2006/main">
              <a:ext uri="{FF2B5EF4-FFF2-40B4-BE49-F238E27FC236}">
                <a16:creationId xmlns:a16="http://schemas.microsoft.com/office/drawing/2014/main" id="{B31A7643-C5F1-4685-9196-51A2F3504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781550"/>
            <a:ext cx="7981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Reproduction paths, naming map, and generated-file list live in report/writing_logistics.md.</a:t>
            </a:r>
          </a:p>
        </p:txBody>
      </p:sp>
    </p:spTree>
    <p:extLst>
      <p:ext uri="{BB962C8B-B14F-4D97-AF65-F5344CB8AC3E}">
        <p14:creationId xmlns:p14="http://schemas.microsoft.com/office/powerpoint/2010/main" val="12486787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2026-04-30T16:05:58.8350000Z</dcterms:created>
  <dcterms:modified xsi:type="dcterms:W3CDTF">2026-04-30T16:05:58.8350000Z</dcterms:modified>
</coreProperties>
</file>