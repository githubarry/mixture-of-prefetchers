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4235f179e412c" /><Relationship Type="http://schemas.openxmlformats.org/officeDocument/2006/relationships/extended-properties" Target="/docProps/app.xml" Id="R3bcf15befcbc4e79" /><Relationship Type="http://schemas.openxmlformats.org/officeDocument/2006/relationships/officeDocument" Target="/ppt/presentation.xml" Id="Rdd4966eaad3a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019af433b04efd"/>
  </p:sldMasterIdLst>
  <p:notesMasterIdLst>
    <p:notesMasterId xmlns:r="http://schemas.openxmlformats.org/officeDocument/2006/relationships" r:id="R6d936477a8a74063"/>
  </p:notesMasterIdLst>
  <p:sldIdLst>
    <p:sldId xmlns:r="http://schemas.openxmlformats.org/officeDocument/2006/relationships" id="256" r:id="Rb74c2666575d4261"/>
    <p:sldId xmlns:r="http://schemas.openxmlformats.org/officeDocument/2006/relationships" id="257" r:id="R0d672db6e9b24a0a"/>
    <p:sldId xmlns:r="http://schemas.openxmlformats.org/officeDocument/2006/relationships" id="258" r:id="R36a08f214930491f"/>
    <p:sldId xmlns:r="http://schemas.openxmlformats.org/officeDocument/2006/relationships" id="259" r:id="R1f32f15770c4489f"/>
    <p:sldId xmlns:r="http://schemas.openxmlformats.org/officeDocument/2006/relationships" id="260" r:id="R71e984da5e4d44b1"/>
    <p:sldId xmlns:r="http://schemas.openxmlformats.org/officeDocument/2006/relationships" id="261" r:id="R7fce0d0ad4424518"/>
    <p:sldId xmlns:r="http://schemas.openxmlformats.org/officeDocument/2006/relationships" id="262" r:id="R0b5bbd31bb5946e6"/>
    <p:sldId xmlns:r="http://schemas.openxmlformats.org/officeDocument/2006/relationships" id="263" r:id="R4612e2c51b2f453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19af433b04efd" /><Relationship Type="http://schemas.openxmlformats.org/officeDocument/2006/relationships/theme" Target="/ppt/theme/theme1.xml" Id="Rf74c4a12b53e4bfd" /><Relationship Type="http://schemas.openxmlformats.org/officeDocument/2006/relationships/notesMaster" Target="/ppt/notesMasters/notesMaster1.xml" Id="R6d936477a8a74063" /><Relationship Type="http://schemas.openxmlformats.org/officeDocument/2006/relationships/presProps" Target="/ppt/presProps.xml" Id="R862e9e623ab44df4" /><Relationship Type="http://schemas.openxmlformats.org/officeDocument/2006/relationships/viewProps" Target="/ppt/viewProps.xml" Id="Raa4ac1554c9b4844" /><Relationship Type="http://schemas.openxmlformats.org/officeDocument/2006/relationships/tableStyles" Target="/ppt/tableStyles.xml" Id="R47a4434ef6fe4291" /><Relationship Type="http://schemas.openxmlformats.org/officeDocument/2006/relationships/slide" Target="/ppt/slides/slide1.xml" Id="Rb74c2666575d4261" /><Relationship Type="http://schemas.openxmlformats.org/officeDocument/2006/relationships/slide" Target="/ppt/slides/slide2.xml" Id="R0d672db6e9b24a0a" /><Relationship Type="http://schemas.openxmlformats.org/officeDocument/2006/relationships/slide" Target="/ppt/slides/slide3.xml" Id="R36a08f214930491f" /><Relationship Type="http://schemas.openxmlformats.org/officeDocument/2006/relationships/slide" Target="/ppt/slides/slide4.xml" Id="R1f32f15770c4489f" /><Relationship Type="http://schemas.openxmlformats.org/officeDocument/2006/relationships/slide" Target="/ppt/slides/slide5.xml" Id="R71e984da5e4d44b1" /><Relationship Type="http://schemas.openxmlformats.org/officeDocument/2006/relationships/slide" Target="/ppt/slides/slide6.xml" Id="R7fce0d0ad4424518" /><Relationship Type="http://schemas.openxmlformats.org/officeDocument/2006/relationships/slide" Target="/ppt/slides/slide7.xml" Id="R0b5bbd31bb5946e6" /><Relationship Type="http://schemas.openxmlformats.org/officeDocument/2006/relationships/slide" Target="/ppt/slides/slide8.xml" Id="R4612e2c51b2f45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7c65ab642e14f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af0144c3e341fe" /><Relationship Type="http://schemas.openxmlformats.org/officeDocument/2006/relationships/notesMaster" Target="/ppt/notesMasters/notesMaster1.xml" Id="R5ad78a46ca874d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8eb85691e84671" /><Relationship Type="http://schemas.openxmlformats.org/officeDocument/2006/relationships/notesMaster" Target="/ppt/notesMasters/notesMaster1.xml" Id="Ree70e089b39e45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901386fc3044ce" /><Relationship Type="http://schemas.openxmlformats.org/officeDocument/2006/relationships/notesMaster" Target="/ppt/notesMasters/notesMaster1.xml" Id="Rb0c763c94eae4d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4ba7088d254644" /><Relationship Type="http://schemas.openxmlformats.org/officeDocument/2006/relationships/notesMaster" Target="/ppt/notesMasters/notesMaster1.xml" Id="R1696870df55445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2dd82099704850" /><Relationship Type="http://schemas.openxmlformats.org/officeDocument/2006/relationships/notesMaster" Target="/ppt/notesMasters/notesMaster1.xml" Id="Rb148e3f554d746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b1127242b3437f" /><Relationship Type="http://schemas.openxmlformats.org/officeDocument/2006/relationships/notesMaster" Target="/ppt/notesMasters/notesMaster1.xml" Id="R9ccee2b01b984d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ce1080c08543ec" /><Relationship Type="http://schemas.openxmlformats.org/officeDocument/2006/relationships/notesMaster" Target="/ppt/notesMasters/notesMaster1.xml" Id="R06d0708bc30144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c1d6a9ba5a4568" /><Relationship Type="http://schemas.openxmlformats.org/officeDocument/2006/relationships/notesMaster" Target="/ppt/notesMasters/notesMaster1.xml" Id="R8deb5cc2d2d64b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992e6563c48b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fa27055971446c7" /><Relationship Type="http://schemas.openxmlformats.org/officeDocument/2006/relationships/slideLayout" Target="/ppt/slideLayouts/slideLayout2.xml" Id="Raea05c48b4e9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a05c48b4e9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85b05c8d1a411f" /><Relationship Type="http://schemas.openxmlformats.org/officeDocument/2006/relationships/notesSlide" Target="/ppt/notesSlides/notesSlide1.xml" Id="R7f66d5489f8e41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db2529bff244ea" /><Relationship Type="http://schemas.openxmlformats.org/officeDocument/2006/relationships/notesSlide" Target="/ppt/notesSlides/notesSlide2.xml" Id="R6380cfd0d41944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c66687a3ab4c7c" /><Relationship Type="http://schemas.openxmlformats.org/officeDocument/2006/relationships/notesSlide" Target="/ppt/notesSlides/notesSlide3.xml" Id="R1547c2c4461d49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ba41fcc454816" /><Relationship Type="http://schemas.openxmlformats.org/officeDocument/2006/relationships/image" Target="/ppt/media/image.png" Id="Rb3e3ff7ec0fe4cf0" /><Relationship Type="http://schemas.openxmlformats.org/officeDocument/2006/relationships/notesSlide" Target="/ppt/notesSlides/notesSlide4.xml" Id="Ra6d61dd79e6048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a8eb4d24764507" /><Relationship Type="http://schemas.openxmlformats.org/officeDocument/2006/relationships/image" Target="/ppt/media/image2.png" Id="R5e8f6bdca19c416b" /><Relationship Type="http://schemas.openxmlformats.org/officeDocument/2006/relationships/notesSlide" Target="/ppt/notesSlides/notesSlide5.xml" Id="Rbf5158ea302f44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42470907eb4b41" /><Relationship Type="http://schemas.openxmlformats.org/officeDocument/2006/relationships/image" Target="/ppt/media/image3.png" Id="Rf59bf4a53a634669" /><Relationship Type="http://schemas.openxmlformats.org/officeDocument/2006/relationships/notesSlide" Target="/ppt/notesSlides/notesSlide6.xml" Id="R778bc4deb72940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e5ae9f1ac84506" /><Relationship Type="http://schemas.openxmlformats.org/officeDocument/2006/relationships/notesSlide" Target="/ppt/notesSlides/notesSlide7.xml" Id="R3e495ae9a54847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56e015fb6c4c56" /><Relationship Type="http://schemas.openxmlformats.org/officeDocument/2006/relationships/notesSlide" Target="/ppt/notesSlides/notesSlide8.xml" Id="Ra38198d027e44b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3F70BA-69A3-48E4-9DC3-B218FC15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163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Mixture-of-Prefetchers</a:t>
            </a:r>
          </a:p>
        </p:txBody>
      </p:sp>
      <p:sp>
        <p:nvSpPr>
          <p:cNvPr id="2" name="cover-rule">
            <a:extLst xmlns:a="http://schemas.openxmlformats.org/drawingml/2006/main">
              <a:ext uri="{FF2B5EF4-FFF2-40B4-BE49-F238E27FC236}">
                <a16:creationId xmlns:a16="http://schemas.microsoft.com/office/drawing/2014/main" id="{F1D64169-877F-4E30-BB04-EDE9B86B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7F"/>
          </a:solidFill>
          <a:ln xmlns:a="http://schemas.openxmlformats.org/drawingml/2006/main" w="0">
            <a:solidFill>
              <a:srgbClr val="DC267F"/>
            </a:solidFill>
            <a:prstDash val="solid"/>
          </a:ln>
        </p:spPr>
      </p:sp>
      <p:sp>
        <p:nvSpPr>
          <p:cNvPr id="3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B3424CBF-8046-4E04-BB2A-2B9A7BD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91630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00000"/>
                </a:solidFill>
              </a:defRPr>
            </a:pPr>
            <a:r>
              <a:rPr sz="2550">
                <a:solidFill>
                  <a:srgbClr val="000000"/>
                </a:solidFill>
              </a:rPr>
              <a:t>A small L2-cache router that improves IPC over disabled prefetching and tracks an oracle best-prefetcher cap</a:t>
            </a:r>
          </a:p>
        </p:txBody>
      </p:sp>
      <p:sp>
        <p:nvSpPr>
          <p:cNvPr id="4" name="cover-metric-1">
            <a:extLst xmlns:a="http://schemas.openxmlformats.org/drawingml/2006/main">
              <a:ext uri="{FF2B5EF4-FFF2-40B4-BE49-F238E27FC236}">
                <a16:creationId xmlns:a16="http://schemas.microsoft.com/office/drawing/2014/main" id="{28A270F6-9797-4440-AADB-C9EBB32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800100"/>
            <a:ext cx="6762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DC267F"/>
                </a:solidFill>
              </a:defRPr>
            </a:pPr>
            <a:r>
              <a:rPr sz="5850" b="1">
                <a:solidFill>
                  <a:srgbClr val="DC267F"/>
                </a:solidFill>
              </a:rPr>
              <a:t>1.0662x</a:t>
            </a:r>
          </a:p>
        </p:txBody>
      </p:sp>
      <p:sp>
        <p:nvSpPr>
          <p:cNvPr id="5" name="cover-label-1">
            <a:extLst xmlns:a="http://schemas.openxmlformats.org/drawingml/2006/main">
              <a:ext uri="{FF2B5EF4-FFF2-40B4-BE49-F238E27FC236}">
                <a16:creationId xmlns:a16="http://schemas.microsoft.com/office/drawing/2014/main" id="{F47744C3-0AF6-40D7-9366-0874FEB8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38350"/>
            <a:ext cx="676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13-trace training validation vs disabled prefetching</a:t>
            </a:r>
          </a:p>
        </p:txBody>
      </p:sp>
      <p:sp>
        <p:nvSpPr>
          <p:cNvPr id="6" name="cover-metric-2">
            <a:extLst xmlns:a="http://schemas.openxmlformats.org/drawingml/2006/main">
              <a:ext uri="{FF2B5EF4-FFF2-40B4-BE49-F238E27FC236}">
                <a16:creationId xmlns:a16="http://schemas.microsoft.com/office/drawing/2014/main" id="{9C728EE8-8E8D-4B62-901B-A4568E41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67000"/>
            <a:ext cx="6762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648FFF"/>
                </a:solidFill>
              </a:defRPr>
            </a:pPr>
            <a:r>
              <a:rPr sz="5850" b="1">
                <a:solidFill>
                  <a:srgbClr val="648FFF"/>
                </a:solidFill>
              </a:rPr>
              <a:t>1.0033x</a:t>
            </a:r>
          </a:p>
        </p:txBody>
      </p:sp>
      <p:sp>
        <p:nvSpPr>
          <p:cNvPr id="7" name="cover-label-2">
            <a:extLst xmlns:a="http://schemas.openxmlformats.org/drawingml/2006/main">
              <a:ext uri="{FF2B5EF4-FFF2-40B4-BE49-F238E27FC236}">
                <a16:creationId xmlns:a16="http://schemas.microsoft.com/office/drawing/2014/main" id="{704F9724-61DA-4580-BD2E-2486044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05250"/>
            <a:ext cx="676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7-trace heldout vs disabled prefetching</a:t>
            </a:r>
          </a:p>
        </p:txBody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74547B2-DCB2-4B3B-AF31-89D6282A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43900"/>
            <a:ext cx="16459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CMU 15-740 class project, OpenEvolve training-validation report</a:t>
            </a:r>
          </a:p>
        </p:txBody>
      </p:sp>
    </p:spTree>
    <p:extLst>
      <p:ext uri="{BB962C8B-B14F-4D97-AF65-F5344CB8AC3E}">
        <p14:creationId xmlns:p14="http://schemas.microsoft.com/office/powerpoint/2010/main" val="11043817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61C991-FF9E-4CAE-B8D3-709D3B6B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What we added to Athena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D4A1EA-38C6-46F4-917B-DE6DFE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Athena is the simulator substrate. Our work is the router, sandboxed search, ledgers, and report pipeline.</a:t>
            </a:r>
          </a:p>
        </p:txBody>
      </p:sp>
      <p:sp>
        <p:nvSpPr>
          <p:cNvPr id="3" name="bullet-0">
            <a:extLst xmlns:a="http://schemas.openxmlformats.org/drawingml/2006/main">
              <a:ext uri="{FF2B5EF4-FFF2-40B4-BE49-F238E27FC236}">
                <a16:creationId xmlns:a16="http://schemas.microsoft.com/office/drawing/2014/main" id="{690A56A9-9C7A-4371-BA54-B21DF7F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Athena substrate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E4E5A085-F112-4C48-BF81-08740514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ChampSim-derived simulator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722EF609-F1A0-4F11-9E47-374C68AA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Existing L2C prefetchers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0AB18D15-C05B-43F3-9D5C-AFB98D20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AthenaMAB comparator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CF4E15CC-079A-4995-8E36-7AA9D30A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Our router layer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2CBC30CF-8310-44E8-B530-48F3C2E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MoP-V1.2 manual router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1ED5938D-A8E6-458C-8F87-AE923436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MoP-V1.3 sticky router</a:t>
            </a:r>
          </a:p>
        </p:txBody>
      </p:sp>
      <p:sp>
        <p:nvSpPr>
          <p:cNvPr id="10" name="bullet-3">
            <a:extLst xmlns:a="http://schemas.openxmlformats.org/drawingml/2006/main">
              <a:ext uri="{FF2B5EF4-FFF2-40B4-BE49-F238E27FC236}">
                <a16:creationId xmlns:a16="http://schemas.microsoft.com/office/drawing/2014/main" id="{8046B547-3D99-4980-9F81-88DC9EB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18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Epoch counters and budget controls</a:t>
            </a:r>
          </a:p>
        </p:txBody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9A1C7D8A-252E-465D-8958-51F2E011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0002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Our evidence layer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F7F3D0D7-7A6A-4130-97CC-453357C6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4574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17 train traces, 7 heldout traces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D93869D6-E4AB-4BAF-A65C-9FBC539D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9146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OpenEvolve candidate ledger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3425DC19-70DB-49D6-8A2A-35ACA910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3718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Generated tables and figures</a:t>
            </a:r>
          </a:p>
        </p:txBody>
      </p:sp>
    </p:spTree>
    <p:extLst>
      <p:ext uri="{BB962C8B-B14F-4D97-AF65-F5344CB8AC3E}">
        <p14:creationId xmlns:p14="http://schemas.microsoft.com/office/powerpoint/2010/main" val="20455838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05CFDF-1FC7-425C-938A-955C9412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Protocol: disabled prefetching is 1x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42F3EC-0662-4850-91E9-ED876BDC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7F"/>
          </a:solidFill>
          <a:ln xmlns:a="http://schemas.openxmlformats.org/drawingml/2006/main" w="0">
            <a:solidFill>
              <a:srgbClr val="DC267F"/>
            </a:solidFill>
            <a:prstDash val="solid"/>
          </a:ln>
        </p:spPr>
      </p:sp>
      <p:sp>
        <p:nvSpPr>
          <p:cNvPr id="3" name="bullet-0">
            <a:extLst xmlns:a="http://schemas.openxmlformats.org/drawingml/2006/main">
              <a:ext uri="{FF2B5EF4-FFF2-40B4-BE49-F238E27FC236}">
                <a16:creationId xmlns:a16="http://schemas.microsoft.com/office/drawing/2014/main" id="{BC69E0DA-078E-4D99-8D45-3CF9F438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7200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Expert pair: MLOP + SPP+PPF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002E7275-6F6E-49CC-9F3D-5EB43AB7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7200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Cache level: L2C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F7229593-CAE6-4DC5-AFFC-D4E097BD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7200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Search: 10 training traces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EFF88650-7CD6-4F51-A706-3768507A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7200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Training validation: 13 traces</a:t>
            </a:r>
          </a:p>
        </p:txBody>
      </p:sp>
      <p:sp>
        <p:nvSpPr>
          <p:cNvPr id="7" name="bullet-4">
            <a:extLst xmlns:a="http://schemas.openxmlformats.org/drawingml/2006/main">
              <a:ext uri="{FF2B5EF4-FFF2-40B4-BE49-F238E27FC236}">
                <a16:creationId xmlns:a16="http://schemas.microsoft.com/office/drawing/2014/main" id="{1859336B-06CF-47C9-A121-52992E0F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7200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Heldout: 7 traces after policy selection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01D40BB8-3E6C-4DBF-B8FA-ABFCD02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71650"/>
            <a:ext cx="8801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Performance baseline: disabled prefetching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6398165E-77AF-4938-A0B8-A9EE26C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8801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Oracle cap: max(MLOP, SPP+PPF) per trace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BB26571-F24C-4EA1-8CE8-D75ACA60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8801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Minimum check: beat the worse prefetcher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F8FDF17B-CE5A-4644-8594-C74B52C6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8801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Simple routers: WinnerTakeAll, OneShotFit, AthenaMAB</a:t>
            </a:r>
          </a:p>
        </p:txBody>
      </p:sp>
      <p:sp>
        <p:nvSpPr>
          <p:cNvPr id="12" name="protocol-footer">
            <a:extLst xmlns:a="http://schemas.openxmlformats.org/drawingml/2006/main">
              <a:ext uri="{FF2B5EF4-FFF2-40B4-BE49-F238E27FC236}">
                <a16:creationId xmlns:a16="http://schemas.microsoft.com/office/drawing/2014/main" id="{5E05F74C-FEAD-4C52-9F69-26726F81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7260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Quick evaluation used 3 training traces. Wider validation used 10 training traces. Heldout runs after policy selection.</a:t>
            </a:r>
          </a:p>
        </p:txBody>
      </p:sp>
    </p:spTree>
    <p:extLst>
      <p:ext uri="{BB962C8B-B14F-4D97-AF65-F5344CB8AC3E}">
        <p14:creationId xmlns:p14="http://schemas.microsoft.com/office/powerpoint/2010/main" val="4349294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F5598-BF5E-4E5B-BC93-5C158C26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6954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OpenEvolve improved the router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6A1024-A6F8-4094-B3D7-BED3AB83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695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Bars use disabled prefetching as 1x. Black caps show the per-trace oracle best prefetcher.</a:t>
            </a:r>
          </a:p>
        </p:txBody>
      </p:sp>
      <p:pic>
        <p:nvPicPr>
          <p:cNvPr id="3" name="pre-post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3ff7ec0fe4cf0"/>
          <a:stretch xmlns:a="http://schemas.openxmlformats.org/drawingml/2006/main"/>
        </p:blipFill>
        <p:spPr>
          <a:xfrm xmlns:a="http://schemas.openxmlformats.org/drawingml/2006/main">
            <a:off x="765969" y="1710690"/>
            <a:ext cx="16756063" cy="80429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388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525116-0EB7-47EB-8D30-F0CC4D14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6954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Heldout shows a modest geomean lift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487093B-9423-42D9-AC99-8F4B9C8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695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Each trace uses disabled prefetching as 1x, with the oracle cap marked separately.</a:t>
            </a:r>
          </a:p>
        </p:txBody>
      </p:sp>
      <p:pic>
        <p:nvPicPr>
          <p:cNvPr id="3" name="heldout-profi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f6bdca19c416b"/>
          <a:stretch xmlns:a="http://schemas.openxmlformats.org/drawingml/2006/main"/>
        </p:blipFill>
        <p:spPr>
          <a:xfrm xmlns:a="http://schemas.openxmlformats.org/drawingml/2006/main">
            <a:off x="1023754" y="1710690"/>
            <a:ext cx="16240491" cy="80429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746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214986-D9E4-4EA0-9632-9F422B21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6954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OpenEvolve search trajectory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D6594B-389F-4B1E-B17A-B07873FC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695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Faint points are valid generated candidates. Lines show best-so-far by weighted score.</a:t>
            </a:r>
          </a:p>
        </p:txBody>
      </p:sp>
      <p:pic>
        <p:nvPicPr>
          <p:cNvPr id="3" name="scale-mode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bf4a53a634669"/>
          <a:stretch xmlns:a="http://schemas.openxmlformats.org/drawingml/2006/main"/>
        </p:blipFill>
        <p:spPr>
          <a:xfrm xmlns:a="http://schemas.openxmlformats.org/drawingml/2006/main">
            <a:off x="666750" y="2277195"/>
            <a:ext cx="16954500" cy="69099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37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3C2E3C-1C90-4764-88B0-5CCD504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The evaluator made search auditable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4FB2E2-A48D-405B-B2B7-D1844D10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Candidate programs changed a literal policy dictionary.</a:t>
            </a:r>
          </a:p>
        </p:txBody>
      </p:sp>
      <p:sp>
        <p:nvSpPr>
          <p:cNvPr id="3" name="bullet-0">
            <a:extLst xmlns:a="http://schemas.openxmlformats.org/drawingml/2006/main">
              <a:ext uri="{FF2B5EF4-FFF2-40B4-BE49-F238E27FC236}">
                <a16:creationId xmlns:a16="http://schemas.microsoft.com/office/drawing/2014/main" id="{DF56953A-0BBE-484A-8CBE-188E85E7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Allowed outputs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B19A5BBC-E264-4823-8848-F1ACE25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Router choice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96FA1477-47B0-4E1E-8B54-BDFD1E7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Budget split knobs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59D4CED5-2218-4964-AD26-F5457926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Sticky margin</a:t>
            </a:r>
          </a:p>
        </p:txBody>
      </p:sp>
      <p:sp>
        <p:nvSpPr>
          <p:cNvPr id="7" name="bullet-4">
            <a:extLst xmlns:a="http://schemas.openxmlformats.org/drawingml/2006/main">
              <a:ext uri="{FF2B5EF4-FFF2-40B4-BE49-F238E27FC236}">
                <a16:creationId xmlns:a16="http://schemas.microsoft.com/office/drawing/2014/main" id="{4A9D07BF-FC84-4416-9B87-04F82C0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Score weights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F28B9DA-85B0-4247-A0EC-C4BDAE44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Recorded failures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65A09F95-931F-4014-9DEE-F46C9679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Simulator failures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81928B6-E080-410F-8874-9F28A87C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Unknown policy keys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B8C4D755-3C14-450F-B4AC-98322BC2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Helper/import code</a:t>
            </a:r>
          </a:p>
        </p:txBody>
      </p:sp>
      <p:sp>
        <p:nvSpPr>
          <p:cNvPr id="12" name="bullet-4">
            <a:extLst xmlns:a="http://schemas.openxmlformats.org/drawingml/2006/main">
              <a:ext uri="{FF2B5EF4-FFF2-40B4-BE49-F238E27FC236}">
                <a16:creationId xmlns:a16="http://schemas.microsoft.com/office/drawing/2014/main" id="{FFC7CD12-8F3F-4B56-81D8-FD5026C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24300"/>
            <a:ext cx="798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Missing evolve markers</a:t>
            </a:r>
          </a:p>
        </p:txBody>
      </p:sp>
      <p:sp>
        <p:nvSpPr>
          <p:cNvPr id="13" name="audit-footer">
            <a:extLst xmlns:a="http://schemas.openxmlformats.org/drawingml/2006/main">
              <a:ext uri="{FF2B5EF4-FFF2-40B4-BE49-F238E27FC236}">
                <a16:creationId xmlns:a16="http://schemas.microsoft.com/office/drawing/2014/main" id="{EDF40885-3530-45B3-8528-367CFA7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7260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Ledger: 290 candidates, 225 valid scored rows, 65 fail-closed rows. Malformed or crashed candidates receive combined_score = -10.0.</a:t>
            </a:r>
          </a:p>
        </p:txBody>
      </p:sp>
    </p:spTree>
    <p:extLst>
      <p:ext uri="{BB962C8B-B14F-4D97-AF65-F5344CB8AC3E}">
        <p14:creationId xmlns:p14="http://schemas.microsoft.com/office/powerpoint/2010/main" val="19741243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259C1E-A69E-4274-A302-5F2B359F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Defensible claims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E04370D-F7D2-40C2-80B1-B99CFA7E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7F"/>
          </a:solidFill>
          <a:ln xmlns:a="http://schemas.openxmlformats.org/drawingml/2006/main" w="0">
            <a:solidFill>
              <a:srgbClr val="DC267F"/>
            </a:solidFill>
            <a:prstDash val="solid"/>
          </a:ln>
        </p:spPr>
      </p:sp>
      <p:sp>
        <p:nvSpPr>
          <p:cNvPr id="3" name="bullet-0">
            <a:extLst xmlns:a="http://schemas.openxmlformats.org/drawingml/2006/main">
              <a:ext uri="{FF2B5EF4-FFF2-40B4-BE49-F238E27FC236}">
                <a16:creationId xmlns:a16="http://schemas.microsoft.com/office/drawing/2014/main" id="{E711528A-4243-4C4B-A49F-D469115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653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</a:defRPr>
            </a:pPr>
            <a:r>
              <a:rPr sz="2325">
                <a:solidFill>
                  <a:srgbClr val="000000"/>
                </a:solidFill>
              </a:rPr>
              <a:t>Primary claim: OpenEvolve improves IPC speedup over disabled prefetching on 13 training-validation traces.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82979D49-91FF-4385-8686-F4297385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653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</a:defRPr>
            </a:pPr>
            <a:r>
              <a:rPr sz="2325">
                <a:solidFill>
                  <a:srgbClr val="000000"/>
                </a:solidFill>
              </a:rPr>
              <a:t>Heldout claim: the selected router reaches 1.0033x over disabled prefetching on seven heldout traces.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3AB83AD8-3429-42E2-9F13-93ADD860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653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</a:defRPr>
            </a:pPr>
            <a:r>
              <a:rPr sz="2325">
                <a:solidFill>
                  <a:srgbClr val="000000"/>
                </a:solidFill>
              </a:rPr>
              <a:t>Instruction-count ratios stay at 0.999999462x on training validation and 1.000000009x on heldout.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A87EE8C4-75C4-4B08-8A06-2F23EC99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653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</a:defRPr>
            </a:pPr>
            <a:r>
              <a:rPr sz="2325">
                <a:solidFill>
                  <a:srgbClr val="000000"/>
                </a:solidFill>
              </a:rPr>
              <a:t>The oracle best prefetcher remains a cap, which keeps the claim sized correctly.</a:t>
            </a:r>
          </a:p>
        </p:txBody>
      </p:sp>
      <p:sp>
        <p:nvSpPr>
          <p:cNvPr id="7" name="bullet-4">
            <a:extLst xmlns:a="http://schemas.openxmlformats.org/drawingml/2006/main">
              <a:ext uri="{FF2B5EF4-FFF2-40B4-BE49-F238E27FC236}">
                <a16:creationId xmlns:a16="http://schemas.microsoft.com/office/drawing/2014/main" id="{1A6DDB2C-9BD3-4DE5-BBD4-3C12862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653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</a:defRPr>
            </a:pPr>
            <a:r>
              <a:rPr sz="2325">
                <a:solidFill>
                  <a:srgbClr val="000000"/>
                </a:solidFill>
              </a:rPr>
              <a:t>Reproduction paths and naming details live in report/writing_logistics.md.</a:t>
            </a:r>
          </a:p>
        </p:txBody>
      </p:sp>
    </p:spTree>
    <p:extLst>
      <p:ext uri="{BB962C8B-B14F-4D97-AF65-F5344CB8AC3E}">
        <p14:creationId xmlns:p14="http://schemas.microsoft.com/office/powerpoint/2010/main" val="1057278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2026-04-30T02:33:33.9910000Z</dcterms:created>
  <dcterms:modified xsi:type="dcterms:W3CDTF">2026-04-30T02:33:33.9910000Z</dcterms:modified>
</coreProperties>
</file>