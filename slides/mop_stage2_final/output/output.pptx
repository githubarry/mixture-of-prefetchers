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a81fd271cd4fad" /><Relationship Type="http://schemas.openxmlformats.org/officeDocument/2006/relationships/extended-properties" Target="/docProps/app.xml" Id="R713892bdec3249e0" /><Relationship Type="http://schemas.openxmlformats.org/officeDocument/2006/relationships/officeDocument" Target="/ppt/presentation.xml" Id="R04f04c22a12046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2f6eba7b6345ca"/>
  </p:sldMasterIdLst>
  <p:notesMasterIdLst>
    <p:notesMasterId xmlns:r="http://schemas.openxmlformats.org/officeDocument/2006/relationships" r:id="R713defd4d9674820"/>
  </p:notesMasterIdLst>
  <p:sldIdLst>
    <p:sldId xmlns:r="http://schemas.openxmlformats.org/officeDocument/2006/relationships" id="256" r:id="Re2c2cf0590f243a3"/>
    <p:sldId xmlns:r="http://schemas.openxmlformats.org/officeDocument/2006/relationships" id="257" r:id="R4d09e51652274e15"/>
    <p:sldId xmlns:r="http://schemas.openxmlformats.org/officeDocument/2006/relationships" id="258" r:id="Rc46f340ba98d46d3"/>
    <p:sldId xmlns:r="http://schemas.openxmlformats.org/officeDocument/2006/relationships" id="259" r:id="R1ce298ff4969419c"/>
    <p:sldId xmlns:r="http://schemas.openxmlformats.org/officeDocument/2006/relationships" id="260" r:id="R0a435af342be41ba"/>
    <p:sldId xmlns:r="http://schemas.openxmlformats.org/officeDocument/2006/relationships" id="261" r:id="Rdf9db31642da4df2"/>
    <p:sldId xmlns:r="http://schemas.openxmlformats.org/officeDocument/2006/relationships" id="262" r:id="R498e68cbe5e54a2b"/>
    <p:sldId xmlns:r="http://schemas.openxmlformats.org/officeDocument/2006/relationships" id="263" r:id="Rc8f0a1550bec4922"/>
    <p:sldId xmlns:r="http://schemas.openxmlformats.org/officeDocument/2006/relationships" id="264" r:id="Rd3ed013d81c0439b"/>
    <p:sldId xmlns:r="http://schemas.openxmlformats.org/officeDocument/2006/relationships" id="265" r:id="R53243ce31459436b"/>
    <p:sldId xmlns:r="http://schemas.openxmlformats.org/officeDocument/2006/relationships" id="266" r:id="Rce30196c86a94998"/>
    <p:sldId xmlns:r="http://schemas.openxmlformats.org/officeDocument/2006/relationships" id="267" r:id="Rb61f57a7dbce4eaf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2f6eba7b6345ca" /><Relationship Type="http://schemas.openxmlformats.org/officeDocument/2006/relationships/theme" Target="/ppt/theme/theme1.xml" Id="Refe5179ab586434e" /><Relationship Type="http://schemas.openxmlformats.org/officeDocument/2006/relationships/notesMaster" Target="/ppt/notesMasters/notesMaster1.xml" Id="R713defd4d9674820" /><Relationship Type="http://schemas.openxmlformats.org/officeDocument/2006/relationships/presProps" Target="/ppt/presProps.xml" Id="R9cf62d41229f4d1b" /><Relationship Type="http://schemas.openxmlformats.org/officeDocument/2006/relationships/viewProps" Target="/ppt/viewProps.xml" Id="R0fa1a2e0e7f44b1d" /><Relationship Type="http://schemas.openxmlformats.org/officeDocument/2006/relationships/tableStyles" Target="/ppt/tableStyles.xml" Id="R61d972baef2041f6" /><Relationship Type="http://schemas.openxmlformats.org/officeDocument/2006/relationships/slide" Target="/ppt/slides/slide1.xml" Id="Re2c2cf0590f243a3" /><Relationship Type="http://schemas.openxmlformats.org/officeDocument/2006/relationships/slide" Target="/ppt/slides/slide2.xml" Id="R4d09e51652274e15" /><Relationship Type="http://schemas.openxmlformats.org/officeDocument/2006/relationships/slide" Target="/ppt/slides/slide3.xml" Id="Rc46f340ba98d46d3" /><Relationship Type="http://schemas.openxmlformats.org/officeDocument/2006/relationships/slide" Target="/ppt/slides/slide4.xml" Id="R1ce298ff4969419c" /><Relationship Type="http://schemas.openxmlformats.org/officeDocument/2006/relationships/slide" Target="/ppt/slides/slide5.xml" Id="R0a435af342be41ba" /><Relationship Type="http://schemas.openxmlformats.org/officeDocument/2006/relationships/slide" Target="/ppt/slides/slide6.xml" Id="Rdf9db31642da4df2" /><Relationship Type="http://schemas.openxmlformats.org/officeDocument/2006/relationships/slide" Target="/ppt/slides/slide7.xml" Id="R498e68cbe5e54a2b" /><Relationship Type="http://schemas.openxmlformats.org/officeDocument/2006/relationships/slide" Target="/ppt/slides/slide8.xml" Id="Rc8f0a1550bec4922" /><Relationship Type="http://schemas.openxmlformats.org/officeDocument/2006/relationships/slide" Target="/ppt/slides/slide9.xml" Id="Rd3ed013d81c0439b" /><Relationship Type="http://schemas.openxmlformats.org/officeDocument/2006/relationships/slide" Target="/ppt/slides/slide10.xml" Id="R53243ce31459436b" /><Relationship Type="http://schemas.openxmlformats.org/officeDocument/2006/relationships/slide" Target="/ppt/slides/slide11.xml" Id="Rce30196c86a94998" /><Relationship Type="http://schemas.openxmlformats.org/officeDocument/2006/relationships/slide" Target="/ppt/slides/slide12.xml" Id="Rb61f57a7dbce4e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fd83faaeb5141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a4620e74674656" /><Relationship Type="http://schemas.openxmlformats.org/officeDocument/2006/relationships/notesMaster" Target="/ppt/notesMasters/notesMaster1.xml" Id="R26949d7fa1e444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4bc6ae770c4ce6" /><Relationship Type="http://schemas.openxmlformats.org/officeDocument/2006/relationships/notesMaster" Target="/ppt/notesMasters/notesMaster1.xml" Id="R94bfe762782643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f4dc5c6abee41bd" /><Relationship Type="http://schemas.openxmlformats.org/officeDocument/2006/relationships/notesMaster" Target="/ppt/notesMasters/notesMaster1.xml" Id="Rb29c65fdd5a54e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b5366056144e4d" /><Relationship Type="http://schemas.openxmlformats.org/officeDocument/2006/relationships/notesMaster" Target="/ppt/notesMasters/notesMaster1.xml" Id="R1ffa2e840fa74f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e164d46791423e" /><Relationship Type="http://schemas.openxmlformats.org/officeDocument/2006/relationships/notesMaster" Target="/ppt/notesMasters/notesMaster1.xml" Id="Rf59ec505bdde4c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b0da02e64d4874" /><Relationship Type="http://schemas.openxmlformats.org/officeDocument/2006/relationships/notesMaster" Target="/ppt/notesMasters/notesMaster1.xml" Id="R53a368ac0f3c4e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18f3578a9440d5" /><Relationship Type="http://schemas.openxmlformats.org/officeDocument/2006/relationships/notesMaster" Target="/ppt/notesMasters/notesMaster1.xml" Id="R26be0d0bcbbe4e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692d3641fde478a" /><Relationship Type="http://schemas.openxmlformats.org/officeDocument/2006/relationships/notesMaster" Target="/ppt/notesMasters/notesMaster1.xml" Id="R79775e36b7eb44e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ce52535dfde44a4" /><Relationship Type="http://schemas.openxmlformats.org/officeDocument/2006/relationships/notesMaster" Target="/ppt/notesMasters/notesMaster1.xml" Id="R36efac2c3c1041e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7ff717634854c7d" /><Relationship Type="http://schemas.openxmlformats.org/officeDocument/2006/relationships/notesMaster" Target="/ppt/notesMasters/notesMaster1.xml" Id="R6db0579d0b374e6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4dd354148be47f7" /><Relationship Type="http://schemas.openxmlformats.org/officeDocument/2006/relationships/notesMaster" Target="/ppt/notesMasters/notesMaster1.xml" Id="R0aa9d5b7dfaa497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53cf07920554d2d" /><Relationship Type="http://schemas.openxmlformats.org/officeDocument/2006/relationships/notesMaster" Target="/ppt/notesMasters/notesMaster1.xml" Id="R498cf584e40148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dd6574f1d84a4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16977da38fb48e4" /><Relationship Type="http://schemas.openxmlformats.org/officeDocument/2006/relationships/slideLayout" Target="/ppt/slideLayouts/slideLayout2.xml" Id="R9c5533a578f449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5533a578f449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cbfaea61294ab2" /><Relationship Type="http://schemas.openxmlformats.org/officeDocument/2006/relationships/image" Target="/ppt/media/image.png" Id="Re8e56196ce7a4817" /><Relationship Type="http://schemas.openxmlformats.org/officeDocument/2006/relationships/image" Target="/ppt/media/image2.png" Id="Red58a34dd16447a0" /><Relationship Type="http://schemas.openxmlformats.org/officeDocument/2006/relationships/image" Target="/ppt/media/image3.png" Id="Ra35549c770724c6c" /><Relationship Type="http://schemas.openxmlformats.org/officeDocument/2006/relationships/notesSlide" Target="/ppt/notesSlides/notesSlide1.xml" Id="R84a3e73e1f384b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6ab15967264fdc" /><Relationship Type="http://schemas.openxmlformats.org/officeDocument/2006/relationships/notesSlide" Target="/ppt/notesSlides/notesSlide2.xml" Id="R7658793ff7de41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2de945e8764308" /><Relationship Type="http://schemas.openxmlformats.org/officeDocument/2006/relationships/notesSlide" Target="/ppt/notesSlides/notesSlide3.xml" Id="R524ba349b1334b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77766e72184b96" /><Relationship Type="http://schemas.openxmlformats.org/officeDocument/2006/relationships/notesSlide" Target="/ppt/notesSlides/notesSlide4.xml" Id="R2f5a017099f041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b4a41564ab471f" /><Relationship Type="http://schemas.openxmlformats.org/officeDocument/2006/relationships/image" Target="/ppt/media/image4.png" Id="Rb380cf374a9f4424" /><Relationship Type="http://schemas.openxmlformats.org/officeDocument/2006/relationships/notesSlide" Target="/ppt/notesSlides/notesSlide5.xml" Id="Rc2ed233f92894c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a0f425b73549eb" /><Relationship Type="http://schemas.openxmlformats.org/officeDocument/2006/relationships/image" Target="/ppt/media/image5.png" Id="Rb5dc7e2ec6da4dfb" /><Relationship Type="http://schemas.openxmlformats.org/officeDocument/2006/relationships/notesSlide" Target="/ppt/notesSlides/notesSlide6.xml" Id="Rbf0a3b22f24e4e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2e7fc1322847b2" /><Relationship Type="http://schemas.openxmlformats.org/officeDocument/2006/relationships/image" Target="/ppt/media/image6.png" Id="R3d143dc0a7014f4c" /><Relationship Type="http://schemas.openxmlformats.org/officeDocument/2006/relationships/notesSlide" Target="/ppt/notesSlides/notesSlide7.xml" Id="R82d66dddb7c140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aa9499660645cc" /><Relationship Type="http://schemas.openxmlformats.org/officeDocument/2006/relationships/image" Target="/ppt/media/image7.png" Id="Re1e4a51457ad4b60" /><Relationship Type="http://schemas.openxmlformats.org/officeDocument/2006/relationships/notesSlide" Target="/ppt/notesSlides/notesSlide8.xml" Id="Rbe7c75abda6c41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485e08f2e546c6" /><Relationship Type="http://schemas.openxmlformats.org/officeDocument/2006/relationships/image" Target="/ppt/media/image8.png" Id="R08ccb49e8da7415f" /><Relationship Type="http://schemas.openxmlformats.org/officeDocument/2006/relationships/notesSlide" Target="/ppt/notesSlides/notesSlide9.xml" Id="R6df165fce7f14fb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12621fab1b4f54" /><Relationship Type="http://schemas.openxmlformats.org/officeDocument/2006/relationships/image" Target="/ppt/media/image9.png" Id="R643850509f6e4535" /><Relationship Type="http://schemas.openxmlformats.org/officeDocument/2006/relationships/notesSlide" Target="/ppt/notesSlides/notesSlide10.xml" Id="R6eb5ce54ee6b45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2a19bab74142d8" /><Relationship Type="http://schemas.openxmlformats.org/officeDocument/2006/relationships/image" Target="/ppt/media/image10.png" Id="R8bcf29a245494475" /><Relationship Type="http://schemas.openxmlformats.org/officeDocument/2006/relationships/notesSlide" Target="/ppt/notesSlides/notesSlide11.xml" Id="Rb22081d183824e7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e098ffad5a4883" /><Relationship Type="http://schemas.openxmlformats.org/officeDocument/2006/relationships/notesSlide" Target="/ppt/notesSlides/notesSlide12.xml" Id="Rf6e0e3c8c8c54b0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D4B5CCC-1AC1-4BBB-AF3F-7FBF29ED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79438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F6FD1"/>
                </a:solidFill>
              </a:defRPr>
            </a:pPr>
            <a:r>
              <a:rPr sz="1350" b="1">
                <a:solidFill>
                  <a:srgbClr val="3F6FD1"/>
                </a:solidFill>
              </a:rPr>
              <a:t>OPENEVOLVE-TUNED L2 CACHE PREFETCH ROUTING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7EA5239-4C46-403D-9E7C-4765A7A5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23950"/>
            <a:ext cx="79438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000000"/>
                </a:solidFill>
              </a:defRPr>
            </a:pPr>
            <a:r>
              <a:rPr sz="5700" b="1">
                <a:solidFill>
                  <a:srgbClr val="000000"/>
                </a:solidFill>
              </a:rPr>
              <a:t>Mixture of Prefetchers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FAE95BCE-FFE5-42F7-84E8-910C990D5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28850"/>
            <a:ext cx="4381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4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00D5989D-E2CD-48A3-A8DF-E52EB689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79438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A compact router chooses between MLOP and SPP+PPF at epoch boundaries, then OpenEvolve tunes the policy surface.</a:t>
            </a:r>
          </a:p>
        </p:txBody>
      </p:sp>
      <p:sp>
        <p:nvSpPr>
          <p:cNvPr id="5" name="cover-scope">
            <a:extLst xmlns:a="http://schemas.openxmlformats.org/drawingml/2006/main">
              <a:ext uri="{FF2B5EF4-FFF2-40B4-BE49-F238E27FC236}">
                <a16:creationId xmlns:a16="http://schemas.microsoft.com/office/drawing/2014/main" id="{40D3B02E-B0C0-4B2B-9972-A5BA28EE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67150"/>
            <a:ext cx="79438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Final claim size: strong 13-trace training-split validation result, modest heldout generalization over disabled prefetching.</a:t>
            </a:r>
          </a:p>
        </p:txBody>
      </p:sp>
      <p:pic>
        <p:nvPicPr>
          <p:cNvPr id="6" name="icon-rout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e56196ce7a4817"/>
          <a:stretch xmlns:a="http://schemas.openxmlformats.org/drawingml/2006/main"/>
        </p:blipFill>
        <p:spPr>
          <a:xfrm xmlns:a="http://schemas.openxmlformats.org/drawingml/2006/main">
            <a:off x="9477375" y="66675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7" name="icon-heading-Route the next epoch">
            <a:extLst xmlns:a="http://schemas.openxmlformats.org/drawingml/2006/main">
              <a:ext uri="{FF2B5EF4-FFF2-40B4-BE49-F238E27FC236}">
                <a16:creationId xmlns:a16="http://schemas.microsoft.com/office/drawing/2014/main" id="{248C651C-29A6-4478-ACD1-6AD5EAF8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66750"/>
            <a:ext cx="7258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F6FD1"/>
                </a:solidFill>
              </a:defRPr>
            </a:pPr>
            <a:r>
              <a:rPr sz="1950" b="1">
                <a:solidFill>
                  <a:srgbClr val="3F6FD1"/>
                </a:solidFill>
              </a:rPr>
              <a:t>Route the next epoch</a:t>
            </a:r>
          </a:p>
        </p:txBody>
      </p:sp>
      <p:sp>
        <p:nvSpPr>
          <p:cNvPr id="8" name="icon-body-Route the next epoch">
            <a:extLst xmlns:a="http://schemas.openxmlformats.org/drawingml/2006/main">
              <a:ext uri="{FF2B5EF4-FFF2-40B4-BE49-F238E27FC236}">
                <a16:creationId xmlns:a16="http://schemas.microsoft.com/office/drawing/2014/main" id="{BBE176D3-9190-43D3-AF3F-03AC4F0F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009650"/>
            <a:ext cx="7258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3333"/>
                </a:solidFill>
              </a:defRPr>
            </a:pPr>
            <a:r>
              <a:rPr sz="1500">
                <a:solidFill>
                  <a:srgbClr val="333333"/>
                </a:solidFill>
              </a:rPr>
              <a:t>Use recent usefulness counters to choose MLOP, SPP+PPF, both, or the off action.</a:t>
            </a:r>
          </a:p>
        </p:txBody>
      </p:sp>
      <p:pic>
        <p:nvPicPr>
          <p:cNvPr id="9" name="icon-tun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58a34dd16447a0"/>
          <a:stretch xmlns:a="http://schemas.openxmlformats.org/drawingml/2006/main"/>
        </p:blipFill>
        <p:spPr>
          <a:xfrm xmlns:a="http://schemas.openxmlformats.org/drawingml/2006/main">
            <a:off x="9477375" y="152590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0" name="icon-heading-Tune a small policy">
            <a:extLst xmlns:a="http://schemas.openxmlformats.org/drawingml/2006/main">
              <a:ext uri="{FF2B5EF4-FFF2-40B4-BE49-F238E27FC236}">
                <a16:creationId xmlns:a16="http://schemas.microsoft.com/office/drawing/2014/main" id="{92801473-DF80-494D-A4A4-17B10FFD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524000"/>
            <a:ext cx="7258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DC267F"/>
                </a:solidFill>
              </a:defRPr>
            </a:pPr>
            <a:r>
              <a:rPr sz="1950" b="1">
                <a:solidFill>
                  <a:srgbClr val="DC267F"/>
                </a:solidFill>
              </a:rPr>
              <a:t>Tune a small policy</a:t>
            </a:r>
          </a:p>
        </p:txBody>
      </p:sp>
      <p:sp>
        <p:nvSpPr>
          <p:cNvPr id="11" name="icon-body-Tune a small policy">
            <a:extLst xmlns:a="http://schemas.openxmlformats.org/drawingml/2006/main">
              <a:ext uri="{FF2B5EF4-FFF2-40B4-BE49-F238E27FC236}">
                <a16:creationId xmlns:a16="http://schemas.microsoft.com/office/drawing/2014/main" id="{9890ACA3-2DBC-4D0D-8B78-EC6A69B7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866900"/>
            <a:ext cx="7258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3333"/>
                </a:solidFill>
              </a:defRPr>
            </a:pPr>
            <a:r>
              <a:rPr sz="1500">
                <a:solidFill>
                  <a:srgbClr val="333333"/>
                </a:solidFill>
              </a:rPr>
              <a:t>OpenEvolve changes budget, score weights, accuracy floor, and tie margin.</a:t>
            </a:r>
          </a:p>
        </p:txBody>
      </p:sp>
      <p:pic>
        <p:nvPicPr>
          <p:cNvPr id="12" name="icon-fact_check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5549c770724c6c"/>
          <a:stretch xmlns:a="http://schemas.openxmlformats.org/drawingml/2006/main"/>
        </p:blipFill>
        <p:spPr>
          <a:xfrm xmlns:a="http://schemas.openxmlformats.org/drawingml/2006/main">
            <a:off x="9477375" y="23850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3" name="icon-heading-Claim the right result size">
            <a:extLst xmlns:a="http://schemas.openxmlformats.org/drawingml/2006/main">
              <a:ext uri="{FF2B5EF4-FFF2-40B4-BE49-F238E27FC236}">
                <a16:creationId xmlns:a16="http://schemas.microsoft.com/office/drawing/2014/main" id="{48E98387-ECB3-4B70-96A5-BB12144B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381250"/>
            <a:ext cx="7258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E6100"/>
                </a:solidFill>
              </a:defRPr>
            </a:pPr>
            <a:r>
              <a:rPr sz="1950" b="1">
                <a:solidFill>
                  <a:srgbClr val="FE6100"/>
                </a:solidFill>
              </a:rPr>
              <a:t>Claim the right result size</a:t>
            </a:r>
          </a:p>
        </p:txBody>
      </p:sp>
      <p:sp>
        <p:nvSpPr>
          <p:cNvPr id="14" name="icon-body-Claim the right result size">
            <a:extLst xmlns:a="http://schemas.openxmlformats.org/drawingml/2006/main">
              <a:ext uri="{FF2B5EF4-FFF2-40B4-BE49-F238E27FC236}">
                <a16:creationId xmlns:a16="http://schemas.microsoft.com/office/drawing/2014/main" id="{56735311-1735-4496-B501-74CB76C0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724150"/>
            <a:ext cx="7258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3333"/>
                </a:solidFill>
              </a:defRPr>
            </a:pPr>
            <a:r>
              <a:rPr sz="1500">
                <a:solidFill>
                  <a:srgbClr val="333333"/>
                </a:solidFill>
              </a:rPr>
              <a:t>MoP-V2 reaches 1.066x on 13 training-split validation traces and 1.003x on heldout.</a:t>
            </a:r>
          </a:p>
        </p:txBody>
      </p:sp>
      <p:sp>
        <p:nvSpPr>
          <p:cNvPr id="15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B2A2C8E7-3685-48E2-914B-3DDB3E97F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801100"/>
            <a:ext cx="165354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CMU 15-740 class project. Disabled prefetching is the 1.000x reference throughout.</a:t>
            </a:r>
          </a:p>
        </p:txBody>
      </p:sp>
    </p:spTree>
    <p:extLst>
      <p:ext uri="{BB962C8B-B14F-4D97-AF65-F5344CB8AC3E}">
        <p14:creationId xmlns:p14="http://schemas.microsoft.com/office/powerpoint/2010/main" val="94194445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D208A2-F3B3-49F5-A14E-CC2AA45E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76009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What we built on Athena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D6126C3-C6F5-494A-856B-9ECED2CB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33500"/>
            <a:ext cx="76009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The project adds a router layer and a small policy-search loop above existing Athena L2C prefetchers.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79369890-3EB1-4E7C-B403-4546D8E8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66750"/>
            <a:ext cx="838200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E4C0BEDB-E756-4862-929E-A5CA8B5D2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7600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C267F"/>
                </a:solidFill>
              </a:defRPr>
            </a:pPr>
            <a:r>
              <a:rPr sz="1350" b="1">
                <a:solidFill>
                  <a:srgbClr val="DC267F"/>
                </a:solidFill>
              </a:rPr>
              <a:t>ROUTER NAMES</a:t>
            </a:r>
          </a:p>
        </p:txBody>
      </p:sp>
      <p:sp>
        <p:nvSpPr>
          <p:cNvPr id="5" name="kv-key-0">
            <a:extLst xmlns:a="http://schemas.openxmlformats.org/drawingml/2006/main">
              <a:ext uri="{FF2B5EF4-FFF2-40B4-BE49-F238E27FC236}">
                <a16:creationId xmlns:a16="http://schemas.microsoft.com/office/drawing/2014/main" id="{6DCED746-D81E-41B6-94AD-9B1DFF33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2573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MoP-V1</a:t>
            </a:r>
          </a:p>
        </p:txBody>
      </p:sp>
      <p:sp>
        <p:nvSpPr>
          <p:cNvPr id="6" name="kv-value-0">
            <a:extLst xmlns:a="http://schemas.openxmlformats.org/drawingml/2006/main">
              <a:ext uri="{FF2B5EF4-FFF2-40B4-BE49-F238E27FC236}">
                <a16:creationId xmlns:a16="http://schemas.microsoft.com/office/drawing/2014/main" id="{A06D6FF1-134E-42AC-97B5-CE3144A6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61341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Manual one-epoch probe router. It probes both experts, then routes to the higher-scoring expert.</a:t>
            </a:r>
          </a:p>
        </p:txBody>
      </p:sp>
      <p:sp>
        <p:nvSpPr>
          <p:cNvPr id="7" name="kv-key-1">
            <a:extLst xmlns:a="http://schemas.openxmlformats.org/drawingml/2006/main">
              <a:ext uri="{FF2B5EF4-FFF2-40B4-BE49-F238E27FC236}">
                <a16:creationId xmlns:a16="http://schemas.microsoft.com/office/drawing/2014/main" id="{D8F7CA87-4E39-45F8-9DC4-49C42BAB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12573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MoP-V2</a:t>
            </a:r>
          </a:p>
        </p:txBody>
      </p:sp>
      <p:sp>
        <p:nvSpPr>
          <p:cNvPr id="8" name="kv-value-1">
            <a:extLst xmlns:a="http://schemas.openxmlformats.org/drawingml/2006/main">
              <a:ext uri="{FF2B5EF4-FFF2-40B4-BE49-F238E27FC236}">
                <a16:creationId xmlns:a16="http://schemas.microsoft.com/office/drawing/2014/main" id="{6B4A6583-3569-4675-9079-643C0282F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61341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OpenEvolve-tuned router. It keeps the same public role and tunes budget, scoring, and tie behavior.</a:t>
            </a:r>
          </a:p>
        </p:txBody>
      </p:sp>
      <p:sp>
        <p:nvSpPr>
          <p:cNvPr id="9" name="kv-key-2">
            <a:extLst xmlns:a="http://schemas.openxmlformats.org/drawingml/2006/main">
              <a:ext uri="{FF2B5EF4-FFF2-40B4-BE49-F238E27FC236}">
                <a16:creationId xmlns:a16="http://schemas.microsoft.com/office/drawing/2014/main" id="{468DA64A-1A7A-4418-90F6-AF5639BC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12573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Experts</a:t>
            </a:r>
          </a:p>
        </p:txBody>
      </p:sp>
      <p:sp>
        <p:nvSpPr>
          <p:cNvPr id="10" name="kv-value-2">
            <a:extLst xmlns:a="http://schemas.openxmlformats.org/drawingml/2006/main">
              <a:ext uri="{FF2B5EF4-FFF2-40B4-BE49-F238E27FC236}">
                <a16:creationId xmlns:a16="http://schemas.microsoft.com/office/drawing/2014/main" id="{F6CBBC4E-3BE1-4FA0-BAAD-BBEFB30DB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24300"/>
            <a:ext cx="61341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MLOP and SPP+PPF are the two Athena L2-cache prefetchers used by this router.</a:t>
            </a:r>
          </a:p>
        </p:txBody>
      </p:sp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20C948CE-3D25-4A81-8F7D-698D54CF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190750"/>
            <a:ext cx="8382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F6FD1"/>
                </a:solidFill>
              </a:defRPr>
            </a:pPr>
            <a:r>
              <a:rPr sz="1350" b="1">
                <a:solidFill>
                  <a:srgbClr val="3F6FD1"/>
                </a:solidFill>
              </a:rPr>
              <a:t>EVIDENCE LAYER</a:t>
            </a:r>
          </a:p>
        </p:txBody>
      </p:sp>
      <p:sp>
        <p:nvSpPr>
          <p:cNvPr id="12" name="bullet-0">
            <a:extLst xmlns:a="http://schemas.openxmlformats.org/drawingml/2006/main">
              <a:ext uri="{FF2B5EF4-FFF2-40B4-BE49-F238E27FC236}">
                <a16:creationId xmlns:a16="http://schemas.microsoft.com/office/drawing/2014/main" id="{0151EA7B-4D4F-48CE-BD3B-FE791777C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8382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Epoch-level counters record issued and useful prefetches.</a:t>
            </a:r>
          </a:p>
        </p:txBody>
      </p:sp>
      <p:sp>
        <p:nvSpPr>
          <p:cNvPr id="13" name="bullet-1">
            <a:extLst xmlns:a="http://schemas.openxmlformats.org/drawingml/2006/main">
              <a:ext uri="{FF2B5EF4-FFF2-40B4-BE49-F238E27FC236}">
                <a16:creationId xmlns:a16="http://schemas.microsoft.com/office/drawing/2014/main" id="{D53B8A3B-4B7A-41AE-80F4-AD243E48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48000"/>
            <a:ext cx="8382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OpenEvolve edits a small literal policy dictionary.</a:t>
            </a:r>
          </a:p>
        </p:txBody>
      </p:sp>
      <p:sp>
        <p:nvSpPr>
          <p:cNvPr id="14" name="bullet-2">
            <a:extLst xmlns:a="http://schemas.openxmlformats.org/drawingml/2006/main">
              <a:ext uri="{FF2B5EF4-FFF2-40B4-BE49-F238E27FC236}">
                <a16:creationId xmlns:a16="http://schemas.microsoft.com/office/drawing/2014/main" id="{97B3A9BF-3801-4232-8924-A8E81008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05200"/>
            <a:ext cx="8382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Generated ledgers preserve valid scored rows and fail-closed rows.</a:t>
            </a:r>
          </a:p>
        </p:txBody>
      </p:sp>
      <p:sp>
        <p:nvSpPr>
          <p:cNvPr id="15" name="bullet-3">
            <a:extLst xmlns:a="http://schemas.openxmlformats.org/drawingml/2006/main">
              <a:ext uri="{FF2B5EF4-FFF2-40B4-BE49-F238E27FC236}">
                <a16:creationId xmlns:a16="http://schemas.microsoft.com/office/drawing/2014/main" id="{C434800C-6F4D-434D-9A28-7E26CC28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962400"/>
            <a:ext cx="8382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Report tables and figures rebuild from simulator summaries.</a:t>
            </a:r>
          </a:p>
        </p:txBody>
      </p:sp>
    </p:spTree>
    <p:extLst>
      <p:ext uri="{BB962C8B-B14F-4D97-AF65-F5344CB8AC3E}">
        <p14:creationId xmlns:p14="http://schemas.microsoft.com/office/powerpoint/2010/main" val="165588495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9D38034-7FD7-498E-91E6-A3A5EFB6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8382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Trace protocol and comparators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B498B02-77A6-4B67-9078-16C0F668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33500"/>
            <a:ext cx="8382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All performance numbers use disabled prefetching as 1.000x. Best expert is a per-trace reference.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1D5A17DE-BE41-4CB9-B772-0CE383F4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66750"/>
            <a:ext cx="758190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4C44A7D7-68F0-4D11-A3BD-0E1661E4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8382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F6FD1"/>
                </a:solidFill>
              </a:defRPr>
            </a:pPr>
            <a:r>
              <a:rPr sz="1350" b="1">
                <a:solidFill>
                  <a:srgbClr val="3F6FD1"/>
                </a:solidFill>
              </a:rPr>
              <a:t>FIXED SETUP</a:t>
            </a:r>
          </a:p>
        </p:txBody>
      </p:sp>
      <p:sp>
        <p:nvSpPr>
          <p:cNvPr id="5" name="kv-key-0">
            <a:extLst xmlns:a="http://schemas.openxmlformats.org/drawingml/2006/main">
              <a:ext uri="{FF2B5EF4-FFF2-40B4-BE49-F238E27FC236}">
                <a16:creationId xmlns:a16="http://schemas.microsoft.com/office/drawing/2014/main" id="{CA63B62E-E730-431C-AB5B-C803FD0C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Cache</a:t>
            </a:r>
          </a:p>
        </p:txBody>
      </p:sp>
      <p:sp>
        <p:nvSpPr>
          <p:cNvPr id="6" name="kv-value-0">
            <a:extLst xmlns:a="http://schemas.openxmlformats.org/drawingml/2006/main">
              <a:ext uri="{FF2B5EF4-FFF2-40B4-BE49-F238E27FC236}">
                <a16:creationId xmlns:a16="http://schemas.microsoft.com/office/drawing/2014/main" id="{55134BC2-FB81-4549-BF76-5FA0C3CA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7175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Athena L2C</a:t>
            </a:r>
          </a:p>
        </p:txBody>
      </p:sp>
      <p:sp>
        <p:nvSpPr>
          <p:cNvPr id="7" name="kv-key-1">
            <a:extLst xmlns:a="http://schemas.openxmlformats.org/drawingml/2006/main">
              <a:ext uri="{FF2B5EF4-FFF2-40B4-BE49-F238E27FC236}">
                <a16:creationId xmlns:a16="http://schemas.microsoft.com/office/drawing/2014/main" id="{9733DDF7-0972-4198-A4B5-DC442784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Expert pair</a:t>
            </a:r>
          </a:p>
        </p:txBody>
      </p:sp>
      <p:sp>
        <p:nvSpPr>
          <p:cNvPr id="8" name="kv-value-1">
            <a:extLst xmlns:a="http://schemas.openxmlformats.org/drawingml/2006/main">
              <a:ext uri="{FF2B5EF4-FFF2-40B4-BE49-F238E27FC236}">
                <a16:creationId xmlns:a16="http://schemas.microsoft.com/office/drawing/2014/main" id="{BE557270-2610-45FC-B415-0A1A34F9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93370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MLOP + SPP+PPF</a:t>
            </a:r>
          </a:p>
        </p:txBody>
      </p:sp>
      <p:sp>
        <p:nvSpPr>
          <p:cNvPr id="9" name="kv-key-2">
            <a:extLst xmlns:a="http://schemas.openxmlformats.org/drawingml/2006/main">
              <a:ext uri="{FF2B5EF4-FFF2-40B4-BE49-F238E27FC236}">
                <a16:creationId xmlns:a16="http://schemas.microsoft.com/office/drawing/2014/main" id="{138D7880-7CC8-4D63-B086-5991BAFB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Official split</a:t>
            </a:r>
          </a:p>
        </p:txBody>
      </p:sp>
      <p:sp>
        <p:nvSpPr>
          <p:cNvPr id="10" name="kv-value-2">
            <a:extLst xmlns:a="http://schemas.openxmlformats.org/drawingml/2006/main">
              <a:ext uri="{FF2B5EF4-FFF2-40B4-BE49-F238E27FC236}">
                <a16:creationId xmlns:a16="http://schemas.microsoft.com/office/drawing/2014/main" id="{75B7D4A2-2717-4CE2-815A-6067B33E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29565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24 traces total: 17 training, 7 heldout</a:t>
            </a:r>
          </a:p>
        </p:txBody>
      </p:sp>
      <p:sp>
        <p:nvSpPr>
          <p:cNvPr id="11" name="kv-key-3">
            <a:extLst xmlns:a="http://schemas.openxmlformats.org/drawingml/2006/main">
              <a:ext uri="{FF2B5EF4-FFF2-40B4-BE49-F238E27FC236}">
                <a16:creationId xmlns:a16="http://schemas.microsoft.com/office/drawing/2014/main" id="{91091651-88AE-457C-9015-E9F8B8BB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Final validation</a:t>
            </a:r>
          </a:p>
        </p:txBody>
      </p:sp>
      <p:sp>
        <p:nvSpPr>
          <p:cNvPr id="12" name="kv-value-3">
            <a:extLst xmlns:a="http://schemas.openxmlformats.org/drawingml/2006/main">
              <a:ext uri="{FF2B5EF4-FFF2-40B4-BE49-F238E27FC236}">
                <a16:creationId xmlns:a16="http://schemas.microsoft.com/office/drawing/2014/main" id="{2A681D6F-13E9-4843-88A9-7CB01A58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5760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13 available training traces, 500K warmup, 1M simulation</a:t>
            </a:r>
          </a:p>
        </p:txBody>
      </p:sp>
      <p:sp>
        <p:nvSpPr>
          <p:cNvPr id="13" name="kv-key-4">
            <a:extLst xmlns:a="http://schemas.openxmlformats.org/drawingml/2006/main">
              <a:ext uri="{FF2B5EF4-FFF2-40B4-BE49-F238E27FC236}">
                <a16:creationId xmlns:a16="http://schemas.microsoft.com/office/drawing/2014/main" id="{D8ABEFD2-0D45-47DE-AAEF-A13E9AA0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Heldout</a:t>
            </a:r>
          </a:p>
        </p:txBody>
      </p:sp>
      <p:sp>
        <p:nvSpPr>
          <p:cNvPr id="14" name="kv-value-4">
            <a:extLst xmlns:a="http://schemas.openxmlformats.org/drawingml/2006/main">
              <a:ext uri="{FF2B5EF4-FFF2-40B4-BE49-F238E27FC236}">
                <a16:creationId xmlns:a16="http://schemas.microsoft.com/office/drawing/2014/main" id="{84348430-36BD-4126-8E15-147B97DC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01955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7 frozen traces, 20M warmup, 50M simulation</a:t>
            </a:r>
          </a:p>
        </p:txBody>
      </p:sp>
      <p:sp>
        <p:nvSpPr>
          <p:cNvPr id="15" name="kv-key-5">
            <a:extLst xmlns:a="http://schemas.openxmlformats.org/drawingml/2006/main">
              <a:ext uri="{FF2B5EF4-FFF2-40B4-BE49-F238E27FC236}">
                <a16:creationId xmlns:a16="http://schemas.microsoft.com/office/drawing/2014/main" id="{6BAB748D-F2BC-4CEC-9DAB-E99F89E6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Epoch</a:t>
            </a:r>
          </a:p>
        </p:txBody>
      </p:sp>
      <p:sp>
        <p:nvSpPr>
          <p:cNvPr id="16" name="kv-value-5">
            <a:extLst xmlns:a="http://schemas.openxmlformats.org/drawingml/2006/main">
              <a:ext uri="{FF2B5EF4-FFF2-40B4-BE49-F238E27FC236}">
                <a16:creationId xmlns:a16="http://schemas.microsoft.com/office/drawing/2014/main" id="{AE6D3568-F4AC-49B4-930A-CE641F9E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6245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500K retired instructions</a:t>
            </a:r>
          </a:p>
        </p:txBody>
      </p:sp>
      <p:sp>
        <p:nvSpPr>
          <p:cNvPr id="17" name="eyebrow">
            <a:extLst xmlns:a="http://schemas.openxmlformats.org/drawingml/2006/main">
              <a:ext uri="{FF2B5EF4-FFF2-40B4-BE49-F238E27FC236}">
                <a16:creationId xmlns:a16="http://schemas.microsoft.com/office/drawing/2014/main" id="{5F40F179-B92B-48D6-8FE9-45B9B5C8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190750"/>
            <a:ext cx="7581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C267F"/>
                </a:solidFill>
              </a:defRPr>
            </a:pPr>
            <a:r>
              <a:rPr sz="1350" b="1">
                <a:solidFill>
                  <a:srgbClr val="DC267F"/>
                </a:solidFill>
              </a:rPr>
              <a:t>COMPARISON LADDER</a:t>
            </a:r>
          </a:p>
        </p:txBody>
      </p:sp>
      <p:sp>
        <p:nvSpPr>
          <p:cNvPr id="18" name="kv-key-0">
            <a:extLst xmlns:a="http://schemas.openxmlformats.org/drawingml/2006/main">
              <a:ext uri="{FF2B5EF4-FFF2-40B4-BE49-F238E27FC236}">
                <a16:creationId xmlns:a16="http://schemas.microsoft.com/office/drawing/2014/main" id="{E2DB9935-67B4-4255-92A4-E9CE007B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571750"/>
            <a:ext cx="17716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Disabled</a:t>
            </a:r>
          </a:p>
        </p:txBody>
      </p:sp>
      <p:sp>
        <p:nvSpPr>
          <p:cNvPr id="19" name="kv-value-0">
            <a:extLst xmlns:a="http://schemas.openxmlformats.org/drawingml/2006/main">
              <a:ext uri="{FF2B5EF4-FFF2-40B4-BE49-F238E27FC236}">
                <a16:creationId xmlns:a16="http://schemas.microsoft.com/office/drawing/2014/main" id="{9B0F37EC-0D37-4F75-8AC3-4CCEEFC7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2571750"/>
            <a:ext cx="5600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3333"/>
                </a:solidFill>
              </a:defRPr>
            </a:pPr>
            <a:r>
              <a:rPr sz="1800">
                <a:solidFill>
                  <a:srgbClr val="333333"/>
                </a:solidFill>
              </a:rPr>
              <a:t>Universal 1.000x baseline.</a:t>
            </a:r>
          </a:p>
        </p:txBody>
      </p:sp>
      <p:sp>
        <p:nvSpPr>
          <p:cNvPr id="20" name="kv-key-1">
            <a:extLst xmlns:a="http://schemas.openxmlformats.org/drawingml/2006/main">
              <a:ext uri="{FF2B5EF4-FFF2-40B4-BE49-F238E27FC236}">
                <a16:creationId xmlns:a16="http://schemas.microsoft.com/office/drawing/2014/main" id="{093968B8-D23A-445E-8133-84F04A8A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52750"/>
            <a:ext cx="1771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Best expert</a:t>
            </a:r>
          </a:p>
        </p:txBody>
      </p:sp>
      <p:sp>
        <p:nvSpPr>
          <p:cNvPr id="21" name="kv-value-1">
            <a:extLst xmlns:a="http://schemas.openxmlformats.org/drawingml/2006/main">
              <a:ext uri="{FF2B5EF4-FFF2-40B4-BE49-F238E27FC236}">
                <a16:creationId xmlns:a16="http://schemas.microsoft.com/office/drawing/2014/main" id="{47DEF6A4-E9CE-4686-9669-DC1337B8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2952750"/>
            <a:ext cx="5600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3333"/>
                </a:solidFill>
              </a:defRPr>
            </a:pPr>
            <a:r>
              <a:rPr sz="1800">
                <a:solidFill>
                  <a:srgbClr val="333333"/>
                </a:solidFill>
              </a:rPr>
              <a:t>max(MLOP, SPP+PPF) per trace, then geomeaned. It is colored dark blue in the result plots.</a:t>
            </a:r>
          </a:p>
        </p:txBody>
      </p:sp>
      <p:sp>
        <p:nvSpPr>
          <p:cNvPr id="22" name="kv-key-2">
            <a:extLst xmlns:a="http://schemas.openxmlformats.org/drawingml/2006/main">
              <a:ext uri="{FF2B5EF4-FFF2-40B4-BE49-F238E27FC236}">
                <a16:creationId xmlns:a16="http://schemas.microsoft.com/office/drawing/2014/main" id="{1DF7C7CE-9C38-4C7E-A87B-56025C81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600450"/>
            <a:ext cx="1771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Worse expert</a:t>
            </a:r>
          </a:p>
        </p:txBody>
      </p:sp>
      <p:sp>
        <p:nvSpPr>
          <p:cNvPr id="23" name="kv-value-2">
            <a:extLst xmlns:a="http://schemas.openxmlformats.org/drawingml/2006/main">
              <a:ext uri="{FF2B5EF4-FFF2-40B4-BE49-F238E27FC236}">
                <a16:creationId xmlns:a16="http://schemas.microsoft.com/office/drawing/2014/main" id="{B69A4E08-8D25-4758-B6E6-7A10461A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3600450"/>
            <a:ext cx="5600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3333"/>
                </a:solidFill>
              </a:defRPr>
            </a:pPr>
            <a:r>
              <a:rPr sz="1800">
                <a:solidFill>
                  <a:srgbClr val="333333"/>
                </a:solidFill>
              </a:rPr>
              <a:t>Minimum practical check for whether routing clears the weaker constituent prefetcher.</a:t>
            </a:r>
          </a:p>
        </p:txBody>
      </p:sp>
      <p:sp>
        <p:nvSpPr>
          <p:cNvPr id="24" name="kv-key-3">
            <a:extLst xmlns:a="http://schemas.openxmlformats.org/drawingml/2006/main">
              <a:ext uri="{FF2B5EF4-FFF2-40B4-BE49-F238E27FC236}">
                <a16:creationId xmlns:a16="http://schemas.microsoft.com/office/drawing/2014/main" id="{C6F28985-8F5E-480C-BF2A-F82F8CA9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229100"/>
            <a:ext cx="1771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Simple routers</a:t>
            </a:r>
          </a:p>
        </p:txBody>
      </p:sp>
      <p:sp>
        <p:nvSpPr>
          <p:cNvPr id="25" name="kv-value-3">
            <a:extLst xmlns:a="http://schemas.openxmlformats.org/drawingml/2006/main">
              <a:ext uri="{FF2B5EF4-FFF2-40B4-BE49-F238E27FC236}">
                <a16:creationId xmlns:a16="http://schemas.microsoft.com/office/drawing/2014/main" id="{D36EC203-CCCA-4F61-AD1F-09E5E9D62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4229100"/>
            <a:ext cx="5600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3333"/>
                </a:solidFill>
              </a:defRPr>
            </a:pPr>
            <a:r>
              <a:rPr sz="1800">
                <a:solidFill>
                  <a:srgbClr val="333333"/>
                </a:solidFill>
              </a:rPr>
              <a:t>WinnerTakeAll, OneShotFit, and Athena MAB appear as small baselines.</a:t>
            </a:r>
          </a:p>
        </p:txBody>
      </p:sp>
    </p:spTree>
    <p:extLst>
      <p:ext uri="{BB962C8B-B14F-4D97-AF65-F5344CB8AC3E}">
        <p14:creationId xmlns:p14="http://schemas.microsoft.com/office/powerpoint/2010/main" val="97617504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CFC191-58D9-4EA4-A4C7-F16640FB5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5151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OpenEvolve changed a small policy surface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687E18B-30F2-49E1-B543-DA750F19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65151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The search could tune router-family settings and numeric policy weights while the trace split and simulator stayed fixed.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64F8D736-9A73-4C15-9D81-693A4E69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52450"/>
            <a:ext cx="977265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79CAF3EA-8747-46AF-9746-31CF9BEF6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6515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C267F"/>
                </a:solidFill>
              </a:defRPr>
            </a:pPr>
            <a:r>
              <a:rPr sz="1350" b="1">
                <a:solidFill>
                  <a:srgbClr val="DC267F"/>
                </a:solidFill>
              </a:rPr>
              <a:t>SELECTED MOP-V2 POLICY</a:t>
            </a:r>
          </a:p>
        </p:txBody>
      </p:sp>
      <p:sp>
        <p:nvSpPr>
          <p:cNvPr id="5" name="kv-key-0">
            <a:extLst xmlns:a="http://schemas.openxmlformats.org/drawingml/2006/main">
              <a:ext uri="{FF2B5EF4-FFF2-40B4-BE49-F238E27FC236}">
                <a16:creationId xmlns:a16="http://schemas.microsoft.com/office/drawing/2014/main" id="{DF8CF6E2-2FF6-4B0F-8DB8-61DEA9F2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13525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Budget</a:t>
            </a:r>
          </a:p>
        </p:txBody>
      </p:sp>
      <p:sp>
        <p:nvSpPr>
          <p:cNvPr id="6" name="kv-value-0">
            <a:extLst xmlns:a="http://schemas.openxmlformats.org/drawingml/2006/main">
              <a:ext uri="{FF2B5EF4-FFF2-40B4-BE49-F238E27FC236}">
                <a16:creationId xmlns:a16="http://schemas.microsoft.com/office/drawing/2014/main" id="{B0B065DD-D56A-41F5-A5F9-CE8146ED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933700"/>
            <a:ext cx="4953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9,216 prefetches per 500K-instruction epoch, about 18.4 per 1K retired instructions</a:t>
            </a:r>
          </a:p>
        </p:txBody>
      </p:sp>
      <p:sp>
        <p:nvSpPr>
          <p:cNvPr id="7" name="kv-key-1">
            <a:extLst xmlns:a="http://schemas.openxmlformats.org/drawingml/2006/main">
              <a:ext uri="{FF2B5EF4-FFF2-40B4-BE49-F238E27FC236}">
                <a16:creationId xmlns:a16="http://schemas.microsoft.com/office/drawing/2014/main" id="{76CC022A-3268-4AA0-B8BD-F4EC2413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1352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Probe</a:t>
            </a:r>
          </a:p>
        </p:txBody>
      </p:sp>
      <p:sp>
        <p:nvSpPr>
          <p:cNvPr id="8" name="kv-value-1">
            <a:extLst xmlns:a="http://schemas.openxmlformats.org/drawingml/2006/main">
              <a:ext uri="{FF2B5EF4-FFF2-40B4-BE49-F238E27FC236}">
                <a16:creationId xmlns:a16="http://schemas.microsoft.com/office/drawing/2014/main" id="{ADA1218E-092B-4FF6-B9BA-7C615FCA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62350"/>
            <a:ext cx="495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One initial dual-expert probe epoch</a:t>
            </a:r>
          </a:p>
        </p:txBody>
      </p:sp>
      <p:sp>
        <p:nvSpPr>
          <p:cNvPr id="9" name="kv-key-2">
            <a:extLst xmlns:a="http://schemas.openxmlformats.org/drawingml/2006/main">
              <a:ext uri="{FF2B5EF4-FFF2-40B4-BE49-F238E27FC236}">
                <a16:creationId xmlns:a16="http://schemas.microsoft.com/office/drawing/2014/main" id="{82626E9B-D602-46B0-80DC-A4DA072D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1352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Guardrails</a:t>
            </a:r>
          </a:p>
        </p:txBody>
      </p:sp>
      <p:sp>
        <p:nvSpPr>
          <p:cNvPr id="10" name="kv-value-2">
            <a:extLst xmlns:a="http://schemas.openxmlformats.org/drawingml/2006/main">
              <a:ext uri="{FF2B5EF4-FFF2-40B4-BE49-F238E27FC236}">
                <a16:creationId xmlns:a16="http://schemas.microsoft.com/office/drawing/2014/main" id="{AF2CC740-8A13-4EA7-B977-CE7326C7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24300"/>
            <a:ext cx="495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Accuracy floor 30 and 3% close-score tie margin</a:t>
            </a:r>
          </a:p>
        </p:txBody>
      </p:sp>
      <p:sp>
        <p:nvSpPr>
          <p:cNvPr id="11" name="kv-key-3">
            <a:extLst xmlns:a="http://schemas.openxmlformats.org/drawingml/2006/main">
              <a:ext uri="{FF2B5EF4-FFF2-40B4-BE49-F238E27FC236}">
                <a16:creationId xmlns:a16="http://schemas.microsoft.com/office/drawing/2014/main" id="{0D5C01E2-5DB2-4B36-843A-585C9C96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1352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Weights</a:t>
            </a:r>
          </a:p>
        </p:txBody>
      </p:sp>
      <p:sp>
        <p:nvSpPr>
          <p:cNvPr id="12" name="kv-value-3">
            <a:extLst xmlns:a="http://schemas.openxmlformats.org/drawingml/2006/main">
              <a:ext uri="{FF2B5EF4-FFF2-40B4-BE49-F238E27FC236}">
                <a16:creationId xmlns:a16="http://schemas.microsoft.com/office/drawing/2014/main" id="{76E9A949-B4FF-465F-99B0-8435E730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286250"/>
            <a:ext cx="495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Accuracy 1.0, coverage 0.55, traffic 1.0</a:t>
            </a:r>
          </a:p>
        </p:txBody>
      </p:sp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73654540-B84B-4CED-A1B2-9C291966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71750"/>
            <a:ext cx="9772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F6FD1"/>
                </a:solidFill>
              </a:defRPr>
            </a:pPr>
            <a:r>
              <a:rPr sz="1350" b="1">
                <a:solidFill>
                  <a:srgbClr val="3F6FD1"/>
                </a:solidFill>
              </a:rPr>
              <a:t>SELECTION SCORE</a:t>
            </a:r>
          </a:p>
        </p:txBody>
      </p:sp>
      <p:sp>
        <p:nvSpPr>
          <p:cNvPr id="14" name="weighted-score-once">
            <a:extLst xmlns:a="http://schemas.openxmlformats.org/drawingml/2006/main">
              <a:ext uri="{FF2B5EF4-FFF2-40B4-BE49-F238E27FC236}">
                <a16:creationId xmlns:a16="http://schemas.microsoft.com/office/drawing/2014/main" id="{27054AF7-3C6C-4E51-9B61-6DB20843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990850"/>
            <a:ext cx="97726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Weighted score combines closeness to best expert, IPC over disabled prefetching, margin over the worse expert, tail-loss penalty, and off-action penalty.</a:t>
            </a:r>
          </a:p>
        </p:txBody>
      </p:sp>
      <p:sp>
        <p:nvSpPr>
          <p:cNvPr id="15" name="failure-score">
            <a:extLst xmlns:a="http://schemas.openxmlformats.org/drawingml/2006/main">
              <a:ext uri="{FF2B5EF4-FFF2-40B4-BE49-F238E27FC236}">
                <a16:creationId xmlns:a16="http://schemas.microsoft.com/office/drawing/2014/main" id="{48071911-700D-418D-9177-3D71CE1B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86250"/>
            <a:ext cx="97726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Candidate programs received failure scores for simulator failures, unknown policy keys, helper/import code, and missing evolve markers.</a:t>
            </a:r>
          </a:p>
        </p:txBody>
      </p:sp>
      <p:sp>
        <p:nvSpPr>
          <p:cNvPr id="16" name="table-cell-0-0">
            <a:extLst xmlns:a="http://schemas.openxmlformats.org/drawingml/2006/main">
              <a:ext uri="{FF2B5EF4-FFF2-40B4-BE49-F238E27FC236}">
                <a16:creationId xmlns:a16="http://schemas.microsoft.com/office/drawing/2014/main" id="{CACCA45C-ABC4-43B7-ABEF-2BB96119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086350"/>
            <a:ext cx="600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F6FD1"/>
                </a:solidFill>
              </a:defRPr>
            </a:pPr>
            <a:r>
              <a:rPr sz="1875" b="1">
                <a:solidFill>
                  <a:srgbClr val="3F6FD1"/>
                </a:solidFill>
              </a:rPr>
              <a:t>Ledger</a:t>
            </a:r>
          </a:p>
        </p:txBody>
      </p:sp>
      <p:sp>
        <p:nvSpPr>
          <p:cNvPr id="17" name="table-cell-0-1">
            <a:extLst xmlns:a="http://schemas.openxmlformats.org/drawingml/2006/main">
              <a:ext uri="{FF2B5EF4-FFF2-40B4-BE49-F238E27FC236}">
                <a16:creationId xmlns:a16="http://schemas.microsoft.com/office/drawing/2014/main" id="{6956F602-74B2-487C-B016-CA7A2AFC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5086350"/>
            <a:ext cx="3600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F6FD1"/>
                </a:solidFill>
              </a:defRPr>
            </a:pPr>
            <a:r>
              <a:rPr sz="1875" b="1">
                <a:solidFill>
                  <a:srgbClr val="3F6FD1"/>
                </a:solidFill>
              </a:rPr>
              <a:t>Rows</a:t>
            </a:r>
          </a:p>
        </p:txBody>
      </p:sp>
      <p:sp>
        <p:nvSpPr>
          <p:cNvPr id="18" name="table-cell-1-0">
            <a:extLst xmlns:a="http://schemas.openxmlformats.org/drawingml/2006/main">
              <a:ext uri="{FF2B5EF4-FFF2-40B4-BE49-F238E27FC236}">
                <a16:creationId xmlns:a16="http://schemas.microsoft.com/office/drawing/2014/main" id="{E4D352CC-6A7A-41E4-99FC-406AE784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448300"/>
            <a:ext cx="600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All candidates</a:t>
            </a:r>
          </a:p>
        </p:txBody>
      </p:sp>
      <p:sp>
        <p:nvSpPr>
          <p:cNvPr id="19" name="table-cell-1-1">
            <a:extLst xmlns:a="http://schemas.openxmlformats.org/drawingml/2006/main">
              <a:ext uri="{FF2B5EF4-FFF2-40B4-BE49-F238E27FC236}">
                <a16:creationId xmlns:a16="http://schemas.microsoft.com/office/drawing/2014/main" id="{44E0F255-DF26-4CCE-B5DB-3C866212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5448300"/>
            <a:ext cx="3600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374</a:t>
            </a:r>
          </a:p>
        </p:txBody>
      </p:sp>
      <p:sp>
        <p:nvSpPr>
          <p:cNvPr id="20" name="table-cell-2-0">
            <a:extLst xmlns:a="http://schemas.openxmlformats.org/drawingml/2006/main">
              <a:ext uri="{FF2B5EF4-FFF2-40B4-BE49-F238E27FC236}">
                <a16:creationId xmlns:a16="http://schemas.microsoft.com/office/drawing/2014/main" id="{508D4A43-CD18-4FAE-82EA-5F8E3BEB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810250"/>
            <a:ext cx="600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Valid scored</a:t>
            </a:r>
          </a:p>
        </p:txBody>
      </p:sp>
      <p:sp>
        <p:nvSpPr>
          <p:cNvPr id="21" name="table-cell-2-1">
            <a:extLst xmlns:a="http://schemas.openxmlformats.org/drawingml/2006/main">
              <a:ext uri="{FF2B5EF4-FFF2-40B4-BE49-F238E27FC236}">
                <a16:creationId xmlns:a16="http://schemas.microsoft.com/office/drawing/2014/main" id="{FA0D4409-9546-4ADD-BBCD-CEBE6B33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5810250"/>
            <a:ext cx="3600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306</a:t>
            </a:r>
          </a:p>
        </p:txBody>
      </p:sp>
      <p:sp>
        <p:nvSpPr>
          <p:cNvPr id="22" name="table-cell-3-0">
            <a:extLst xmlns:a="http://schemas.openxmlformats.org/drawingml/2006/main">
              <a:ext uri="{FF2B5EF4-FFF2-40B4-BE49-F238E27FC236}">
                <a16:creationId xmlns:a16="http://schemas.microsoft.com/office/drawing/2014/main" id="{DEF9E4F9-B8E8-4AC1-A3C4-2C7413C7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6172200"/>
            <a:ext cx="600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Fail-closed</a:t>
            </a:r>
          </a:p>
        </p:txBody>
      </p:sp>
      <p:sp>
        <p:nvSpPr>
          <p:cNvPr id="23" name="table-cell-3-1">
            <a:extLst xmlns:a="http://schemas.openxmlformats.org/drawingml/2006/main">
              <a:ext uri="{FF2B5EF4-FFF2-40B4-BE49-F238E27FC236}">
                <a16:creationId xmlns:a16="http://schemas.microsoft.com/office/drawing/2014/main" id="{8A86E380-0CDF-4D06-BBD5-0577F3F2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6172200"/>
            <a:ext cx="3600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68</a:t>
            </a:r>
          </a:p>
        </p:txBody>
      </p:sp>
    </p:spTree>
    <p:extLst>
      <p:ext uri="{BB962C8B-B14F-4D97-AF65-F5344CB8AC3E}">
        <p14:creationId xmlns:p14="http://schemas.microsoft.com/office/powerpoint/2010/main" val="136969038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F41FE88-FFE3-4AD0-9254-C0345DCE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69926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Training-split validation is the main win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33EF9E1-0991-4477-AA3B-A23FAC5F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81100"/>
            <a:ext cx="16992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Disabled prefetching is 1.000x. Dark blue is best expert, orange is MoP-V1, and pink is MoP-V2.</a:t>
            </a:r>
          </a:p>
        </p:txBody>
      </p:sp>
      <p:pic>
        <p:nvPicPr>
          <p:cNvPr id="3" name="pre-post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80cf374a9f4424"/>
          <a:stretch xmlns:a="http://schemas.openxmlformats.org/drawingml/2006/main"/>
        </p:blipFill>
        <p:spPr>
          <a:xfrm xmlns:a="http://schemas.openxmlformats.org/drawingml/2006/main">
            <a:off x="1051719" y="1615440"/>
            <a:ext cx="16184563" cy="7768590"/>
          </a:xfrm>
          <a:prstGeom xmlns:a="http://schemas.openxmlformats.org/drawingml/2006/main" prst="rect">
            <a:avLst/>
          </a:prstGeom>
        </p:spPr>
      </p:pic>
      <p:sp>
        <p:nvSpPr>
          <p:cNvPr id="4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0A53A81A-BA7B-438C-8D3B-29A13DFD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563100"/>
            <a:ext cx="16992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The 13-trace validation bars show the main gain from MoP-V1 to MoP-V2. The 7-trace heldout bars show the smaller post-selection result. Prefetcher off is black at 1.000x and best expert is dark blue.</a:t>
            </a:r>
          </a:p>
        </p:txBody>
      </p:sp>
    </p:spTree>
    <p:extLst>
      <p:ext uri="{BB962C8B-B14F-4D97-AF65-F5344CB8AC3E}">
        <p14:creationId xmlns:p14="http://schemas.microsoft.com/office/powerpoint/2010/main" val="52622128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D3492D-8C44-46DD-8C1B-0BD3C4E8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2390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The numeric result is stronger on training than heldout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A9F654F-ECF2-4569-B4C4-7BB5740D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23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Training-split validation carries the quantitative weight. Heldout supports a modest generalization claim.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5F51615B-5B90-4878-8ED8-0A74699BB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14350"/>
            <a:ext cx="92202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table-cell-0-0">
            <a:extLst xmlns:a="http://schemas.openxmlformats.org/drawingml/2006/main">
              <a:ext uri="{FF2B5EF4-FFF2-40B4-BE49-F238E27FC236}">
                <a16:creationId xmlns:a16="http://schemas.microsoft.com/office/drawing/2014/main" id="{D871B340-4557-4BEA-BAD1-39E4EAFD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Surface</a:t>
            </a:r>
          </a:p>
        </p:txBody>
      </p:sp>
      <p:sp>
        <p:nvSpPr>
          <p:cNvPr id="5" name="table-cell-0-1">
            <a:extLst xmlns:a="http://schemas.openxmlformats.org/drawingml/2006/main">
              <a:ext uri="{FF2B5EF4-FFF2-40B4-BE49-F238E27FC236}">
                <a16:creationId xmlns:a16="http://schemas.microsoft.com/office/drawing/2014/main" id="{5A0DCF1A-FE05-4BD4-BA0C-00FFD816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146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MoP-V1</a:t>
            </a:r>
          </a:p>
        </p:txBody>
      </p:sp>
      <p:sp>
        <p:nvSpPr>
          <p:cNvPr id="6" name="table-cell-0-2">
            <a:extLst xmlns:a="http://schemas.openxmlformats.org/drawingml/2006/main">
              <a:ext uri="{FF2B5EF4-FFF2-40B4-BE49-F238E27FC236}">
                <a16:creationId xmlns:a16="http://schemas.microsoft.com/office/drawing/2014/main" id="{092C0BF4-3746-47AF-B996-9BAA3BCA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5146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MoP-V2</a:t>
            </a:r>
          </a:p>
        </p:txBody>
      </p:sp>
      <p:sp>
        <p:nvSpPr>
          <p:cNvPr id="7" name="table-cell-0-3">
            <a:extLst xmlns:a="http://schemas.openxmlformats.org/drawingml/2006/main">
              <a:ext uri="{FF2B5EF4-FFF2-40B4-BE49-F238E27FC236}">
                <a16:creationId xmlns:a16="http://schemas.microsoft.com/office/drawing/2014/main" id="{84033753-E2CB-43C0-A77F-0B600377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1460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Best expert</a:t>
            </a:r>
          </a:p>
        </p:txBody>
      </p:sp>
      <p:sp>
        <p:nvSpPr>
          <p:cNvPr id="8" name="table-cell-1-0">
            <a:extLst xmlns:a="http://schemas.openxmlformats.org/drawingml/2006/main">
              <a:ext uri="{FF2B5EF4-FFF2-40B4-BE49-F238E27FC236}">
                <a16:creationId xmlns:a16="http://schemas.microsoft.com/office/drawing/2014/main" id="{5941F71B-F1C1-4120-81FE-11EA76C7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13-trace speedup</a:t>
            </a:r>
          </a:p>
        </p:txBody>
      </p:sp>
      <p:sp>
        <p:nvSpPr>
          <p:cNvPr id="9" name="table-cell-1-1">
            <a:extLst xmlns:a="http://schemas.openxmlformats.org/drawingml/2006/main">
              <a:ext uri="{FF2B5EF4-FFF2-40B4-BE49-F238E27FC236}">
                <a16:creationId xmlns:a16="http://schemas.microsoft.com/office/drawing/2014/main" id="{64552D58-4969-4578-91D0-5052D26C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8194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1.048x</a:t>
            </a:r>
          </a:p>
        </p:txBody>
      </p:sp>
      <p:sp>
        <p:nvSpPr>
          <p:cNvPr id="10" name="table-cell-1-2">
            <a:extLst xmlns:a="http://schemas.openxmlformats.org/drawingml/2006/main">
              <a:ext uri="{FF2B5EF4-FFF2-40B4-BE49-F238E27FC236}">
                <a16:creationId xmlns:a16="http://schemas.microsoft.com/office/drawing/2014/main" id="{B4FB61FA-1FC2-4040-B8E0-91557C68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194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1.066x</a:t>
            </a:r>
          </a:p>
        </p:txBody>
      </p:sp>
      <p:sp>
        <p:nvSpPr>
          <p:cNvPr id="11" name="table-cell-1-3">
            <a:extLst xmlns:a="http://schemas.openxmlformats.org/drawingml/2006/main">
              <a:ext uri="{FF2B5EF4-FFF2-40B4-BE49-F238E27FC236}">
                <a16:creationId xmlns:a16="http://schemas.microsoft.com/office/drawing/2014/main" id="{64FDB3BE-D363-48F7-95A1-F758D435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1940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1.085x</a:t>
            </a:r>
          </a:p>
        </p:txBody>
      </p:sp>
      <p:sp>
        <p:nvSpPr>
          <p:cNvPr id="12" name="table-cell-2-0">
            <a:extLst xmlns:a="http://schemas.openxmlformats.org/drawingml/2006/main">
              <a:ext uri="{FF2B5EF4-FFF2-40B4-BE49-F238E27FC236}">
                <a16:creationId xmlns:a16="http://schemas.microsoft.com/office/drawing/2014/main" id="{A72EE4AE-AC8B-4F7F-880F-C38B3721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13-trace % best</a:t>
            </a:r>
          </a:p>
        </p:txBody>
      </p:sp>
      <p:sp>
        <p:nvSpPr>
          <p:cNvPr id="13" name="table-cell-2-1">
            <a:extLst xmlns:a="http://schemas.openxmlformats.org/drawingml/2006/main">
              <a:ext uri="{FF2B5EF4-FFF2-40B4-BE49-F238E27FC236}">
                <a16:creationId xmlns:a16="http://schemas.microsoft.com/office/drawing/2014/main" id="{B43144A4-BE2F-4D11-A242-A5845873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432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96.5%</a:t>
            </a:r>
          </a:p>
        </p:txBody>
      </p:sp>
      <p:sp>
        <p:nvSpPr>
          <p:cNvPr id="14" name="table-cell-2-2">
            <a:extLst xmlns:a="http://schemas.openxmlformats.org/drawingml/2006/main">
              <a:ext uri="{FF2B5EF4-FFF2-40B4-BE49-F238E27FC236}">
                <a16:creationId xmlns:a16="http://schemas.microsoft.com/office/drawing/2014/main" id="{6EE6C936-9AF7-468D-BB8C-DADE0C97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1432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98.3%</a:t>
            </a:r>
          </a:p>
        </p:txBody>
      </p:sp>
      <p:sp>
        <p:nvSpPr>
          <p:cNvPr id="15" name="table-cell-2-3">
            <a:extLst xmlns:a="http://schemas.openxmlformats.org/drawingml/2006/main">
              <a:ext uri="{FF2B5EF4-FFF2-40B4-BE49-F238E27FC236}">
                <a16:creationId xmlns:a16="http://schemas.microsoft.com/office/drawing/2014/main" id="{99F204DA-9DCC-4893-BA8B-EA81807A7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4325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16" name="table-cell-3-0">
            <a:extLst xmlns:a="http://schemas.openxmlformats.org/drawingml/2006/main">
              <a:ext uri="{FF2B5EF4-FFF2-40B4-BE49-F238E27FC236}">
                <a16:creationId xmlns:a16="http://schemas.microsoft.com/office/drawing/2014/main" id="{AC2F94E5-D215-4F75-B1A7-BA88176A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Beats worse expert</a:t>
            </a:r>
          </a:p>
        </p:txBody>
      </p:sp>
      <p:sp>
        <p:nvSpPr>
          <p:cNvPr id="17" name="table-cell-3-1">
            <a:extLst xmlns:a="http://schemas.openxmlformats.org/drawingml/2006/main">
              <a:ext uri="{FF2B5EF4-FFF2-40B4-BE49-F238E27FC236}">
                <a16:creationId xmlns:a16="http://schemas.microsoft.com/office/drawing/2014/main" id="{7C234CBA-15C7-46FE-85EC-D97060F9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4480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9/13</a:t>
            </a:r>
          </a:p>
        </p:txBody>
      </p:sp>
      <p:sp>
        <p:nvSpPr>
          <p:cNvPr id="18" name="table-cell-3-2">
            <a:extLst xmlns:a="http://schemas.openxmlformats.org/drawingml/2006/main">
              <a:ext uri="{FF2B5EF4-FFF2-40B4-BE49-F238E27FC236}">
                <a16:creationId xmlns:a16="http://schemas.microsoft.com/office/drawing/2014/main" id="{B6AE3985-71B2-4911-87ED-AF977FA0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480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11/13</a:t>
            </a:r>
          </a:p>
        </p:txBody>
      </p:sp>
      <p:sp>
        <p:nvSpPr>
          <p:cNvPr id="19" name="table-cell-3-3">
            <a:extLst xmlns:a="http://schemas.openxmlformats.org/drawingml/2006/main">
              <a:ext uri="{FF2B5EF4-FFF2-40B4-BE49-F238E27FC236}">
                <a16:creationId xmlns:a16="http://schemas.microsoft.com/office/drawing/2014/main" id="{BDF2880A-942F-4A17-8EF3-00A0C773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4805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table-cell-4-0">
            <a:extLst xmlns:a="http://schemas.openxmlformats.org/drawingml/2006/main">
              <a:ext uri="{FF2B5EF4-FFF2-40B4-BE49-F238E27FC236}">
                <a16:creationId xmlns:a16="http://schemas.microsoft.com/office/drawing/2014/main" id="{01A74FC8-E538-46ED-8A56-AC9AB6B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Below 95% best</a:t>
            </a:r>
          </a:p>
        </p:txBody>
      </p:sp>
      <p:sp>
        <p:nvSpPr>
          <p:cNvPr id="21" name="table-cell-4-1">
            <a:extLst xmlns:a="http://schemas.openxmlformats.org/drawingml/2006/main">
              <a:ext uri="{FF2B5EF4-FFF2-40B4-BE49-F238E27FC236}">
                <a16:creationId xmlns:a16="http://schemas.microsoft.com/office/drawing/2014/main" id="{DA5273F6-B2AE-46C4-8D9D-555D7125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7719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3/13</a:t>
            </a:r>
          </a:p>
        </p:txBody>
      </p:sp>
      <p:sp>
        <p:nvSpPr>
          <p:cNvPr id="22" name="table-cell-4-2">
            <a:extLst xmlns:a="http://schemas.openxmlformats.org/drawingml/2006/main">
              <a:ext uri="{FF2B5EF4-FFF2-40B4-BE49-F238E27FC236}">
                <a16:creationId xmlns:a16="http://schemas.microsoft.com/office/drawing/2014/main" id="{CC742F1B-0C59-4AE9-A656-F60CBD90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7719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2/13</a:t>
            </a:r>
          </a:p>
        </p:txBody>
      </p:sp>
      <p:sp>
        <p:nvSpPr>
          <p:cNvPr id="23" name="table-cell-4-3">
            <a:extLst xmlns:a="http://schemas.openxmlformats.org/drawingml/2006/main">
              <a:ext uri="{FF2B5EF4-FFF2-40B4-BE49-F238E27FC236}">
                <a16:creationId xmlns:a16="http://schemas.microsoft.com/office/drawing/2014/main" id="{A2CA0C56-B0F2-481E-80B0-6DD39971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7190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table-cell-5-0">
            <a:extLst xmlns:a="http://schemas.openxmlformats.org/drawingml/2006/main">
              <a:ext uri="{FF2B5EF4-FFF2-40B4-BE49-F238E27FC236}">
                <a16:creationId xmlns:a16="http://schemas.microsoft.com/office/drawing/2014/main" id="{B950C290-44D5-4267-8008-22E2ED8D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7-heldout speedup</a:t>
            </a:r>
          </a:p>
        </p:txBody>
      </p:sp>
      <p:sp>
        <p:nvSpPr>
          <p:cNvPr id="25" name="table-cell-5-1">
            <a:extLst xmlns:a="http://schemas.openxmlformats.org/drawingml/2006/main">
              <a:ext uri="{FF2B5EF4-FFF2-40B4-BE49-F238E27FC236}">
                <a16:creationId xmlns:a16="http://schemas.microsoft.com/office/drawing/2014/main" id="{747AFA6F-BC0B-4DE5-99FE-D5F0D49E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957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0.998x</a:t>
            </a:r>
          </a:p>
        </p:txBody>
      </p:sp>
      <p:sp>
        <p:nvSpPr>
          <p:cNvPr id="26" name="table-cell-5-2">
            <a:extLst xmlns:a="http://schemas.openxmlformats.org/drawingml/2006/main">
              <a:ext uri="{FF2B5EF4-FFF2-40B4-BE49-F238E27FC236}">
                <a16:creationId xmlns:a16="http://schemas.microsoft.com/office/drawing/2014/main" id="{57B37538-DA99-42DE-92C3-6FCB7E392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0957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1.003x</a:t>
            </a:r>
          </a:p>
        </p:txBody>
      </p:sp>
      <p:sp>
        <p:nvSpPr>
          <p:cNvPr id="27" name="table-cell-5-3">
            <a:extLst xmlns:a="http://schemas.openxmlformats.org/drawingml/2006/main">
              <a:ext uri="{FF2B5EF4-FFF2-40B4-BE49-F238E27FC236}">
                <a16:creationId xmlns:a16="http://schemas.microsoft.com/office/drawing/2014/main" id="{A0C4EFB9-039E-4332-BAC8-19EEA074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9575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1.024x</a:t>
            </a:r>
          </a:p>
        </p:txBody>
      </p:sp>
      <p:sp>
        <p:nvSpPr>
          <p:cNvPr id="28" name="table-cell-6-0">
            <a:extLst xmlns:a="http://schemas.openxmlformats.org/drawingml/2006/main">
              <a:ext uri="{FF2B5EF4-FFF2-40B4-BE49-F238E27FC236}">
                <a16:creationId xmlns:a16="http://schemas.microsoft.com/office/drawing/2014/main" id="{25A16DBA-479F-423A-BBBD-853DBE51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7-heldout % best</a:t>
            </a:r>
          </a:p>
        </p:txBody>
      </p:sp>
      <p:sp>
        <p:nvSpPr>
          <p:cNvPr id="29" name="table-cell-6-1">
            <a:extLst xmlns:a="http://schemas.openxmlformats.org/drawingml/2006/main">
              <a:ext uri="{FF2B5EF4-FFF2-40B4-BE49-F238E27FC236}">
                <a16:creationId xmlns:a16="http://schemas.microsoft.com/office/drawing/2014/main" id="{D9041AB9-4A6D-48B7-B403-481D7396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4005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97.6%</a:t>
            </a:r>
          </a:p>
        </p:txBody>
      </p:sp>
      <p:sp>
        <p:nvSpPr>
          <p:cNvPr id="30" name="table-cell-6-2">
            <a:extLst xmlns:a="http://schemas.openxmlformats.org/drawingml/2006/main">
              <a:ext uri="{FF2B5EF4-FFF2-40B4-BE49-F238E27FC236}">
                <a16:creationId xmlns:a16="http://schemas.microsoft.com/office/drawing/2014/main" id="{9C2ACD46-2573-43CE-9B00-BB6C865A4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4005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97.9%</a:t>
            </a:r>
          </a:p>
        </p:txBody>
      </p:sp>
      <p:sp>
        <p:nvSpPr>
          <p:cNvPr id="31" name="table-cell-6-3">
            <a:extLst xmlns:a="http://schemas.openxmlformats.org/drawingml/2006/main">
              <a:ext uri="{FF2B5EF4-FFF2-40B4-BE49-F238E27FC236}">
                <a16:creationId xmlns:a16="http://schemas.microsoft.com/office/drawing/2014/main" id="{78162BB3-C19E-4CBB-B123-30BF737D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40055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32" name="cycle-interpretation">
            <a:extLst xmlns:a="http://schemas.openxmlformats.org/drawingml/2006/main">
              <a:ext uri="{FF2B5EF4-FFF2-40B4-BE49-F238E27FC236}">
                <a16:creationId xmlns:a16="http://schemas.microsoft.com/office/drawing/2014/main" id="{A4C85464-2900-4C82-8EC4-E983D048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723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333333"/>
                </a:solidFill>
              </a:defRPr>
            </a:pPr>
            <a:r>
              <a:rPr sz="1575">
                <a:solidFill>
                  <a:srgbClr val="333333"/>
                </a:solidFill>
              </a:rPr>
              <a:t>The IPC movement is cycle movement under a fixed retired-instruction window: MoP-V2 has instruction-count ratio 1.000x on both final surfaces, with cycle-count ratio 0.938x on training-split validation and 0.997x on heldout.</a:t>
            </a:r>
          </a:p>
        </p:txBody>
      </p:sp>
      <p:pic>
        <p:nvPicPr>
          <p:cNvPr id="33" name="win-los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dc7e2ec6da4dfb"/>
          <a:stretch xmlns:a="http://schemas.openxmlformats.org/drawingml/2006/main"/>
        </p:blipFill>
        <p:spPr>
          <a:xfrm xmlns:a="http://schemas.openxmlformats.org/drawingml/2006/main">
            <a:off x="8385048" y="4199174"/>
            <a:ext cx="9217152" cy="3351692"/>
          </a:xfrm>
          <a:prstGeom xmlns:a="http://schemas.openxmlformats.org/drawingml/2006/main" prst="rect">
            <a:avLst/>
          </a:prstGeom>
        </p:spPr>
      </p:pic>
      <p:sp>
        <p:nvSpPr>
          <p:cNvPr id="34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EE38AC5C-1314-4A51-BE19-9723E5813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9334500"/>
            <a:ext cx="92202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The routing-behavior plot uses final run summaries to show selected-epoch share, budget share, and useful-prefetch share for MoP-V1 and MoP-V2.</a:t>
            </a:r>
          </a:p>
        </p:txBody>
      </p:sp>
    </p:spTree>
    <p:extLst>
      <p:ext uri="{BB962C8B-B14F-4D97-AF65-F5344CB8AC3E}">
        <p14:creationId xmlns:p14="http://schemas.microsoft.com/office/powerpoint/2010/main" val="176023457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DCF3BD-6DC0-4966-A200-FBBF213A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"/>
            <a:ext cx="170307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Heldout behavior is trace-specific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5A92373-279C-47D4-98A3-43CC57B3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7030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Within each heldout trace the profile order is Expert 1, Expert 2, MoP-V1, MoP-V2. The 1.000x line is disabled prefetching.</a:t>
            </a:r>
          </a:p>
        </p:txBody>
      </p:sp>
      <p:pic>
        <p:nvPicPr>
          <p:cNvPr id="3" name="heldout-profi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143dc0a7014f4c"/>
          <a:stretch xmlns:a="http://schemas.openxmlformats.org/drawingml/2006/main"/>
        </p:blipFill>
        <p:spPr>
          <a:xfrm xmlns:a="http://schemas.openxmlformats.org/drawingml/2006/main">
            <a:off x="1796527" y="1596390"/>
            <a:ext cx="14694946" cy="7806690"/>
          </a:xfrm>
          <a:prstGeom xmlns:a="http://schemas.openxmlformats.org/drawingml/2006/main" prst="rect">
            <a:avLst/>
          </a:prstGeom>
        </p:spPr>
      </p:pic>
      <p:sp>
        <p:nvSpPr>
          <p:cNvPr id="4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9217AC30-5708-4ABE-8B56-B51AF71F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82150"/>
            <a:ext cx="17030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The single experts share one blue hue with different opacity, MoP-V1 is orange, MoP-V2 is pink, and the black vertical line is disabled prefetching at 1.000x.</a:t>
            </a:r>
          </a:p>
        </p:txBody>
      </p:sp>
    </p:spTree>
    <p:extLst>
      <p:ext uri="{BB962C8B-B14F-4D97-AF65-F5344CB8AC3E}">
        <p14:creationId xmlns:p14="http://schemas.microsoft.com/office/powerpoint/2010/main" val="92209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59096C-D748-4C29-8470-11412B8F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94678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The expert pair gives routing something real to choose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885EFE9-0F2D-414B-BCE7-663A2EE2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94678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MLOP and SPP+PPF have different strengths across traces, so the router has a meaningful selection problem.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E0332470-6F93-4E5F-9366-3BA898C3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14350"/>
            <a:ext cx="70104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4" name="expert-profile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e4a51457ad4b60"/>
          <a:stretch xmlns:a="http://schemas.openxmlformats.org/drawingml/2006/main"/>
        </p:blipFill>
        <p:spPr>
          <a:xfrm xmlns:a="http://schemas.openxmlformats.org/drawingml/2006/main">
            <a:off x="666750" y="3358225"/>
            <a:ext cx="9474994" cy="5033590"/>
          </a:xfrm>
          <a:prstGeom xmlns:a="http://schemas.openxmlformats.org/drawingml/2006/main" prst="rect">
            <a:avLst/>
          </a:prstGeom>
        </p:spPr>
      </p:pic>
      <p:sp>
        <p:nvSpPr>
          <p:cNvPr id="5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1007CCC1-F006-4942-B605-F98E9669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0"/>
            <a:ext cx="94678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The heldout trace profile shows where MLOP, SPP+PPF, MoP-V1, and MoP-V2 land relative to disabled prefetching at 1.000x.</a:t>
            </a:r>
          </a:p>
        </p:txBody>
      </p:sp>
      <p:sp>
        <p:nvSpPr>
          <p:cNvPr id="6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E2683F7B-D9D5-42BD-B10A-E0723DC2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514600"/>
            <a:ext cx="70104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3F6FD1"/>
                </a:solidFill>
              </a:defRPr>
            </a:pPr>
            <a:r>
              <a:rPr sz="4650" b="1">
                <a:solidFill>
                  <a:srgbClr val="3F6FD1"/>
                </a:solidFill>
              </a:rPr>
              <a:t>1.024x</a:t>
            </a:r>
          </a:p>
        </p:txBody>
      </p:sp>
      <p:sp>
        <p:nvSpPr>
          <p:cNvPr id="7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B722D786-2B24-4105-8832-832AC844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95650"/>
            <a:ext cx="7010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SPP+PPF heldout geomean over disabled prefetching</a:t>
            </a:r>
          </a:p>
        </p:txBody>
      </p:sp>
      <p:sp>
        <p:nvSpPr>
          <p:cNvPr id="8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72D84D57-1309-4396-930E-71930071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733800"/>
            <a:ext cx="70104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E6100"/>
                </a:solidFill>
              </a:defRPr>
            </a:pPr>
            <a:r>
              <a:rPr sz="4350" b="1">
                <a:solidFill>
                  <a:srgbClr val="FE6100"/>
                </a:solidFill>
              </a:rPr>
              <a:t>0.974x</a:t>
            </a:r>
          </a:p>
        </p:txBody>
      </p:sp>
      <p:sp>
        <p:nvSpPr>
          <p:cNvPr id="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01E31A4F-C663-4EA3-B71D-E4618F99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476750"/>
            <a:ext cx="7010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MLOP heldout geomean over disabled prefetching</a:t>
            </a:r>
          </a:p>
        </p:txBody>
      </p:sp>
      <p:sp>
        <p:nvSpPr>
          <p:cNvPr id="10" name="best-expert-copy">
            <a:extLst xmlns:a="http://schemas.openxmlformats.org/drawingml/2006/main">
              <a:ext uri="{FF2B5EF4-FFF2-40B4-BE49-F238E27FC236}">
                <a16:creationId xmlns:a16="http://schemas.microsoft.com/office/drawing/2014/main" id="{B1A359EF-0DB6-4040-A886-F0B32ACC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914900"/>
            <a:ext cx="70104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The best-expert reference is computed per trace, then geomeaned. It is a reference curve for routing quality.</a:t>
            </a:r>
          </a:p>
        </p:txBody>
      </p:sp>
    </p:spTree>
    <p:extLst>
      <p:ext uri="{BB962C8B-B14F-4D97-AF65-F5344CB8AC3E}">
        <p14:creationId xmlns:p14="http://schemas.microsoft.com/office/powerpoint/2010/main" val="8690991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4049F4-E554-44A0-8E82-7DEECC689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64198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MoP-V2 clears the simple router baselines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CDE3B31-2463-498C-85BF-394F84E9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64198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WinnerTakeAll and OneShotFit are intentionally small baselines for the same expert pair.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F7C7F0AE-1F67-4BEA-BC6D-DCAC4EB0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14350"/>
            <a:ext cx="1003935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kv-key-0">
            <a:extLst xmlns:a="http://schemas.openxmlformats.org/drawingml/2006/main">
              <a:ext uri="{FF2B5EF4-FFF2-40B4-BE49-F238E27FC236}">
                <a16:creationId xmlns:a16="http://schemas.microsoft.com/office/drawing/2014/main" id="{6F391580-A752-4B7C-B932-F987FEE6D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22288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WinnerTakeAll</a:t>
            </a:r>
          </a:p>
        </p:txBody>
      </p:sp>
      <p:sp>
        <p:nvSpPr>
          <p:cNvPr id="5" name="kv-value-0">
            <a:extLst xmlns:a="http://schemas.openxmlformats.org/drawingml/2006/main">
              <a:ext uri="{FF2B5EF4-FFF2-40B4-BE49-F238E27FC236}">
                <a16:creationId xmlns:a16="http://schemas.microsoft.com/office/drawing/2014/main" id="{C5BD060F-612C-4778-9733-FDA809B4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14600"/>
            <a:ext cx="3981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Picks the expert with the stronger previous-epoch usefulness score.</a:t>
            </a:r>
          </a:p>
        </p:txBody>
      </p:sp>
      <p:sp>
        <p:nvSpPr>
          <p:cNvPr id="6" name="kv-key-1">
            <a:extLst xmlns:a="http://schemas.openxmlformats.org/drawingml/2006/main">
              <a:ext uri="{FF2B5EF4-FFF2-40B4-BE49-F238E27FC236}">
                <a16:creationId xmlns:a16="http://schemas.microsoft.com/office/drawing/2014/main" id="{D9B648E6-7C98-4DC3-931E-5FA6C101B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22288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OneShotFit</a:t>
            </a:r>
          </a:p>
        </p:txBody>
      </p:sp>
      <p:sp>
        <p:nvSpPr>
          <p:cNvPr id="7" name="kv-value-1">
            <a:extLst xmlns:a="http://schemas.openxmlformats.org/drawingml/2006/main">
              <a:ext uri="{FF2B5EF4-FFF2-40B4-BE49-F238E27FC236}">
                <a16:creationId xmlns:a16="http://schemas.microsoft.com/office/drawing/2014/main" id="{3803B17C-80F7-4868-8DEA-7E834456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124200"/>
            <a:ext cx="3981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Probes the experts once, then keeps the better early winner.</a:t>
            </a:r>
          </a:p>
        </p:txBody>
      </p:sp>
      <p:sp>
        <p:nvSpPr>
          <p:cNvPr id="8" name="kv-key-2">
            <a:extLst xmlns:a="http://schemas.openxmlformats.org/drawingml/2006/main">
              <a:ext uri="{FF2B5EF4-FFF2-40B4-BE49-F238E27FC236}">
                <a16:creationId xmlns:a16="http://schemas.microsoft.com/office/drawing/2014/main" id="{ACD6A5C6-66A8-44D5-A88A-258C449C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2850"/>
            <a:ext cx="22288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Athena MAB</a:t>
            </a:r>
          </a:p>
        </p:txBody>
      </p:sp>
      <p:sp>
        <p:nvSpPr>
          <p:cNvPr id="9" name="kv-value-2">
            <a:extLst xmlns:a="http://schemas.openxmlformats.org/drawingml/2006/main">
              <a:ext uri="{FF2B5EF4-FFF2-40B4-BE49-F238E27FC236}">
                <a16:creationId xmlns:a16="http://schemas.microsoft.com/office/drawing/2014/main" id="{4CC0D842-8F96-46F8-BF38-A83785AB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752850"/>
            <a:ext cx="3981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Athena's multi-armed-bandit router baseline for the same expert pair.</a:t>
            </a:r>
          </a:p>
        </p:txBody>
      </p:sp>
      <p:sp>
        <p:nvSpPr>
          <p:cNvPr id="10" name="table-cell-0-0">
            <a:extLst xmlns:a="http://schemas.openxmlformats.org/drawingml/2006/main">
              <a:ext uri="{FF2B5EF4-FFF2-40B4-BE49-F238E27FC236}">
                <a16:creationId xmlns:a16="http://schemas.microsoft.com/office/drawing/2014/main" id="{3820495D-BE62-48AD-8898-B29A4FAE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2914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13-trace method</a:t>
            </a:r>
          </a:p>
        </p:txBody>
      </p:sp>
      <p:sp>
        <p:nvSpPr>
          <p:cNvPr id="11" name="table-cell-0-1">
            <a:extLst xmlns:a="http://schemas.openxmlformats.org/drawingml/2006/main">
              <a:ext uri="{FF2B5EF4-FFF2-40B4-BE49-F238E27FC236}">
                <a16:creationId xmlns:a16="http://schemas.microsoft.com/office/drawing/2014/main" id="{AD9634D6-D838-4088-AC04-8A086893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438650"/>
            <a:ext cx="1638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Speedup</a:t>
            </a:r>
          </a:p>
        </p:txBody>
      </p:sp>
      <p:sp>
        <p:nvSpPr>
          <p:cNvPr id="12" name="table-cell-0-2">
            <a:extLst xmlns:a="http://schemas.openxmlformats.org/drawingml/2006/main">
              <a:ext uri="{FF2B5EF4-FFF2-40B4-BE49-F238E27FC236}">
                <a16:creationId xmlns:a16="http://schemas.microsoft.com/office/drawing/2014/main" id="{2B63D534-4080-4696-94A6-6029DC96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3865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% best</a:t>
            </a:r>
          </a:p>
        </p:txBody>
      </p:sp>
      <p:sp>
        <p:nvSpPr>
          <p:cNvPr id="13" name="table-cell-1-0">
            <a:extLst xmlns:a="http://schemas.openxmlformats.org/drawingml/2006/main">
              <a:ext uri="{FF2B5EF4-FFF2-40B4-BE49-F238E27FC236}">
                <a16:creationId xmlns:a16="http://schemas.microsoft.com/office/drawing/2014/main" id="{E00E1606-3318-4287-86C4-1ED54D9A0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2914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MoP-V2</a:t>
            </a:r>
          </a:p>
        </p:txBody>
      </p:sp>
      <p:sp>
        <p:nvSpPr>
          <p:cNvPr id="14" name="table-cell-1-1">
            <a:extLst xmlns:a="http://schemas.openxmlformats.org/drawingml/2006/main">
              <a:ext uri="{FF2B5EF4-FFF2-40B4-BE49-F238E27FC236}">
                <a16:creationId xmlns:a16="http://schemas.microsoft.com/office/drawing/2014/main" id="{851A6A13-EAD4-427F-B9B5-14BC9C21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762500"/>
            <a:ext cx="1638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1.066x</a:t>
            </a:r>
          </a:p>
        </p:txBody>
      </p:sp>
      <p:sp>
        <p:nvSpPr>
          <p:cNvPr id="15" name="table-cell-1-2">
            <a:extLst xmlns:a="http://schemas.openxmlformats.org/drawingml/2006/main">
              <a:ext uri="{FF2B5EF4-FFF2-40B4-BE49-F238E27FC236}">
                <a16:creationId xmlns:a16="http://schemas.microsoft.com/office/drawing/2014/main" id="{080E404E-CDAC-42FA-BE8B-508125B8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6250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98.3%</a:t>
            </a:r>
          </a:p>
        </p:txBody>
      </p:sp>
      <p:sp>
        <p:nvSpPr>
          <p:cNvPr id="16" name="table-cell-2-0">
            <a:extLst xmlns:a="http://schemas.openxmlformats.org/drawingml/2006/main">
              <a:ext uri="{FF2B5EF4-FFF2-40B4-BE49-F238E27FC236}">
                <a16:creationId xmlns:a16="http://schemas.microsoft.com/office/drawing/2014/main" id="{F502889E-75EF-40C1-987D-66ACB955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2914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WinnerTakeAll</a:t>
            </a:r>
          </a:p>
        </p:txBody>
      </p:sp>
      <p:sp>
        <p:nvSpPr>
          <p:cNvPr id="17" name="table-cell-2-1">
            <a:extLst xmlns:a="http://schemas.openxmlformats.org/drawingml/2006/main">
              <a:ext uri="{FF2B5EF4-FFF2-40B4-BE49-F238E27FC236}">
                <a16:creationId xmlns:a16="http://schemas.microsoft.com/office/drawing/2014/main" id="{1B93D664-A5EA-442E-AC80-8AC8672A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086350"/>
            <a:ext cx="1638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1.025x</a:t>
            </a:r>
          </a:p>
        </p:txBody>
      </p:sp>
      <p:sp>
        <p:nvSpPr>
          <p:cNvPr id="18" name="table-cell-2-2">
            <a:extLst xmlns:a="http://schemas.openxmlformats.org/drawingml/2006/main">
              <a:ext uri="{FF2B5EF4-FFF2-40B4-BE49-F238E27FC236}">
                <a16:creationId xmlns:a16="http://schemas.microsoft.com/office/drawing/2014/main" id="{6CE654C7-1008-4B06-B4C5-3CAEFECC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08635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94.3%</a:t>
            </a:r>
          </a:p>
        </p:txBody>
      </p:sp>
      <p:sp>
        <p:nvSpPr>
          <p:cNvPr id="19" name="table-cell-3-0">
            <a:extLst xmlns:a="http://schemas.openxmlformats.org/drawingml/2006/main">
              <a:ext uri="{FF2B5EF4-FFF2-40B4-BE49-F238E27FC236}">
                <a16:creationId xmlns:a16="http://schemas.microsoft.com/office/drawing/2014/main" id="{3D83B420-2A3F-4E0E-BC72-0C2B6622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2914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OneShotFit</a:t>
            </a:r>
          </a:p>
        </p:txBody>
      </p:sp>
      <p:sp>
        <p:nvSpPr>
          <p:cNvPr id="20" name="table-cell-3-1">
            <a:extLst xmlns:a="http://schemas.openxmlformats.org/drawingml/2006/main">
              <a:ext uri="{FF2B5EF4-FFF2-40B4-BE49-F238E27FC236}">
                <a16:creationId xmlns:a16="http://schemas.microsoft.com/office/drawing/2014/main" id="{A3758897-87C5-432D-8C1D-87BBBB3D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391150"/>
            <a:ext cx="1638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1.027x</a:t>
            </a:r>
          </a:p>
        </p:txBody>
      </p:sp>
      <p:sp>
        <p:nvSpPr>
          <p:cNvPr id="21" name="table-cell-3-2">
            <a:extLst xmlns:a="http://schemas.openxmlformats.org/drawingml/2006/main">
              <a:ext uri="{FF2B5EF4-FFF2-40B4-BE49-F238E27FC236}">
                <a16:creationId xmlns:a16="http://schemas.microsoft.com/office/drawing/2014/main" id="{42EE3595-E432-48DF-8992-4DE81C2F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39115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94.3%</a:t>
            </a:r>
          </a:p>
        </p:txBody>
      </p:sp>
      <p:sp>
        <p:nvSpPr>
          <p:cNvPr id="22" name="table-cell-4-0">
            <a:extLst xmlns:a="http://schemas.openxmlformats.org/drawingml/2006/main">
              <a:ext uri="{FF2B5EF4-FFF2-40B4-BE49-F238E27FC236}">
                <a16:creationId xmlns:a16="http://schemas.microsoft.com/office/drawing/2014/main" id="{A3B872DA-DA80-4846-8F10-C05B6925B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15000"/>
            <a:ext cx="2914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Athena MAB</a:t>
            </a:r>
          </a:p>
        </p:txBody>
      </p:sp>
      <p:sp>
        <p:nvSpPr>
          <p:cNvPr id="23" name="table-cell-4-1">
            <a:extLst xmlns:a="http://schemas.openxmlformats.org/drawingml/2006/main">
              <a:ext uri="{FF2B5EF4-FFF2-40B4-BE49-F238E27FC236}">
                <a16:creationId xmlns:a16="http://schemas.microsoft.com/office/drawing/2014/main" id="{8DFA518B-672A-40DE-881A-BDCEF808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715000"/>
            <a:ext cx="1638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1.021x</a:t>
            </a:r>
          </a:p>
        </p:txBody>
      </p:sp>
      <p:sp>
        <p:nvSpPr>
          <p:cNvPr id="24" name="table-cell-4-2">
            <a:extLst xmlns:a="http://schemas.openxmlformats.org/drawingml/2006/main">
              <a:ext uri="{FF2B5EF4-FFF2-40B4-BE49-F238E27FC236}">
                <a16:creationId xmlns:a16="http://schemas.microsoft.com/office/drawing/2014/main" id="{322F8444-C8CA-48B3-B933-5C5B9C53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71500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94.2%</a:t>
            </a:r>
          </a:p>
        </p:txBody>
      </p:sp>
      <p:pic>
        <p:nvPicPr>
          <p:cNvPr id="25" name="router-criterio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cb49e8da7415f"/>
          <a:stretch xmlns:a="http://schemas.openxmlformats.org/drawingml/2006/main"/>
        </p:blipFill>
        <p:spPr>
          <a:xfrm xmlns:a="http://schemas.openxmlformats.org/drawingml/2006/main">
            <a:off x="7581138" y="3465393"/>
            <a:ext cx="10040112" cy="4819254"/>
          </a:xfrm>
          <a:prstGeom xmlns:a="http://schemas.openxmlformats.org/drawingml/2006/main" prst="rect">
            <a:avLst/>
          </a:prstGeom>
        </p:spPr>
      </p:pic>
      <p:sp>
        <p:nvSpPr>
          <p:cNvPr id="26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BC7ABA40-37B5-4D1B-9D1A-5F171310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9334500"/>
            <a:ext cx="100393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MoP-V2 improves over MoP-V1 on the 13-trace validation surface, while the heldout effect is smaller and shown after policy selection.</a:t>
            </a:r>
          </a:p>
        </p:txBody>
      </p:sp>
    </p:spTree>
    <p:extLst>
      <p:ext uri="{BB962C8B-B14F-4D97-AF65-F5344CB8AC3E}">
        <p14:creationId xmlns:p14="http://schemas.microsoft.com/office/powerpoint/2010/main" val="47305067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2AF3980-1A09-458A-BB76-BF6B7E6E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9753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OpenEvolve found close candidates across models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EEDF2E6-3CC4-404A-A576-7EFAF62F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33550"/>
            <a:ext cx="97536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Quick-evaluation winners were similar, then wider validation and 13-trace confirmation selected MoP-V2.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381A201B-A642-4C18-BAEB-7EFE9CB6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95300"/>
            <a:ext cx="67818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4" name="scale-mode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3850509f6e4535"/>
          <a:stretch xmlns:a="http://schemas.openxmlformats.org/drawingml/2006/main"/>
        </p:blipFill>
        <p:spPr>
          <a:xfrm xmlns:a="http://schemas.openxmlformats.org/drawingml/2006/main">
            <a:off x="647700" y="3436048"/>
            <a:ext cx="9755886" cy="4877943"/>
          </a:xfrm>
          <a:prstGeom xmlns:a="http://schemas.openxmlformats.org/drawingml/2006/main" prst="rect">
            <a:avLst/>
          </a:prstGeom>
        </p:spPr>
      </p:pic>
      <p:sp>
        <p:nvSpPr>
          <p:cNvPr id="5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48466E56-0D11-413C-B63B-5B1847FA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353550"/>
            <a:ext cx="97536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Faint points are quick-evaluation candidates. Dashed lines track the score-selected incumbent IPC, while solid lines track best IPC seen so far.</a:t>
            </a:r>
          </a:p>
        </p:txBody>
      </p:sp>
      <p:sp>
        <p:nvSpPr>
          <p:cNvPr id="6" name="table-cell-0-0">
            <a:extLst xmlns:a="http://schemas.openxmlformats.org/drawingml/2006/main">
              <a:ext uri="{FF2B5EF4-FFF2-40B4-BE49-F238E27FC236}">
                <a16:creationId xmlns:a16="http://schemas.microsoft.com/office/drawing/2014/main" id="{657C1B23-37FE-443F-BB32-64E49C74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95550"/>
            <a:ext cx="3124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F6FD1"/>
                </a:solidFill>
              </a:defRPr>
            </a:pPr>
            <a:r>
              <a:rPr sz="1650" b="1">
                <a:solidFill>
                  <a:srgbClr val="3F6FD1"/>
                </a:solidFill>
              </a:rPr>
              <a:t>Model</a:t>
            </a:r>
          </a:p>
        </p:txBody>
      </p:sp>
      <p:sp>
        <p:nvSpPr>
          <p:cNvPr id="7" name="table-cell-0-1">
            <a:extLst xmlns:a="http://schemas.openxmlformats.org/drawingml/2006/main">
              <a:ext uri="{FF2B5EF4-FFF2-40B4-BE49-F238E27FC236}">
                <a16:creationId xmlns:a16="http://schemas.microsoft.com/office/drawing/2014/main" id="{FC040AB5-251D-4C0A-9B7C-78803945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2495550"/>
            <a:ext cx="137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F6FD1"/>
                </a:solidFill>
              </a:defRPr>
            </a:pPr>
            <a:r>
              <a:rPr sz="1650" b="1">
                <a:solidFill>
                  <a:srgbClr val="3F6FD1"/>
                </a:solidFill>
              </a:rPr>
              <a:t>Iter</a:t>
            </a:r>
          </a:p>
        </p:txBody>
      </p:sp>
      <p:sp>
        <p:nvSpPr>
          <p:cNvPr id="8" name="table-cell-0-2">
            <a:extLst xmlns:a="http://schemas.openxmlformats.org/drawingml/2006/main">
              <a:ext uri="{FF2B5EF4-FFF2-40B4-BE49-F238E27FC236}">
                <a16:creationId xmlns:a16="http://schemas.microsoft.com/office/drawing/2014/main" id="{23C3A31D-80B8-44F6-9CDA-B1755BBF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2495550"/>
            <a:ext cx="1943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F6FD1"/>
                </a:solidFill>
              </a:defRPr>
            </a:pPr>
            <a:r>
              <a:rPr sz="1650" b="1">
                <a:solidFill>
                  <a:srgbClr val="3F6FD1"/>
                </a:solidFill>
              </a:rPr>
              <a:t>Wide val</a:t>
            </a:r>
          </a:p>
        </p:txBody>
      </p:sp>
      <p:sp>
        <p:nvSpPr>
          <p:cNvPr id="9" name="table-cell-1-0">
            <a:extLst xmlns:a="http://schemas.openxmlformats.org/drawingml/2006/main">
              <a:ext uri="{FF2B5EF4-FFF2-40B4-BE49-F238E27FC236}">
                <a16:creationId xmlns:a16="http://schemas.microsoft.com/office/drawing/2014/main" id="{77AE95D2-173F-468F-9735-74EB5C40C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19400"/>
            <a:ext cx="3124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GPT-5 mini</a:t>
            </a:r>
          </a:p>
        </p:txBody>
      </p:sp>
      <p:sp>
        <p:nvSpPr>
          <p:cNvPr id="10" name="table-cell-1-1">
            <a:extLst xmlns:a="http://schemas.openxmlformats.org/drawingml/2006/main">
              <a:ext uri="{FF2B5EF4-FFF2-40B4-BE49-F238E27FC236}">
                <a16:creationId xmlns:a16="http://schemas.microsoft.com/office/drawing/2014/main" id="{AC835CF0-B4F7-469C-A3A7-B3A23632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2819400"/>
            <a:ext cx="137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80</a:t>
            </a:r>
          </a:p>
        </p:txBody>
      </p:sp>
      <p:sp>
        <p:nvSpPr>
          <p:cNvPr id="11" name="table-cell-1-2">
            <a:extLst xmlns:a="http://schemas.openxmlformats.org/drawingml/2006/main">
              <a:ext uri="{FF2B5EF4-FFF2-40B4-BE49-F238E27FC236}">
                <a16:creationId xmlns:a16="http://schemas.microsoft.com/office/drawing/2014/main" id="{6616D83D-5B77-47B4-9495-F6516B5E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2819400"/>
            <a:ext cx="1943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1.087x</a:t>
            </a:r>
          </a:p>
        </p:txBody>
      </p:sp>
      <p:sp>
        <p:nvSpPr>
          <p:cNvPr id="12" name="table-cell-2-0">
            <a:extLst xmlns:a="http://schemas.openxmlformats.org/drawingml/2006/main">
              <a:ext uri="{FF2B5EF4-FFF2-40B4-BE49-F238E27FC236}">
                <a16:creationId xmlns:a16="http://schemas.microsoft.com/office/drawing/2014/main" id="{F80E5B33-0CE3-4632-AD51-3BF1E666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143250"/>
            <a:ext cx="3124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GPT-5.4</a:t>
            </a:r>
          </a:p>
        </p:txBody>
      </p:sp>
      <p:sp>
        <p:nvSpPr>
          <p:cNvPr id="13" name="table-cell-2-1">
            <a:extLst xmlns:a="http://schemas.openxmlformats.org/drawingml/2006/main">
              <a:ext uri="{FF2B5EF4-FFF2-40B4-BE49-F238E27FC236}">
                <a16:creationId xmlns:a16="http://schemas.microsoft.com/office/drawing/2014/main" id="{87C09E45-34F9-417C-92FA-167F871F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3143250"/>
            <a:ext cx="137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80</a:t>
            </a:r>
          </a:p>
        </p:txBody>
      </p:sp>
      <p:sp>
        <p:nvSpPr>
          <p:cNvPr id="14" name="table-cell-2-2">
            <a:extLst xmlns:a="http://schemas.openxmlformats.org/drawingml/2006/main">
              <a:ext uri="{FF2B5EF4-FFF2-40B4-BE49-F238E27FC236}">
                <a16:creationId xmlns:a16="http://schemas.microsoft.com/office/drawing/2014/main" id="{B7F1F76E-265F-4534-816C-D9CD036B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143250"/>
            <a:ext cx="1943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1.088x</a:t>
            </a:r>
          </a:p>
        </p:txBody>
      </p:sp>
      <p:sp>
        <p:nvSpPr>
          <p:cNvPr id="15" name="table-cell-3-0">
            <a:extLst xmlns:a="http://schemas.openxmlformats.org/drawingml/2006/main">
              <a:ext uri="{FF2B5EF4-FFF2-40B4-BE49-F238E27FC236}">
                <a16:creationId xmlns:a16="http://schemas.microsoft.com/office/drawing/2014/main" id="{6F057978-978B-4B5E-B235-BE1A5A29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467100"/>
            <a:ext cx="3124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Sonnet 4.6</a:t>
            </a:r>
          </a:p>
        </p:txBody>
      </p:sp>
      <p:sp>
        <p:nvSpPr>
          <p:cNvPr id="16" name="table-cell-3-1">
            <a:extLst xmlns:a="http://schemas.openxmlformats.org/drawingml/2006/main">
              <a:ext uri="{FF2B5EF4-FFF2-40B4-BE49-F238E27FC236}">
                <a16:creationId xmlns:a16="http://schemas.microsoft.com/office/drawing/2014/main" id="{284ED8E2-78CD-4F7F-A3EC-78860836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3467100"/>
            <a:ext cx="137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17" name="table-cell-3-2">
            <a:extLst xmlns:a="http://schemas.openxmlformats.org/drawingml/2006/main">
              <a:ext uri="{FF2B5EF4-FFF2-40B4-BE49-F238E27FC236}">
                <a16:creationId xmlns:a16="http://schemas.microsoft.com/office/drawing/2014/main" id="{AEC8EBAD-2361-4466-BFB4-BAF8C5BF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467100"/>
            <a:ext cx="1943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1.087x</a:t>
            </a:r>
          </a:p>
        </p:txBody>
      </p:sp>
      <p:sp>
        <p:nvSpPr>
          <p:cNvPr id="18" name="selected-policy">
            <a:extLst xmlns:a="http://schemas.openxmlformats.org/drawingml/2006/main">
              <a:ext uri="{FF2B5EF4-FFF2-40B4-BE49-F238E27FC236}">
                <a16:creationId xmlns:a16="http://schemas.microsoft.com/office/drawing/2014/main" id="{DF588D8B-48B2-49C0-92FC-6267575C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905250"/>
            <a:ext cx="67818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3333"/>
                </a:solidFill>
              </a:defRPr>
            </a:pPr>
            <a:r>
              <a:rPr sz="1800">
                <a:solidFill>
                  <a:srgbClr val="333333"/>
                </a:solidFill>
              </a:rPr>
              <a:t>The selected policy reached 1.089x on the same 10-trace wider-validation surface, then 1.066x on the 13-trace training-split validation surface.</a:t>
            </a:r>
          </a:p>
        </p:txBody>
      </p:sp>
    </p:spTree>
    <p:extLst>
      <p:ext uri="{BB962C8B-B14F-4D97-AF65-F5344CB8AC3E}">
        <p14:creationId xmlns:p14="http://schemas.microsoft.com/office/powerpoint/2010/main" val="32340584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7AC78F1-969C-4E2B-8461-1321957D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6296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Routing behavior remained interpretable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A0B5627-FED5-4790-ADA7-398D8754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86296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MoP-V2 still acts like a compact epoch router, with observable action choices and budget behavior.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D5EBE15F-809D-4E56-AB8E-3E125C2A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33400"/>
            <a:ext cx="779145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4" name="action-distributio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cf29a245494475"/>
          <a:stretch xmlns:a="http://schemas.openxmlformats.org/drawingml/2006/main"/>
        </p:blipFill>
        <p:spPr>
          <a:xfrm xmlns:a="http://schemas.openxmlformats.org/drawingml/2006/main">
            <a:off x="685800" y="4307551"/>
            <a:ext cx="8621078" cy="3134937"/>
          </a:xfrm>
          <a:prstGeom xmlns:a="http://schemas.openxmlformats.org/drawingml/2006/main" prst="rect">
            <a:avLst/>
          </a:prstGeom>
        </p:spPr>
      </p:pic>
      <p:sp>
        <p:nvSpPr>
          <p:cNvPr id="5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5F187BDC-51F0-483A-A44C-0D09756D3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15450"/>
            <a:ext cx="86296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Final routing behavior stays interpretable: the plot shows how MoP-V1 and MoP-V2 allocate selected epochs, budget, and useful prefetches across the two experts.</a:t>
            </a:r>
          </a:p>
        </p:txBody>
      </p:sp>
      <p:sp>
        <p:nvSpPr>
          <p:cNvPr id="6" name="bullet-0">
            <a:extLst xmlns:a="http://schemas.openxmlformats.org/drawingml/2006/main">
              <a:ext uri="{FF2B5EF4-FFF2-40B4-BE49-F238E27FC236}">
                <a16:creationId xmlns:a16="http://schemas.microsoft.com/office/drawing/2014/main" id="{6B25FFB9-81A4-49C3-A81D-8DC38066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533650"/>
            <a:ext cx="77914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The router can choose MLOP, SPP+PPF, both, or the off action at epoch boundaries.</a:t>
            </a:r>
          </a:p>
        </p:txBody>
      </p:sp>
      <p:sp>
        <p:nvSpPr>
          <p:cNvPr id="7" name="bullet-1">
            <a:extLst xmlns:a="http://schemas.openxmlformats.org/drawingml/2006/main">
              <a:ext uri="{FF2B5EF4-FFF2-40B4-BE49-F238E27FC236}">
                <a16:creationId xmlns:a16="http://schemas.microsoft.com/office/drawing/2014/main" id="{FD36B630-5DF4-48E1-BEE5-8609C8B9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276600"/>
            <a:ext cx="77914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The selected budget and score weights shape these choices without changing simulator internals.</a:t>
            </a:r>
          </a:p>
        </p:txBody>
      </p:sp>
      <p:sp>
        <p:nvSpPr>
          <p:cNvPr id="8" name="bullet-2">
            <a:extLst xmlns:a="http://schemas.openxmlformats.org/drawingml/2006/main">
              <a:ext uri="{FF2B5EF4-FFF2-40B4-BE49-F238E27FC236}">
                <a16:creationId xmlns:a16="http://schemas.microsoft.com/office/drawing/2014/main" id="{282B9D72-01AC-4F7E-A453-CAFD32B3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19550"/>
            <a:ext cx="77914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This keeps the final method inside a compact, auditable policy surface.</a:t>
            </a:r>
          </a:p>
        </p:txBody>
      </p:sp>
      <p:sp>
        <p:nvSpPr>
          <p:cNvPr id="9" name="logistics-pointer">
            <a:extLst xmlns:a="http://schemas.openxmlformats.org/drawingml/2006/main">
              <a:ext uri="{FF2B5EF4-FFF2-40B4-BE49-F238E27FC236}">
                <a16:creationId xmlns:a16="http://schemas.microsoft.com/office/drawing/2014/main" id="{C3586137-E3DA-4AC9-B554-EB8F1CB56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76800"/>
            <a:ext cx="7791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The report keeps raw implementation keys in writing_logistics.md so the main story can use public names.</a:t>
            </a:r>
          </a:p>
        </p:txBody>
      </p:sp>
    </p:spTree>
    <p:extLst>
      <p:ext uri="{BB962C8B-B14F-4D97-AF65-F5344CB8AC3E}">
        <p14:creationId xmlns:p14="http://schemas.microsoft.com/office/powerpoint/2010/main" val="90495627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0A41B2C-1DC1-4579-A52E-D0AB18C5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79819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Claim boundary and limitations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41F1CF6-05F8-4694-A37B-3C85FBDA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33500"/>
            <a:ext cx="79819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The final report makes a measured claim: strong training-split validation, small heldout lift, and transparent limits.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E7AC890A-589B-4910-8933-DB3001F8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66750"/>
            <a:ext cx="79819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A8EAF9B4-903F-42E4-ABBF-8FCA07CCB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798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C267F"/>
                </a:solidFill>
              </a:defRPr>
            </a:pPr>
            <a:r>
              <a:rPr sz="1350" b="1">
                <a:solidFill>
                  <a:srgbClr val="DC267F"/>
                </a:solidFill>
              </a:rPr>
              <a:t>CLAIMS</a:t>
            </a:r>
          </a:p>
        </p:txBody>
      </p:sp>
      <p:sp>
        <p:nvSpPr>
          <p:cNvPr id="5" name="bullet-0">
            <a:extLst xmlns:a="http://schemas.openxmlformats.org/drawingml/2006/main">
              <a:ext uri="{FF2B5EF4-FFF2-40B4-BE49-F238E27FC236}">
                <a16:creationId xmlns:a16="http://schemas.microsoft.com/office/drawing/2014/main" id="{FAECD08F-C36F-4E6C-9542-1E7070BA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MoP-V2 improves over MoP-V1 on the 13-trace training-split validation surface.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706EAAB6-9A22-40F1-8342-9DA281CA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MoP-V2 reaches 1.003x over disabled prefetching on seven heldout traces.</a:t>
            </a:r>
          </a:p>
        </p:txBody>
      </p:sp>
      <p:sp>
        <p:nvSpPr>
          <p:cNvPr id="7" name="bullet-2">
            <a:extLst xmlns:a="http://schemas.openxmlformats.org/drawingml/2006/main">
              <a:ext uri="{FF2B5EF4-FFF2-40B4-BE49-F238E27FC236}">
                <a16:creationId xmlns:a16="http://schemas.microsoft.com/office/drawing/2014/main" id="{616C1DA2-1F30-4304-9E7B-C7F3DDB0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Best expert remains a separate reference, with MoP-V2 reaching 97.9% of it on heldout.</a:t>
            </a:r>
          </a:p>
        </p:txBody>
      </p:sp>
      <p:sp>
        <p:nvSpPr>
          <p:cNvPr id="8" name="bullet-3">
            <a:extLst xmlns:a="http://schemas.openxmlformats.org/drawingml/2006/main">
              <a:ext uri="{FF2B5EF4-FFF2-40B4-BE49-F238E27FC236}">
                <a16:creationId xmlns:a16="http://schemas.microsoft.com/office/drawing/2014/main" id="{01AD8019-F2AE-4798-8088-3A2A3358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81550"/>
            <a:ext cx="79819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Instruction count stays fixed within simulator-rounding error.</a:t>
            </a:r>
          </a:p>
        </p:txBody>
      </p: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6E547FD1-2176-4DE2-9838-681367B9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90750"/>
            <a:ext cx="798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F6FD1"/>
                </a:solidFill>
              </a:defRPr>
            </a:pPr>
            <a:r>
              <a:rPr sz="1350" b="1">
                <a:solidFill>
                  <a:srgbClr val="3F6FD1"/>
                </a:solidFill>
              </a:rPr>
              <a:t>LIMITS AND REPRODUCTION</a:t>
            </a:r>
          </a:p>
        </p:txBody>
      </p:sp>
      <p:sp>
        <p:nvSpPr>
          <p:cNvPr id="10" name="bullet-0">
            <a:extLst xmlns:a="http://schemas.openxmlformats.org/drawingml/2006/main">
              <a:ext uri="{FF2B5EF4-FFF2-40B4-BE49-F238E27FC236}">
                <a16:creationId xmlns:a16="http://schemas.microsoft.com/office/drawing/2014/main" id="{A9719540-29EF-4F93-A0C5-27982429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9080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Seven heldout traces make the heldout result a sanity check with visible per-trace variation.</a:t>
            </a:r>
          </a:p>
        </p:txBody>
      </p:sp>
      <p:sp>
        <p:nvSpPr>
          <p:cNvPr id="11" name="bullet-1">
            <a:extLst xmlns:a="http://schemas.openxmlformats.org/drawingml/2006/main">
              <a:ext uri="{FF2B5EF4-FFF2-40B4-BE49-F238E27FC236}">
                <a16:creationId xmlns:a16="http://schemas.microsoft.com/office/drawing/2014/main" id="{24B7074E-96B4-46C4-9743-AA03BE22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3375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secret_compute_fp_105 remains the largest heldout loss relative to best expert.</a:t>
            </a:r>
          </a:p>
        </p:txBody>
      </p:sp>
      <p:sp>
        <p:nvSpPr>
          <p:cNvPr id="12" name="bullet-2">
            <a:extLst xmlns:a="http://schemas.openxmlformats.org/drawingml/2006/main">
              <a:ext uri="{FF2B5EF4-FFF2-40B4-BE49-F238E27FC236}">
                <a16:creationId xmlns:a16="http://schemas.microsoft.com/office/drawing/2014/main" id="{66F5C54C-19A9-4838-9633-DF46F29A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5765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Malformed or out-of-contract OpenEvolve candidates stay in the ledger with failure scores.</a:t>
            </a:r>
          </a:p>
        </p:txBody>
      </p:sp>
      <p:sp>
        <p:nvSpPr>
          <p:cNvPr id="13" name="bullet-3">
            <a:extLst xmlns:a="http://schemas.openxmlformats.org/drawingml/2006/main">
              <a:ext uri="{FF2B5EF4-FFF2-40B4-BE49-F238E27FC236}">
                <a16:creationId xmlns:a16="http://schemas.microsoft.com/office/drawing/2014/main" id="{486E4F52-2381-4058-A5C6-D8209FC7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78155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Reproduction paths, naming map, and generated-file list live in report/writing_logistics.md.</a:t>
            </a:r>
          </a:p>
        </p:txBody>
      </p:sp>
    </p:spTree>
    <p:extLst>
      <p:ext uri="{BB962C8B-B14F-4D97-AF65-F5344CB8AC3E}">
        <p14:creationId xmlns:p14="http://schemas.microsoft.com/office/powerpoint/2010/main" val="4616641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2026-04-30T18:48:38.6520000Z</dcterms:created>
  <dcterms:modified xsi:type="dcterms:W3CDTF">2026-04-30T18:48:38.6520000Z</dcterms:modified>
</coreProperties>
</file>