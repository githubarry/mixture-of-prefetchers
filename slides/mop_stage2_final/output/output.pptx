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b9c44d24d74a37" /><Relationship Type="http://schemas.openxmlformats.org/officeDocument/2006/relationships/extended-properties" Target="/docProps/app.xml" Id="Rad47f406a9394bb0" /><Relationship Type="http://schemas.openxmlformats.org/officeDocument/2006/relationships/officeDocument" Target="/ppt/presentation.xml" Id="R45ef96825dd844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1995165eab4e63"/>
  </p:sldMasterIdLst>
  <p:notesMasterIdLst>
    <p:notesMasterId xmlns:r="http://schemas.openxmlformats.org/officeDocument/2006/relationships" r:id="R4c817baf35fd4cd2"/>
  </p:notesMasterIdLst>
  <p:sldIdLst>
    <p:sldId xmlns:r="http://schemas.openxmlformats.org/officeDocument/2006/relationships" id="256" r:id="R3666d678ab8d4ba1"/>
    <p:sldId xmlns:r="http://schemas.openxmlformats.org/officeDocument/2006/relationships" id="257" r:id="R12f8b41444c34741"/>
    <p:sldId xmlns:r="http://schemas.openxmlformats.org/officeDocument/2006/relationships" id="258" r:id="R205c14edb270449d"/>
    <p:sldId xmlns:r="http://schemas.openxmlformats.org/officeDocument/2006/relationships" id="259" r:id="Rb8b25cf309cd4bec"/>
    <p:sldId xmlns:r="http://schemas.openxmlformats.org/officeDocument/2006/relationships" id="260" r:id="R2077c79ef7ee4550"/>
    <p:sldId xmlns:r="http://schemas.openxmlformats.org/officeDocument/2006/relationships" id="261" r:id="Redca9f1dce6d4fb5"/>
    <p:sldId xmlns:r="http://schemas.openxmlformats.org/officeDocument/2006/relationships" id="262" r:id="Rdcfe4a7a2a0d412a"/>
    <p:sldId xmlns:r="http://schemas.openxmlformats.org/officeDocument/2006/relationships" id="263" r:id="R5f1c3f020e7d42f0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1995165eab4e63" /><Relationship Type="http://schemas.openxmlformats.org/officeDocument/2006/relationships/theme" Target="/ppt/theme/theme1.xml" Id="R874602416e2e4e52" /><Relationship Type="http://schemas.openxmlformats.org/officeDocument/2006/relationships/notesMaster" Target="/ppt/notesMasters/notesMaster1.xml" Id="R4c817baf35fd4cd2" /><Relationship Type="http://schemas.openxmlformats.org/officeDocument/2006/relationships/presProps" Target="/ppt/presProps.xml" Id="Ra1d8c9ac732a4304" /><Relationship Type="http://schemas.openxmlformats.org/officeDocument/2006/relationships/viewProps" Target="/ppt/viewProps.xml" Id="Rec2b2c41cb294c52" /><Relationship Type="http://schemas.openxmlformats.org/officeDocument/2006/relationships/tableStyles" Target="/ppt/tableStyles.xml" Id="R80b465403d2b4437" /><Relationship Type="http://schemas.openxmlformats.org/officeDocument/2006/relationships/slide" Target="/ppt/slides/slide1.xml" Id="R3666d678ab8d4ba1" /><Relationship Type="http://schemas.openxmlformats.org/officeDocument/2006/relationships/slide" Target="/ppt/slides/slide2.xml" Id="R12f8b41444c34741" /><Relationship Type="http://schemas.openxmlformats.org/officeDocument/2006/relationships/slide" Target="/ppt/slides/slide3.xml" Id="R205c14edb270449d" /><Relationship Type="http://schemas.openxmlformats.org/officeDocument/2006/relationships/slide" Target="/ppt/slides/slide4.xml" Id="Rb8b25cf309cd4bec" /><Relationship Type="http://schemas.openxmlformats.org/officeDocument/2006/relationships/slide" Target="/ppt/slides/slide5.xml" Id="R2077c79ef7ee4550" /><Relationship Type="http://schemas.openxmlformats.org/officeDocument/2006/relationships/slide" Target="/ppt/slides/slide6.xml" Id="Redca9f1dce6d4fb5" /><Relationship Type="http://schemas.openxmlformats.org/officeDocument/2006/relationships/slide" Target="/ppt/slides/slide7.xml" Id="Rdcfe4a7a2a0d412a" /><Relationship Type="http://schemas.openxmlformats.org/officeDocument/2006/relationships/slide" Target="/ppt/slides/slide8.xml" Id="R5f1c3f020e7d42f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c5c3722b87f43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d1433035eb4ed7" /><Relationship Type="http://schemas.openxmlformats.org/officeDocument/2006/relationships/notesMaster" Target="/ppt/notesMasters/notesMaster1.xml" Id="Rb4d338bc8ac046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31956153e64f09" /><Relationship Type="http://schemas.openxmlformats.org/officeDocument/2006/relationships/notesMaster" Target="/ppt/notesMasters/notesMaster1.xml" Id="R5a8d31a6ebb542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7ab52414254bec" /><Relationship Type="http://schemas.openxmlformats.org/officeDocument/2006/relationships/notesMaster" Target="/ppt/notesMasters/notesMaster1.xml" Id="Rfd80c23d20ca4f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ab7c5fc80c4175" /><Relationship Type="http://schemas.openxmlformats.org/officeDocument/2006/relationships/notesMaster" Target="/ppt/notesMasters/notesMaster1.xml" Id="R0cf8a8d8828f4a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fbf869412b0499b" /><Relationship Type="http://schemas.openxmlformats.org/officeDocument/2006/relationships/notesMaster" Target="/ppt/notesMasters/notesMaster1.xml" Id="R7ea49f85598842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f048dbfba1488b" /><Relationship Type="http://schemas.openxmlformats.org/officeDocument/2006/relationships/notesMaster" Target="/ppt/notesMasters/notesMaster1.xml" Id="R89b508ba527e44c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dff5642d2b4dd8" /><Relationship Type="http://schemas.openxmlformats.org/officeDocument/2006/relationships/notesMaster" Target="/ppt/notesMasters/notesMaster1.xml" Id="R04b046ef950a46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e2d40eddfb4eb2" /><Relationship Type="http://schemas.openxmlformats.org/officeDocument/2006/relationships/notesMaster" Target="/ppt/notesMasters/notesMaster1.xml" Id="R31e3fc715dcb45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57f0d597f2426b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330109770e64be9" /><Relationship Type="http://schemas.openxmlformats.org/officeDocument/2006/relationships/slideLayout" Target="/ppt/slideLayouts/slideLayout2.xml" Id="Rfbcb971495e246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cb971495e246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8540ba5ea0405f" /><Relationship Type="http://schemas.openxmlformats.org/officeDocument/2006/relationships/notesSlide" Target="/ppt/notesSlides/notesSlide1.xml" Id="R0e42be4728764e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ce8349b9d44686" /><Relationship Type="http://schemas.openxmlformats.org/officeDocument/2006/relationships/notesSlide" Target="/ppt/notesSlides/notesSlide2.xml" Id="Rd6a7d8a75b7d43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113b9d34e2414e" /><Relationship Type="http://schemas.openxmlformats.org/officeDocument/2006/relationships/notesSlide" Target="/ppt/notesSlides/notesSlide3.xml" Id="R46d454ab8ce34a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3ef89c912c44ce" /><Relationship Type="http://schemas.openxmlformats.org/officeDocument/2006/relationships/image" Target="/ppt/media/image.png" Id="Re068149242d14a02" /><Relationship Type="http://schemas.openxmlformats.org/officeDocument/2006/relationships/notesSlide" Target="/ppt/notesSlides/notesSlide4.xml" Id="Re8b80a6ee9b344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fa045981ab430a" /><Relationship Type="http://schemas.openxmlformats.org/officeDocument/2006/relationships/image" Target="/ppt/media/image2.png" Id="R3be4f65862c3444c" /><Relationship Type="http://schemas.openxmlformats.org/officeDocument/2006/relationships/notesSlide" Target="/ppt/notesSlides/notesSlide5.xml" Id="R24f95bd775f84e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407f8f8e3c4a47" /><Relationship Type="http://schemas.openxmlformats.org/officeDocument/2006/relationships/image" Target="/ppt/media/image3.png" Id="Rb70c3980effe44c1" /><Relationship Type="http://schemas.openxmlformats.org/officeDocument/2006/relationships/notesSlide" Target="/ppt/notesSlides/notesSlide6.xml" Id="Rf486fbf4c8bc4d0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8caf7f239048e9" /><Relationship Type="http://schemas.openxmlformats.org/officeDocument/2006/relationships/notesSlide" Target="/ppt/notesSlides/notesSlide7.xml" Id="Rd54d28b1753643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506c0fb0e845e1" /><Relationship Type="http://schemas.openxmlformats.org/officeDocument/2006/relationships/notesSlide" Target="/ppt/notesSlides/notesSlide8.xml" Id="Rcb8809de7cb246c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9DEEF6B-13BA-4401-8FAE-018B6114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00100"/>
            <a:ext cx="91630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000000"/>
                </a:solidFill>
              </a:defRPr>
            </a:pPr>
            <a:r>
              <a:rPr sz="5700" b="1">
                <a:solidFill>
                  <a:srgbClr val="000000"/>
                </a:solidFill>
              </a:rPr>
              <a:t>Mixture-of-Prefetchers</a:t>
            </a:r>
          </a:p>
        </p:txBody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26DBE35A-A6F7-4C8F-B87C-A49E6755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40A79FFA-C621-4FAE-A4F5-64ECDAD2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91630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000000"/>
                </a:solidFill>
              </a:defRPr>
            </a:pPr>
            <a:r>
              <a:rPr sz="2550">
                <a:solidFill>
                  <a:srgbClr val="000000"/>
                </a:solidFill>
              </a:rPr>
              <a:t>A small L2-cache router that improves IPC over disabled prefetching and tracks a best expert</a:t>
            </a:r>
          </a:p>
        </p:txBody>
      </p:sp>
      <p:sp>
        <p:nvSpPr>
          <p:cNvPr id="4" name="cover-metric-1">
            <a:extLst xmlns:a="http://schemas.openxmlformats.org/drawingml/2006/main">
              <a:ext uri="{FF2B5EF4-FFF2-40B4-BE49-F238E27FC236}">
                <a16:creationId xmlns:a16="http://schemas.microsoft.com/office/drawing/2014/main" id="{2B793557-ADDD-4CAC-A9E9-7FC3EB12B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001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DC267F"/>
                </a:solidFill>
              </a:defRPr>
            </a:pPr>
            <a:r>
              <a:rPr sz="5850" b="1">
                <a:solidFill>
                  <a:srgbClr val="DC267F"/>
                </a:solidFill>
              </a:rPr>
              <a:t>1.066x</a:t>
            </a:r>
          </a:p>
        </p:txBody>
      </p:sp>
      <p:sp>
        <p:nvSpPr>
          <p:cNvPr id="5" name="cover-label-1">
            <a:extLst xmlns:a="http://schemas.openxmlformats.org/drawingml/2006/main">
              <a:ext uri="{FF2B5EF4-FFF2-40B4-BE49-F238E27FC236}">
                <a16:creationId xmlns:a16="http://schemas.microsoft.com/office/drawing/2014/main" id="{4B479B6E-531D-4DBA-B2D4-E5566A4E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0383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13-trace training-split validation vs disabled prefetching</a:t>
            </a:r>
          </a:p>
        </p:txBody>
      </p:sp>
      <p:sp>
        <p:nvSpPr>
          <p:cNvPr id="6" name="cover-metric-2">
            <a:extLst xmlns:a="http://schemas.openxmlformats.org/drawingml/2006/main">
              <a:ext uri="{FF2B5EF4-FFF2-40B4-BE49-F238E27FC236}">
                <a16:creationId xmlns:a16="http://schemas.microsoft.com/office/drawing/2014/main" id="{DC59C764-CC20-4B76-9E49-ADD8D1A5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6670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648FFF"/>
                </a:solidFill>
              </a:defRPr>
            </a:pPr>
            <a:r>
              <a:rPr sz="5850" b="1">
                <a:solidFill>
                  <a:srgbClr val="648FFF"/>
                </a:solidFill>
              </a:rPr>
              <a:t>1.003x</a:t>
            </a:r>
          </a:p>
        </p:txBody>
      </p:sp>
      <p:sp>
        <p:nvSpPr>
          <p:cNvPr id="7" name="cover-label-2">
            <a:extLst xmlns:a="http://schemas.openxmlformats.org/drawingml/2006/main">
              <a:ext uri="{FF2B5EF4-FFF2-40B4-BE49-F238E27FC236}">
                <a16:creationId xmlns:a16="http://schemas.microsoft.com/office/drawing/2014/main" id="{0C1B7047-F1CD-43A1-8CC4-EC7562E0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9052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7-trace heldout vs disabled prefetching</a:t>
            </a:r>
          </a:p>
        </p:txBody>
      </p:sp>
      <p:sp>
        <p:nvSpPr>
          <p:cNvPr id="8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082CB0C1-E1BE-4992-A02D-933BC29C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343900"/>
            <a:ext cx="164592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CMU 15-740 class project, OpenEvolve training-split report</a:t>
            </a:r>
          </a:p>
        </p:txBody>
      </p:sp>
    </p:spTree>
    <p:extLst>
      <p:ext uri="{BB962C8B-B14F-4D97-AF65-F5344CB8AC3E}">
        <p14:creationId xmlns:p14="http://schemas.microsoft.com/office/powerpoint/2010/main" val="17338070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AA1A503-C3BA-4155-B76C-E6673CEE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What we added to Athena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0168450-034C-44ED-B7C7-10906CA0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Athena is the simulator substrate. Our work is the router, sandboxed search, ledgers, and report pipeline.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6F899B2D-9753-45D9-A159-04DD1688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 substrate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77CAF496-DF6A-4359-A8E0-A38B8F36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ChampSim-derived simulator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ACCA5F22-E8E2-4F89-AFE9-A330C5BB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Existing L2C prefetchers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1E6496AD-661B-4FA7-AF5A-E1912CA4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AthenaMAB comparator</a:t>
            </a:r>
          </a:p>
        </p:txBody>
      </p:sp>
      <p:sp>
        <p:nvSpPr>
          <p:cNvPr id="7" name="bullet-0">
            <a:extLst xmlns:a="http://schemas.openxmlformats.org/drawingml/2006/main">
              <a:ext uri="{FF2B5EF4-FFF2-40B4-BE49-F238E27FC236}">
                <a16:creationId xmlns:a16="http://schemas.microsoft.com/office/drawing/2014/main" id="{28BD0B58-887E-414C-8639-7FAF1C17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router layer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2D2254D4-10A5-472F-A565-9EDD1C38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MoP-V1 manual router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F81ABEDC-26E1-4DD7-8BCF-EC1C23D2D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MoP-V2 OpenEvolve-tuned router</a:t>
            </a:r>
          </a:p>
        </p:txBody>
      </p:sp>
      <p:sp>
        <p:nvSpPr>
          <p:cNvPr id="10" name="bullet-3">
            <a:extLst xmlns:a="http://schemas.openxmlformats.org/drawingml/2006/main">
              <a:ext uri="{FF2B5EF4-FFF2-40B4-BE49-F238E27FC236}">
                <a16:creationId xmlns:a16="http://schemas.microsoft.com/office/drawing/2014/main" id="{124312DF-4E9F-4BEC-9367-1E96C44A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Epoch counters and budget controls</a:t>
            </a:r>
          </a:p>
        </p:txBody>
      </p:sp>
      <p:sp>
        <p:nvSpPr>
          <p:cNvPr id="11" name="bullet-0">
            <a:extLst xmlns:a="http://schemas.openxmlformats.org/drawingml/2006/main">
              <a:ext uri="{FF2B5EF4-FFF2-40B4-BE49-F238E27FC236}">
                <a16:creationId xmlns:a16="http://schemas.microsoft.com/office/drawing/2014/main" id="{EC9BD5B5-F007-4680-A1EF-6CB478AD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evidence layer</a:t>
            </a:r>
          </a:p>
        </p:txBody>
      </p:sp>
      <p:sp>
        <p:nvSpPr>
          <p:cNvPr id="12" name="bullet-1">
            <a:extLst xmlns:a="http://schemas.openxmlformats.org/drawingml/2006/main">
              <a:ext uri="{FF2B5EF4-FFF2-40B4-BE49-F238E27FC236}">
                <a16:creationId xmlns:a16="http://schemas.microsoft.com/office/drawing/2014/main" id="{0BFBDA2C-5DDA-4C45-A559-15EC8583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17 train traces, 7 heldout traces</a:t>
            </a:r>
          </a:p>
        </p:txBody>
      </p:sp>
      <p:sp>
        <p:nvSpPr>
          <p:cNvPr id="13" name="bullet-2">
            <a:extLst xmlns:a="http://schemas.openxmlformats.org/drawingml/2006/main">
              <a:ext uri="{FF2B5EF4-FFF2-40B4-BE49-F238E27FC236}">
                <a16:creationId xmlns:a16="http://schemas.microsoft.com/office/drawing/2014/main" id="{016AB3CA-69B5-4ED4-B18E-7F555FF8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OpenEvolve candidate ledger</a:t>
            </a:r>
          </a:p>
        </p:txBody>
      </p:sp>
      <p:sp>
        <p:nvSpPr>
          <p:cNvPr id="14" name="bullet-3">
            <a:extLst xmlns:a="http://schemas.openxmlformats.org/drawingml/2006/main">
              <a:ext uri="{FF2B5EF4-FFF2-40B4-BE49-F238E27FC236}">
                <a16:creationId xmlns:a16="http://schemas.microsoft.com/office/drawing/2014/main" id="{25037C7E-7165-411B-8C89-58823D08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Generated tables and figures</a:t>
            </a:r>
          </a:p>
        </p:txBody>
      </p:sp>
    </p:spTree>
    <p:extLst>
      <p:ext uri="{BB962C8B-B14F-4D97-AF65-F5344CB8AC3E}">
        <p14:creationId xmlns:p14="http://schemas.microsoft.com/office/powerpoint/2010/main" val="72138754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20AA21-A975-4BDE-A538-19D76BFC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Protocol: disabled prefetching is 1x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ED5B8A74-7891-45AF-A57F-13D4A6F3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1EFD14CD-13BE-4F26-8CEB-B8579AB6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Expert pair: MLOP + SPP+PPF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57392DA8-D4B4-4D04-BBDF-79439836E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Cache level: L2C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8BF04B73-0330-4F16-BAAA-99DE301C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Search: 10 training traces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344BBADF-8B7F-43DA-A291-5E22DBA5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Training-split validation: 13 local traces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11BD239B-F5D3-4BAB-B3B1-1EC3EFF3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Heldout: 7 traces after policy selection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0D2418F3-178B-4113-B7C9-B99591B0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77165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Performance baseline: disabled prefetching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4D62D812-5524-4EB1-AFAB-2741BFCB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4790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Best expert: max(MLOP, SPP+PPF) per trace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2EC7F772-DD90-444A-90E3-EFAD4EAD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4320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Minimum check: beat the worse prefetcher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0CDA19DF-6866-47BB-B7DA-7F9A03BF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1945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Simple routers: WinnerTakeAll, OneShotFit, AthenaMAB</a:t>
            </a:r>
          </a:p>
        </p:txBody>
      </p:sp>
      <p:sp>
        <p:nvSpPr>
          <p:cNvPr id="12" name="protocol-footer">
            <a:extLst xmlns:a="http://schemas.openxmlformats.org/drawingml/2006/main">
              <a:ext uri="{FF2B5EF4-FFF2-40B4-BE49-F238E27FC236}">
                <a16:creationId xmlns:a16="http://schemas.microsoft.com/office/drawing/2014/main" id="{D8BDC782-DFD2-4711-AE41-18CE3562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The 13-trace training-split surface has complete local artifacts. The four other train traces are facesim, ligra_BFS, ligra_Triangle, and secret_compute_int_243.</a:t>
            </a:r>
          </a:p>
        </p:txBody>
      </p:sp>
    </p:spTree>
    <p:extLst>
      <p:ext uri="{BB962C8B-B14F-4D97-AF65-F5344CB8AC3E}">
        <p14:creationId xmlns:p14="http://schemas.microsoft.com/office/powerpoint/2010/main" val="211082223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333E10E-CE7D-480E-BD02-6BD795F12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improved the router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7208B3F-F4F6-4C81-99A0-8126194A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Bars use disabled prefetching as 1x. Yellow marks show the per-trace best expert.</a:t>
            </a:r>
          </a:p>
        </p:txBody>
      </p:sp>
      <p:pic>
        <p:nvPicPr>
          <p:cNvPr id="3" name="pre-post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68149242d14a02"/>
          <a:stretch xmlns:a="http://schemas.openxmlformats.org/drawingml/2006/main"/>
        </p:blipFill>
        <p:spPr>
          <a:xfrm xmlns:a="http://schemas.openxmlformats.org/drawingml/2006/main">
            <a:off x="765969" y="1710690"/>
            <a:ext cx="16756063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8136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C2B67C-54F1-4EA8-B2D9-06684A00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Heldout shows a modest geomean lift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F0F1A16-2085-44DB-B8BA-7CE8B39E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Horizontal bars compare MLOP, SPP+PPF, MoP-V1, and MoP-V2 on each heldout trace.</a:t>
            </a:r>
          </a:p>
        </p:txBody>
      </p:sp>
      <p:pic>
        <p:nvPicPr>
          <p:cNvPr id="3" name="heldout-profi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4f65862c3444c"/>
          <a:stretch xmlns:a="http://schemas.openxmlformats.org/drawingml/2006/main"/>
        </p:blipFill>
        <p:spPr>
          <a:xfrm xmlns:a="http://schemas.openxmlformats.org/drawingml/2006/main">
            <a:off x="1574202" y="1710690"/>
            <a:ext cx="15139595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79077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CFC723F-C6C5-4011-A968-1DF83D5A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search trajectory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32162A7-1DBC-4F27-BE8B-4E6C94BA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Left: 3-trace quick evaluation. Right: 10-trace wider validation. Lines show best-so-far by weighted score.</a:t>
            </a:r>
          </a:p>
        </p:txBody>
      </p:sp>
      <p:pic>
        <p:nvPicPr>
          <p:cNvPr id="3" name="scale-mode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0c3980effe44c1"/>
          <a:stretch xmlns:a="http://schemas.openxmlformats.org/drawingml/2006/main"/>
        </p:blipFill>
        <p:spPr>
          <a:xfrm xmlns:a="http://schemas.openxmlformats.org/drawingml/2006/main">
            <a:off x="1101090" y="1710690"/>
            <a:ext cx="16085820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56143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91CF758-0DB8-4B70-9B83-D8B470E1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The evaluator made search auditable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332639B-43A3-478A-97A7-55B29974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Candidate programs changed a literal policy dictionary.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7F10E008-F259-4BEE-A483-C8EA3FDA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Allowed outputs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DC5848C1-C085-41C1-B651-8EB67A41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Router choice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8CF48609-8EEC-4D8A-8DAF-0A64BF3D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Budget split knobs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01D6B8C8-7E75-4E01-ABE4-FAB1EF199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Close-score tie margin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2FEE4246-1825-4A77-BEB6-E2FD345AE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Score weights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72A95794-68C6-4B58-BD12-962BCC1F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Recorded failures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49635023-7898-46F4-9D31-F607D88A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Simulator failures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5CE40898-110C-4CF7-95D5-5055B02A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Unknown policy keys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D9F8B00C-E04E-48C1-B6B8-DE596D70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Helper/import code</a:t>
            </a:r>
          </a:p>
        </p:txBody>
      </p:sp>
      <p:sp>
        <p:nvSpPr>
          <p:cNvPr id="12" name="bullet-4">
            <a:extLst xmlns:a="http://schemas.openxmlformats.org/drawingml/2006/main">
              <a:ext uri="{FF2B5EF4-FFF2-40B4-BE49-F238E27FC236}">
                <a16:creationId xmlns:a16="http://schemas.microsoft.com/office/drawing/2014/main" id="{1F02EA04-CE13-4E2B-9C93-191D8364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Missing evolve markers</a:t>
            </a:r>
          </a:p>
        </p:txBody>
      </p:sp>
      <p:sp>
        <p:nvSpPr>
          <p:cNvPr id="13" name="audit-footer">
            <a:extLst xmlns:a="http://schemas.openxmlformats.org/drawingml/2006/main">
              <a:ext uri="{FF2B5EF4-FFF2-40B4-BE49-F238E27FC236}">
                <a16:creationId xmlns:a16="http://schemas.microsoft.com/office/drawing/2014/main" id="{FB2F3119-2EE4-487F-8094-950C02A0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Ledger: 374 candidates, 306 valid scored rows, 68 fail-closed rows. Malformed or crashed candidates receive combined_score = -10.0.</a:t>
            </a:r>
          </a:p>
        </p:txBody>
      </p:sp>
    </p:spTree>
    <p:extLst>
      <p:ext uri="{BB962C8B-B14F-4D97-AF65-F5344CB8AC3E}">
        <p14:creationId xmlns:p14="http://schemas.microsoft.com/office/powerpoint/2010/main" val="74213231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A841057-EDAE-4C49-8B7B-86730BEC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Result scope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079429C8-B800-4FC1-9486-B11801020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4F72F931-CBAD-4024-BFCC-21B86082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Primary claim: OpenEvolve improves IPC speedup over disabled prefetching on 13 training-split validation traces.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1FF835D9-7ED4-4F29-95BF-FE2DAFF3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Heldout claim: the selected router reaches 1.003x over disabled prefetching on seven heldout traces.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A6E69C5C-F3EC-4F4C-9267-D07F313E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Instruction-count ratios round to 1.000x on training-split validation and heldout.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8DE98E72-F3B8-4419-B511-7C2FD80C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The best expert result stays as a separate reference, which keeps the claim sized correctly.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8D08EC7D-2BBB-49EF-B170-400A2BD4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Reproduction paths and naming details live in report/writing_logistics.md.</a:t>
            </a:r>
          </a:p>
        </p:txBody>
      </p:sp>
    </p:spTree>
    <p:extLst>
      <p:ext uri="{BB962C8B-B14F-4D97-AF65-F5344CB8AC3E}">
        <p14:creationId xmlns:p14="http://schemas.microsoft.com/office/powerpoint/2010/main" val="7068666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2026-04-30T14:01:55.0060000Z</dcterms:created>
  <dcterms:modified xsi:type="dcterms:W3CDTF">2026-04-30T14:01:55.0060000Z</dcterms:modified>
</coreProperties>
</file>