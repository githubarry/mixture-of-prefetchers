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d52aab82e94748" /><Relationship Type="http://schemas.openxmlformats.org/officeDocument/2006/relationships/extended-properties" Target="/docProps/app.xml" Id="R1bc2a307e87b49e4" /><Relationship Type="http://schemas.openxmlformats.org/officeDocument/2006/relationships/officeDocument" Target="/ppt/presentation.xml" Id="Rf04c5868dbab43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9c5a348cf647f4"/>
  </p:sldMasterIdLst>
  <p:notesMasterIdLst>
    <p:notesMasterId xmlns:r="http://schemas.openxmlformats.org/officeDocument/2006/relationships" r:id="R5b2f01b32cff48e4"/>
  </p:notesMasterIdLst>
  <p:sldIdLst>
    <p:sldId xmlns:r="http://schemas.openxmlformats.org/officeDocument/2006/relationships" id="256" r:id="Ra6bd4ff0ebe249a5"/>
    <p:sldId xmlns:r="http://schemas.openxmlformats.org/officeDocument/2006/relationships" id="257" r:id="R4fb02bd9fb73488b"/>
    <p:sldId xmlns:r="http://schemas.openxmlformats.org/officeDocument/2006/relationships" id="258" r:id="R448242f7b1e747d8"/>
    <p:sldId xmlns:r="http://schemas.openxmlformats.org/officeDocument/2006/relationships" id="259" r:id="Rf2ac3316ad874129"/>
    <p:sldId xmlns:r="http://schemas.openxmlformats.org/officeDocument/2006/relationships" id="260" r:id="R4be00a4e4f0f4fd0"/>
    <p:sldId xmlns:r="http://schemas.openxmlformats.org/officeDocument/2006/relationships" id="261" r:id="R2f60253a9037432c"/>
    <p:sldId xmlns:r="http://schemas.openxmlformats.org/officeDocument/2006/relationships" id="262" r:id="Rbcc686aeddb44d5d"/>
    <p:sldId xmlns:r="http://schemas.openxmlformats.org/officeDocument/2006/relationships" id="263" r:id="R744f41ca33054c90"/>
    <p:sldId xmlns:r="http://schemas.openxmlformats.org/officeDocument/2006/relationships" id="264" r:id="Ra603be8776ff476a"/>
    <p:sldId xmlns:r="http://schemas.openxmlformats.org/officeDocument/2006/relationships" id="265" r:id="R12ed040112494186"/>
    <p:sldId xmlns:r="http://schemas.openxmlformats.org/officeDocument/2006/relationships" id="266" r:id="Raea497c00bb94c2d"/>
    <p:sldId xmlns:r="http://schemas.openxmlformats.org/officeDocument/2006/relationships" id="267" r:id="Ree4b6b86adcc45c1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c5a348cf647f4" /><Relationship Type="http://schemas.openxmlformats.org/officeDocument/2006/relationships/theme" Target="/ppt/theme/theme1.xml" Id="Rbc3350bbacf4437f" /><Relationship Type="http://schemas.openxmlformats.org/officeDocument/2006/relationships/notesMaster" Target="/ppt/notesMasters/notesMaster1.xml" Id="R5b2f01b32cff48e4" /><Relationship Type="http://schemas.openxmlformats.org/officeDocument/2006/relationships/presProps" Target="/ppt/presProps.xml" Id="R79193ebd2f874041" /><Relationship Type="http://schemas.openxmlformats.org/officeDocument/2006/relationships/viewProps" Target="/ppt/viewProps.xml" Id="R85f29bb13e8b4bf7" /><Relationship Type="http://schemas.openxmlformats.org/officeDocument/2006/relationships/tableStyles" Target="/ppt/tableStyles.xml" Id="R680b35379d21412e" /><Relationship Type="http://schemas.openxmlformats.org/officeDocument/2006/relationships/slide" Target="/ppt/slides/slide1.xml" Id="Ra6bd4ff0ebe249a5" /><Relationship Type="http://schemas.openxmlformats.org/officeDocument/2006/relationships/slide" Target="/ppt/slides/slide2.xml" Id="R4fb02bd9fb73488b" /><Relationship Type="http://schemas.openxmlformats.org/officeDocument/2006/relationships/slide" Target="/ppt/slides/slide3.xml" Id="R448242f7b1e747d8" /><Relationship Type="http://schemas.openxmlformats.org/officeDocument/2006/relationships/slide" Target="/ppt/slides/slide4.xml" Id="Rf2ac3316ad874129" /><Relationship Type="http://schemas.openxmlformats.org/officeDocument/2006/relationships/slide" Target="/ppt/slides/slide5.xml" Id="R4be00a4e4f0f4fd0" /><Relationship Type="http://schemas.openxmlformats.org/officeDocument/2006/relationships/slide" Target="/ppt/slides/slide6.xml" Id="R2f60253a9037432c" /><Relationship Type="http://schemas.openxmlformats.org/officeDocument/2006/relationships/slide" Target="/ppt/slides/slide7.xml" Id="Rbcc686aeddb44d5d" /><Relationship Type="http://schemas.openxmlformats.org/officeDocument/2006/relationships/slide" Target="/ppt/slides/slide8.xml" Id="R744f41ca33054c90" /><Relationship Type="http://schemas.openxmlformats.org/officeDocument/2006/relationships/slide" Target="/ppt/slides/slide9.xml" Id="Ra603be8776ff476a" /><Relationship Type="http://schemas.openxmlformats.org/officeDocument/2006/relationships/slide" Target="/ppt/slides/slide10.xml" Id="R12ed040112494186" /><Relationship Type="http://schemas.openxmlformats.org/officeDocument/2006/relationships/slide" Target="/ppt/slides/slide11.xml" Id="Raea497c00bb94c2d" /><Relationship Type="http://schemas.openxmlformats.org/officeDocument/2006/relationships/slide" Target="/ppt/slides/slide12.xml" Id="Ree4b6b86adcc45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838a03abcf647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f6ee9f27d54d92" /><Relationship Type="http://schemas.openxmlformats.org/officeDocument/2006/relationships/notesMaster" Target="/ppt/notesMasters/notesMaster1.xml" Id="Rfaef9d8fad3746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c5af3d2202406b" /><Relationship Type="http://schemas.openxmlformats.org/officeDocument/2006/relationships/notesMaster" Target="/ppt/notesMasters/notesMaster1.xml" Id="R4323475070174d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8664d8072a4755" /><Relationship Type="http://schemas.openxmlformats.org/officeDocument/2006/relationships/notesMaster" Target="/ppt/notesMasters/notesMaster1.xml" Id="R9efca1421b584d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57b6574e3e49ec" /><Relationship Type="http://schemas.openxmlformats.org/officeDocument/2006/relationships/notesMaster" Target="/ppt/notesMasters/notesMaster1.xml" Id="Ra375aa92739d40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e90a1927a24f59" /><Relationship Type="http://schemas.openxmlformats.org/officeDocument/2006/relationships/notesMaster" Target="/ppt/notesMasters/notesMaster1.xml" Id="R68903bb9062a47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89a79a40a247e2" /><Relationship Type="http://schemas.openxmlformats.org/officeDocument/2006/relationships/notesMaster" Target="/ppt/notesMasters/notesMaster1.xml" Id="R0a28c40af7244f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bbe945e98b4e27" /><Relationship Type="http://schemas.openxmlformats.org/officeDocument/2006/relationships/notesMaster" Target="/ppt/notesMasters/notesMaster1.xml" Id="R23b9a5b5a3af48a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adf3bdbb394ff8" /><Relationship Type="http://schemas.openxmlformats.org/officeDocument/2006/relationships/notesMaster" Target="/ppt/notesMasters/notesMaster1.xml" Id="R22a055c525bb4b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b4116a288e4522" /><Relationship Type="http://schemas.openxmlformats.org/officeDocument/2006/relationships/notesMaster" Target="/ppt/notesMasters/notesMaster1.xml" Id="R9e450f1c86b742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89c914feb441d5" /><Relationship Type="http://schemas.openxmlformats.org/officeDocument/2006/relationships/notesMaster" Target="/ppt/notesMasters/notesMaster1.xml" Id="R506e61fa11ea4de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b2be7e5bf74903" /><Relationship Type="http://schemas.openxmlformats.org/officeDocument/2006/relationships/notesMaster" Target="/ppt/notesMasters/notesMaster1.xml" Id="R6017f0fec04749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dae66508384b2e" /><Relationship Type="http://schemas.openxmlformats.org/officeDocument/2006/relationships/notesMaster" Target="/ppt/notesMasters/notesMaster1.xml" Id="Rf854c63c070c4e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f595eadbe14c3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2e4137c7c3c4c18" /><Relationship Type="http://schemas.openxmlformats.org/officeDocument/2006/relationships/slideLayout" Target="/ppt/slideLayouts/slideLayout2.xml" Id="R19dc6f4e292043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dc6f4e292043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56357a9b20437a" /><Relationship Type="http://schemas.openxmlformats.org/officeDocument/2006/relationships/image" Target="/ppt/media/image.png" Id="R0692b4cf7f1f48ad" /><Relationship Type="http://schemas.openxmlformats.org/officeDocument/2006/relationships/image" Target="/ppt/media/image2.png" Id="R3ad0e8489d944964" /><Relationship Type="http://schemas.openxmlformats.org/officeDocument/2006/relationships/image" Target="/ppt/media/image3.png" Id="R7c89695777304e2d" /><Relationship Type="http://schemas.openxmlformats.org/officeDocument/2006/relationships/notesSlide" Target="/ppt/notesSlides/notesSlide1.xml" Id="Rd0132d03af584d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bb2d2d01a04198" /><Relationship Type="http://schemas.openxmlformats.org/officeDocument/2006/relationships/notesSlide" Target="/ppt/notesSlides/notesSlide2.xml" Id="Rf403e1532baf4e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1fca9b21ac42f7" /><Relationship Type="http://schemas.openxmlformats.org/officeDocument/2006/relationships/notesSlide" Target="/ppt/notesSlides/notesSlide3.xml" Id="Rf182dcdb2eaf4c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35d197b6514912" /><Relationship Type="http://schemas.openxmlformats.org/officeDocument/2006/relationships/notesSlide" Target="/ppt/notesSlides/notesSlide4.xml" Id="R201602bc264243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f425d092e54c67" /><Relationship Type="http://schemas.openxmlformats.org/officeDocument/2006/relationships/image" Target="/ppt/media/image4.png" Id="R5efe65c9057c4780" /><Relationship Type="http://schemas.openxmlformats.org/officeDocument/2006/relationships/notesSlide" Target="/ppt/notesSlides/notesSlide5.xml" Id="Rbca47f9e5f8e48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cf09fe33cd4937" /><Relationship Type="http://schemas.openxmlformats.org/officeDocument/2006/relationships/image" Target="/ppt/media/image5.png" Id="Rc7ac1eb2da404e9c" /><Relationship Type="http://schemas.openxmlformats.org/officeDocument/2006/relationships/notesSlide" Target="/ppt/notesSlides/notesSlide6.xml" Id="R7daa5170bd9647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41c21dd2f34830" /><Relationship Type="http://schemas.openxmlformats.org/officeDocument/2006/relationships/image" Target="/ppt/media/image6.png" Id="R3f51bdf512d347aa" /><Relationship Type="http://schemas.openxmlformats.org/officeDocument/2006/relationships/notesSlide" Target="/ppt/notesSlides/notesSlide7.xml" Id="R0db1e895f58d49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d02b20fdfe49cb" /><Relationship Type="http://schemas.openxmlformats.org/officeDocument/2006/relationships/image" Target="/ppt/media/image7.png" Id="R65422bc2a34c4382" /><Relationship Type="http://schemas.openxmlformats.org/officeDocument/2006/relationships/notesSlide" Target="/ppt/notesSlides/notesSlide8.xml" Id="R19cff8cf0bb84d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f65cca7208427b" /><Relationship Type="http://schemas.openxmlformats.org/officeDocument/2006/relationships/image" Target="/ppt/media/image8.png" Id="R3b9a09e56ed04ecb" /><Relationship Type="http://schemas.openxmlformats.org/officeDocument/2006/relationships/notesSlide" Target="/ppt/notesSlides/notesSlide9.xml" Id="Rac3fed0693664f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dfc02d2ba749d1" /><Relationship Type="http://schemas.openxmlformats.org/officeDocument/2006/relationships/image" Target="/ppt/media/image9.png" Id="Rbaa689c2df454e2f" /><Relationship Type="http://schemas.openxmlformats.org/officeDocument/2006/relationships/notesSlide" Target="/ppt/notesSlides/notesSlide10.xml" Id="R0a925c68e9ff49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09e36ed8ad4d55" /><Relationship Type="http://schemas.openxmlformats.org/officeDocument/2006/relationships/image" Target="/ppt/media/image10.png" Id="R9aeee24a389644df" /><Relationship Type="http://schemas.openxmlformats.org/officeDocument/2006/relationships/notesSlide" Target="/ppt/notesSlides/notesSlide11.xml" Id="Rdb75364938db46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e8247bc24346be" /><Relationship Type="http://schemas.openxmlformats.org/officeDocument/2006/relationships/notesSlide" Target="/ppt/notesSlides/notesSlide12.xml" Id="R313265d04f3940b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EDE0607-CB84-46C9-B18A-0237272E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9438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OPENEVOLVE-TUNED L2 CACHE PREFETCH ROUTING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C8615F8-93DF-490B-89CA-06FFD195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23950"/>
            <a:ext cx="79438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 of Prefetchers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2EDE80F9-A13E-44C7-ABE4-1BA50AB6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4381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4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161AF9BF-5CD8-445D-884B-3BEB06B0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79438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A compact router chooses between MLOP and SPP+PPF after each epoch, then OpenEvolve tunes the policy dictionary.</a:t>
            </a:r>
          </a:p>
        </p:txBody>
      </p:sp>
      <p:sp>
        <p:nvSpPr>
          <p:cNvPr id="5" name="cover-scope">
            <a:extLst xmlns:a="http://schemas.openxmlformats.org/drawingml/2006/main">
              <a:ext uri="{FF2B5EF4-FFF2-40B4-BE49-F238E27FC236}">
                <a16:creationId xmlns:a16="http://schemas.microsoft.com/office/drawing/2014/main" id="{DFB03E8D-5A5B-4314-8ABC-E92053E1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79438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Final claim size: strong 13-trace training-split validation result, modest heldout generalization over disabled prefetching.</a:t>
            </a:r>
          </a:p>
        </p:txBody>
      </p:sp>
      <p:pic>
        <p:nvPicPr>
          <p:cNvPr id="6" name="icon-rou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92b4cf7f1f48ad"/>
          <a:stretch xmlns:a="http://schemas.openxmlformats.org/drawingml/2006/main"/>
        </p:blipFill>
        <p:spPr>
          <a:xfrm xmlns:a="http://schemas.openxmlformats.org/drawingml/2006/main">
            <a:off x="9477375" y="66675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7" name="icon-heading-Route the next epoch">
            <a:extLst xmlns:a="http://schemas.openxmlformats.org/drawingml/2006/main">
              <a:ext uri="{FF2B5EF4-FFF2-40B4-BE49-F238E27FC236}">
                <a16:creationId xmlns:a16="http://schemas.microsoft.com/office/drawing/2014/main" id="{60DBDD91-B5CE-4CC6-AF45-03C4FA6A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6675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F6FD1"/>
                </a:solidFill>
              </a:defRPr>
            </a:pPr>
            <a:r>
              <a:rPr sz="1950" b="1">
                <a:solidFill>
                  <a:srgbClr val="3F6FD1"/>
                </a:solidFill>
              </a:rPr>
              <a:t>Route the next epoch</a:t>
            </a:r>
          </a:p>
        </p:txBody>
      </p:sp>
      <p:sp>
        <p:nvSpPr>
          <p:cNvPr id="8" name="icon-body-Route the next epoch">
            <a:extLst xmlns:a="http://schemas.openxmlformats.org/drawingml/2006/main">
              <a:ext uri="{FF2B5EF4-FFF2-40B4-BE49-F238E27FC236}">
                <a16:creationId xmlns:a16="http://schemas.microsoft.com/office/drawing/2014/main" id="{DE5F426E-53FE-44A7-A5BA-56220CC9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00965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Use recent usefulness counters to choose MLOP, SPP+PPF, both, or the off action.</a:t>
            </a:r>
          </a:p>
        </p:txBody>
      </p:sp>
      <p:pic>
        <p:nvPicPr>
          <p:cNvPr id="9" name="icon-tun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0e8489d944964"/>
          <a:stretch xmlns:a="http://schemas.openxmlformats.org/drawingml/2006/main"/>
        </p:blipFill>
        <p:spPr>
          <a:xfrm xmlns:a="http://schemas.openxmlformats.org/drawingml/2006/main">
            <a:off x="9477375" y="152590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0" name="icon-heading-Tune a small policy">
            <a:extLst xmlns:a="http://schemas.openxmlformats.org/drawingml/2006/main">
              <a:ext uri="{FF2B5EF4-FFF2-40B4-BE49-F238E27FC236}">
                <a16:creationId xmlns:a16="http://schemas.microsoft.com/office/drawing/2014/main" id="{58ED8F45-FF1D-46E8-BE9B-E4669E51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52400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C267F"/>
                </a:solidFill>
              </a:defRPr>
            </a:pPr>
            <a:r>
              <a:rPr sz="1950" b="1">
                <a:solidFill>
                  <a:srgbClr val="DC267F"/>
                </a:solidFill>
              </a:rPr>
              <a:t>Tune a small policy</a:t>
            </a:r>
          </a:p>
        </p:txBody>
      </p:sp>
      <p:sp>
        <p:nvSpPr>
          <p:cNvPr id="11" name="icon-body-Tune a small policy">
            <a:extLst xmlns:a="http://schemas.openxmlformats.org/drawingml/2006/main">
              <a:ext uri="{FF2B5EF4-FFF2-40B4-BE49-F238E27FC236}">
                <a16:creationId xmlns:a16="http://schemas.microsoft.com/office/drawing/2014/main" id="{0D0FF36A-37B0-4D0F-A949-87F8B434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86690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OpenEvolve changes budget, score weights, accuracy floor, and tie margin.</a:t>
            </a:r>
          </a:p>
        </p:txBody>
      </p:sp>
      <p:pic>
        <p:nvPicPr>
          <p:cNvPr id="12" name="icon-fact_check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9695777304e2d"/>
          <a:stretch xmlns:a="http://schemas.openxmlformats.org/drawingml/2006/main"/>
        </p:blipFill>
        <p:spPr>
          <a:xfrm xmlns:a="http://schemas.openxmlformats.org/drawingml/2006/main">
            <a:off x="9477375" y="23850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icon-heading-Claim the right result size">
            <a:extLst xmlns:a="http://schemas.openxmlformats.org/drawingml/2006/main">
              <a:ext uri="{FF2B5EF4-FFF2-40B4-BE49-F238E27FC236}">
                <a16:creationId xmlns:a16="http://schemas.microsoft.com/office/drawing/2014/main" id="{527F4F47-1677-47FA-8BE1-EAE7FE91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8125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E6100"/>
                </a:solidFill>
              </a:defRPr>
            </a:pPr>
            <a:r>
              <a:rPr sz="1950" b="1">
                <a:solidFill>
                  <a:srgbClr val="FE6100"/>
                </a:solidFill>
              </a:rPr>
              <a:t>Claim the right result size</a:t>
            </a:r>
          </a:p>
        </p:txBody>
      </p:sp>
      <p:sp>
        <p:nvSpPr>
          <p:cNvPr id="14" name="icon-body-Claim the right result size">
            <a:extLst xmlns:a="http://schemas.openxmlformats.org/drawingml/2006/main">
              <a:ext uri="{FF2B5EF4-FFF2-40B4-BE49-F238E27FC236}">
                <a16:creationId xmlns:a16="http://schemas.microsoft.com/office/drawing/2014/main" id="{AFD18119-6E16-450D-B336-F2B75E7F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72415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MoP-V2 reaches 1.066x on 13 training-split validation traces and 1.003x on heldout.</a:t>
            </a:r>
          </a:p>
        </p:txBody>
      </p:sp>
      <p:sp>
        <p:nvSpPr>
          <p:cNvPr id="15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EE65E233-3A4A-4973-9CD5-AEA9A732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801100"/>
            <a:ext cx="165354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project. Disabled prefetching is the 1.000x reference throughout.</a:t>
            </a:r>
          </a:p>
        </p:txBody>
      </p:sp>
    </p:spTree>
    <p:extLst>
      <p:ext uri="{BB962C8B-B14F-4D97-AF65-F5344CB8AC3E}">
        <p14:creationId xmlns:p14="http://schemas.microsoft.com/office/powerpoint/2010/main" val="11752980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53F306-3CB8-4106-B0C7-BC384D9D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600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What we built on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DAF7C39-7CB9-456E-B2F2-6B8850D8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7600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project adds a router layer and a small policy-search loop above existing Athena L2C prefetchers.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C65AA5F4-B1FD-420C-82D7-80172EDB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66750"/>
            <a:ext cx="838200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4561494F-5B8E-4CEB-BFF3-E9C851B7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7600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ROUTER NAMES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EE9DE814-BE27-47C4-871A-70A3A648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MoP-V1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29627AB5-9B75-464D-8D9A-F55D7212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Manual one-epoch probe router. It probes both experts, then routes to the higher-scoring expert.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B9396488-912C-408C-93BE-4B0E37A0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MoP-V2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31755258-A3CE-4784-86DB-381E7325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OpenEvolve-tuned router. It keeps the same public role and tunes budget, scoring, and tie behavior.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61B1AADC-F7B7-4C31-B79A-52C2B2C4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Experts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7A36E8F1-D230-4BA1-87E2-ADD1EDCB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2430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MLOP and SPP+PPF are the two Athena L2-cache prefetchers used by this router.</a:t>
            </a:r>
          </a:p>
        </p:txBody>
      </p:sp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D032E3A9-D2C2-4D10-A780-C3C9A67B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90750"/>
            <a:ext cx="838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EVIDENCE LAYER</a:t>
            </a:r>
          </a:p>
        </p:txBody>
      </p:sp>
      <p:sp>
        <p:nvSpPr>
          <p:cNvPr id="12" name="bullet-0">
            <a:extLst xmlns:a="http://schemas.openxmlformats.org/drawingml/2006/main">
              <a:ext uri="{FF2B5EF4-FFF2-40B4-BE49-F238E27FC236}">
                <a16:creationId xmlns:a16="http://schemas.microsoft.com/office/drawing/2014/main" id="{37577045-CAED-416D-BAEB-CA975DA5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Epoch-level counters record issued and useful prefetches.</a:t>
            </a:r>
          </a:p>
        </p:txBody>
      </p:sp>
      <p:sp>
        <p:nvSpPr>
          <p:cNvPr id="13" name="bullet-1">
            <a:extLst xmlns:a="http://schemas.openxmlformats.org/drawingml/2006/main">
              <a:ext uri="{FF2B5EF4-FFF2-40B4-BE49-F238E27FC236}">
                <a16:creationId xmlns:a16="http://schemas.microsoft.com/office/drawing/2014/main" id="{D59EF9FA-2294-42E6-9F98-AF39F181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OpenEvolve edits a small literal policy dictionary.</a:t>
            </a:r>
          </a:p>
        </p:txBody>
      </p:sp>
      <p:sp>
        <p:nvSpPr>
          <p:cNvPr id="14" name="bullet-2">
            <a:extLst xmlns:a="http://schemas.openxmlformats.org/drawingml/2006/main">
              <a:ext uri="{FF2B5EF4-FFF2-40B4-BE49-F238E27FC236}">
                <a16:creationId xmlns:a16="http://schemas.microsoft.com/office/drawing/2014/main" id="{4222D850-AA0E-46F0-B071-249554BF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05200"/>
            <a:ext cx="8382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Generated candidate records preserve valid scored rows and fail-closed rows.</a:t>
            </a:r>
          </a:p>
        </p:txBody>
      </p:sp>
      <p:sp>
        <p:nvSpPr>
          <p:cNvPr id="15" name="bullet-3">
            <a:extLst xmlns:a="http://schemas.openxmlformats.org/drawingml/2006/main">
              <a:ext uri="{FF2B5EF4-FFF2-40B4-BE49-F238E27FC236}">
                <a16:creationId xmlns:a16="http://schemas.microsoft.com/office/drawing/2014/main" id="{3EE58C3C-DB58-4C35-BE37-269CD72C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28625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Report tables and figures rebuild from simulator summaries.</a:t>
            </a:r>
          </a:p>
        </p:txBody>
      </p:sp>
    </p:spTree>
    <p:extLst>
      <p:ext uri="{BB962C8B-B14F-4D97-AF65-F5344CB8AC3E}">
        <p14:creationId xmlns:p14="http://schemas.microsoft.com/office/powerpoint/2010/main" val="11007849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7A41DA-B1F2-4E0A-8B27-B4C3E073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8382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Trace protocol and comparators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3EAB274-09D4-424B-8BE8-81F1BD11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8382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All performance numbers use disabled prefetching as 1.000x. Best expert is a per-trace reference.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5FEF2F79-7C9C-4B98-9E80-4BAF5C00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66750"/>
            <a:ext cx="758190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E0FB2809-D6F5-4C87-BF64-19B250CC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838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FIXED SETUP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4EE49984-6C9A-440F-8E99-79BE5795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Cache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9F1F4A08-D46B-4B8C-B434-4E8A1DAD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717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Athena L2C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90E0CAB0-19EF-4085-ACCA-FF803AB9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Expert pair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3732ED13-8759-414F-9123-9587C727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3370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MLOP + SPP+PPF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6C545B42-20A1-46F8-8B5F-22320ACD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Official split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DE422F11-0A40-4E0B-80F1-19DA9AA9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956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24 traces total: 17 training, 7 heldout</a:t>
            </a:r>
          </a:p>
        </p:txBody>
      </p:sp>
      <p:sp>
        <p:nvSpPr>
          <p:cNvPr id="11" name="kv-key-3">
            <a:extLst xmlns:a="http://schemas.openxmlformats.org/drawingml/2006/main">
              <a:ext uri="{FF2B5EF4-FFF2-40B4-BE49-F238E27FC236}">
                <a16:creationId xmlns:a16="http://schemas.microsoft.com/office/drawing/2014/main" id="{F800BCD4-C7F7-452B-83E8-1EDCE15A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Final validation</a:t>
            </a:r>
          </a:p>
        </p:txBody>
      </p:sp>
      <p:sp>
        <p:nvSpPr>
          <p:cNvPr id="12" name="kv-value-3">
            <a:extLst xmlns:a="http://schemas.openxmlformats.org/drawingml/2006/main">
              <a:ext uri="{FF2B5EF4-FFF2-40B4-BE49-F238E27FC236}">
                <a16:creationId xmlns:a16="http://schemas.microsoft.com/office/drawing/2014/main" id="{1C99D972-B41C-4E62-B087-88B5547F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5760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13 available training traces, 500K warmup, 1M simulation</a:t>
            </a:r>
          </a:p>
        </p:txBody>
      </p:sp>
      <p:sp>
        <p:nvSpPr>
          <p:cNvPr id="13" name="kv-key-4">
            <a:extLst xmlns:a="http://schemas.openxmlformats.org/drawingml/2006/main">
              <a:ext uri="{FF2B5EF4-FFF2-40B4-BE49-F238E27FC236}">
                <a16:creationId xmlns:a16="http://schemas.microsoft.com/office/drawing/2014/main" id="{C154B8FC-2A7B-4AE3-AFF2-89A0944A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Heldout</a:t>
            </a:r>
          </a:p>
        </p:txBody>
      </p:sp>
      <p:sp>
        <p:nvSpPr>
          <p:cNvPr id="14" name="kv-value-4">
            <a:extLst xmlns:a="http://schemas.openxmlformats.org/drawingml/2006/main">
              <a:ext uri="{FF2B5EF4-FFF2-40B4-BE49-F238E27FC236}">
                <a16:creationId xmlns:a16="http://schemas.microsoft.com/office/drawing/2014/main" id="{FE7042E1-F08F-408F-B82B-35DB561E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195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7 frozen traces, 20M warmup, 50M simulation</a:t>
            </a:r>
          </a:p>
        </p:txBody>
      </p:sp>
      <p:sp>
        <p:nvSpPr>
          <p:cNvPr id="15" name="kv-key-5">
            <a:extLst xmlns:a="http://schemas.openxmlformats.org/drawingml/2006/main">
              <a:ext uri="{FF2B5EF4-FFF2-40B4-BE49-F238E27FC236}">
                <a16:creationId xmlns:a16="http://schemas.microsoft.com/office/drawing/2014/main" id="{C838F717-E06C-43E2-B93F-B0489EBC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Epoch</a:t>
            </a:r>
          </a:p>
        </p:txBody>
      </p:sp>
      <p:sp>
        <p:nvSpPr>
          <p:cNvPr id="16" name="kv-value-5">
            <a:extLst xmlns:a="http://schemas.openxmlformats.org/drawingml/2006/main">
              <a:ext uri="{FF2B5EF4-FFF2-40B4-BE49-F238E27FC236}">
                <a16:creationId xmlns:a16="http://schemas.microsoft.com/office/drawing/2014/main" id="{86C9EA45-B574-4FD0-A306-80B20F5E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624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500K retired instructions</a:t>
            </a:r>
          </a:p>
        </p:txBody>
      </p:sp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F9C1F394-36D1-47F4-BFBC-E4220318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90750"/>
            <a:ext cx="7581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COMPARISON LADDER</a:t>
            </a:r>
          </a:p>
        </p:txBody>
      </p:sp>
      <p:sp>
        <p:nvSpPr>
          <p:cNvPr id="18" name="kv-key-0">
            <a:extLst xmlns:a="http://schemas.openxmlformats.org/drawingml/2006/main">
              <a:ext uri="{FF2B5EF4-FFF2-40B4-BE49-F238E27FC236}">
                <a16:creationId xmlns:a16="http://schemas.microsoft.com/office/drawing/2014/main" id="{909D4EB4-3ABD-4DB8-807B-2BBAFB59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71750"/>
            <a:ext cx="1771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Disabled</a:t>
            </a:r>
          </a:p>
        </p:txBody>
      </p:sp>
      <p:sp>
        <p:nvSpPr>
          <p:cNvPr id="19" name="kv-value-0">
            <a:extLst xmlns:a="http://schemas.openxmlformats.org/drawingml/2006/main">
              <a:ext uri="{FF2B5EF4-FFF2-40B4-BE49-F238E27FC236}">
                <a16:creationId xmlns:a16="http://schemas.microsoft.com/office/drawing/2014/main" id="{20ADA8A5-D099-4BC6-92D6-062D9E71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2571750"/>
            <a:ext cx="5600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Universal 1.000x baseline.</a:t>
            </a:r>
          </a:p>
        </p:txBody>
      </p:sp>
      <p:sp>
        <p:nvSpPr>
          <p:cNvPr id="20" name="kv-key-1">
            <a:extLst xmlns:a="http://schemas.openxmlformats.org/drawingml/2006/main">
              <a:ext uri="{FF2B5EF4-FFF2-40B4-BE49-F238E27FC236}">
                <a16:creationId xmlns:a16="http://schemas.microsoft.com/office/drawing/2014/main" id="{ECDBF198-3F0A-4A74-893B-D09849DA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5275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Best expert</a:t>
            </a:r>
          </a:p>
        </p:txBody>
      </p:sp>
      <p:sp>
        <p:nvSpPr>
          <p:cNvPr id="21" name="kv-value-1">
            <a:extLst xmlns:a="http://schemas.openxmlformats.org/drawingml/2006/main">
              <a:ext uri="{FF2B5EF4-FFF2-40B4-BE49-F238E27FC236}">
                <a16:creationId xmlns:a16="http://schemas.microsoft.com/office/drawing/2014/main" id="{E501A92A-A6A6-4D25-B8B0-1F91DE2F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295275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max(MLOP, SPP+PPF) per trace, then geomeaned. It is colored dark blue in the result plots.</a:t>
            </a:r>
          </a:p>
        </p:txBody>
      </p:sp>
      <p:sp>
        <p:nvSpPr>
          <p:cNvPr id="22" name="kv-key-2">
            <a:extLst xmlns:a="http://schemas.openxmlformats.org/drawingml/2006/main">
              <a:ext uri="{FF2B5EF4-FFF2-40B4-BE49-F238E27FC236}">
                <a16:creationId xmlns:a16="http://schemas.microsoft.com/office/drawing/2014/main" id="{2194E3C0-4BF1-4ADE-860F-8F52C4F6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0045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Worse expert</a:t>
            </a:r>
          </a:p>
        </p:txBody>
      </p:sp>
      <p:sp>
        <p:nvSpPr>
          <p:cNvPr id="23" name="kv-value-2">
            <a:extLst xmlns:a="http://schemas.openxmlformats.org/drawingml/2006/main">
              <a:ext uri="{FF2B5EF4-FFF2-40B4-BE49-F238E27FC236}">
                <a16:creationId xmlns:a16="http://schemas.microsoft.com/office/drawing/2014/main" id="{F7C541BD-7198-4798-B392-04B17BA4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0045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Minimum practical check for whether routing clears the weaker constituent prefetcher.</a:t>
            </a:r>
          </a:p>
        </p:txBody>
      </p:sp>
      <p:sp>
        <p:nvSpPr>
          <p:cNvPr id="24" name="kv-key-3">
            <a:extLst xmlns:a="http://schemas.openxmlformats.org/drawingml/2006/main">
              <a:ext uri="{FF2B5EF4-FFF2-40B4-BE49-F238E27FC236}">
                <a16:creationId xmlns:a16="http://schemas.microsoft.com/office/drawing/2014/main" id="{ABA7FD46-118D-4F35-B3EC-7463A7E2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22910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Simple routers</a:t>
            </a:r>
          </a:p>
        </p:txBody>
      </p:sp>
      <p:sp>
        <p:nvSpPr>
          <p:cNvPr id="25" name="kv-value-3">
            <a:extLst xmlns:a="http://schemas.openxmlformats.org/drawingml/2006/main">
              <a:ext uri="{FF2B5EF4-FFF2-40B4-BE49-F238E27FC236}">
                <a16:creationId xmlns:a16="http://schemas.microsoft.com/office/drawing/2014/main" id="{E7FC97D6-188C-44D5-8590-72C4838A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22910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WinnerTakeAll, OneShotFit, and Athena MAB appear as small baselines.</a:t>
            </a:r>
          </a:p>
        </p:txBody>
      </p:sp>
    </p:spTree>
    <p:extLst>
      <p:ext uri="{BB962C8B-B14F-4D97-AF65-F5344CB8AC3E}">
        <p14:creationId xmlns:p14="http://schemas.microsoft.com/office/powerpoint/2010/main" val="178824418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18DBEE-F60F-4546-8A4E-32FF988B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5151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OpenEvolve changed a small policy dictionary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CC25195-D992-4150-913B-AEBC33E9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151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search could tune router settings and numeric policy weights while the trace split and simulator stayed fixed.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BCEDF5BA-DC8B-42F3-A495-8D111A7E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52450"/>
            <a:ext cx="97726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48AB795-B5FC-48CF-B54D-E48FE409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6515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SELECTED MOP-V2 POLICY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CD0C9CD5-A277-4024-9197-96A9AB55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13525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Budget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3F0AF618-61D7-4EC7-928D-AA694D4B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33700"/>
            <a:ext cx="4953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9,216 prefetches per 500K-instruction epoch, about 18.4 per 1K retired instructions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F0860991-68EE-4F0A-A7A3-76C0945C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Probe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E2E4F292-06FD-4C9C-A196-F298E1B1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623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One initial dual-expert probe epoch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BC4ADC71-F766-417B-A1CC-71F71D23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Guardrails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18F7C1B8-3C21-43CE-808C-D873E78C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2430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Accuracy floor 30 and 3% close-score tie margin</a:t>
            </a:r>
          </a:p>
        </p:txBody>
      </p:sp>
      <p:sp>
        <p:nvSpPr>
          <p:cNvPr id="11" name="kv-key-3">
            <a:extLst xmlns:a="http://schemas.openxmlformats.org/drawingml/2006/main">
              <a:ext uri="{FF2B5EF4-FFF2-40B4-BE49-F238E27FC236}">
                <a16:creationId xmlns:a16="http://schemas.microsoft.com/office/drawing/2014/main" id="{F192A0FA-60DF-4050-B67C-3B52EB5A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Weights</a:t>
            </a:r>
          </a:p>
        </p:txBody>
      </p:sp>
      <p:sp>
        <p:nvSpPr>
          <p:cNvPr id="12" name="kv-value-3">
            <a:extLst xmlns:a="http://schemas.openxmlformats.org/drawingml/2006/main">
              <a:ext uri="{FF2B5EF4-FFF2-40B4-BE49-F238E27FC236}">
                <a16:creationId xmlns:a16="http://schemas.microsoft.com/office/drawing/2014/main" id="{441AB955-DA6B-4D2C-A17D-5B5DD095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862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Accuracy 1.0, coverage 0.55, traffic 1.0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98515717-6687-4FEE-9781-FAF804D6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71750"/>
            <a:ext cx="9772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SELECTION SCORE</a:t>
            </a:r>
          </a:p>
        </p:txBody>
      </p:sp>
      <p:sp>
        <p:nvSpPr>
          <p:cNvPr id="14" name="weighted-score-once">
            <a:extLst xmlns:a="http://schemas.openxmlformats.org/drawingml/2006/main">
              <a:ext uri="{FF2B5EF4-FFF2-40B4-BE49-F238E27FC236}">
                <a16:creationId xmlns:a16="http://schemas.microsoft.com/office/drawing/2014/main" id="{CC2B9EE5-0C83-4001-BEF7-70ED8C7B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990850"/>
            <a:ext cx="97726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Weighted score combines closeness to best expert, IPC over disabled prefetching, margin over the worse expert, tail-loss penalty, and off-action penalty.</a:t>
            </a:r>
          </a:p>
        </p:txBody>
      </p:sp>
      <p:sp>
        <p:nvSpPr>
          <p:cNvPr id="15" name="failure-score">
            <a:extLst xmlns:a="http://schemas.openxmlformats.org/drawingml/2006/main">
              <a:ext uri="{FF2B5EF4-FFF2-40B4-BE49-F238E27FC236}">
                <a16:creationId xmlns:a16="http://schemas.microsoft.com/office/drawing/2014/main" id="{4FB728B2-B68D-4251-A099-11FF08F6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86250"/>
            <a:ext cx="97726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Candidate programs received failure scores for simulator failures, unknown policy keys, helper/import code, and missing evolve markers.</a:t>
            </a:r>
          </a:p>
        </p:txBody>
      </p:sp>
      <p:sp>
        <p:nvSpPr>
          <p:cNvPr id="16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3B0DAE0A-1E39-4818-9FCE-E4AE3140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08635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F6FD1"/>
                </a:solidFill>
              </a:defRPr>
            </a:pPr>
            <a:r>
              <a:rPr sz="1875" b="1">
                <a:solidFill>
                  <a:srgbClr val="3F6FD1"/>
                </a:solidFill>
              </a:rPr>
              <a:t>Ledger</a:t>
            </a:r>
          </a:p>
        </p:txBody>
      </p:sp>
      <p:sp>
        <p:nvSpPr>
          <p:cNvPr id="17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1DA39B10-C5C9-4C04-B443-D0C581EE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08635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F6FD1"/>
                </a:solidFill>
              </a:defRPr>
            </a:pPr>
            <a:r>
              <a:rPr sz="1875" b="1">
                <a:solidFill>
                  <a:srgbClr val="3F6FD1"/>
                </a:solidFill>
              </a:rPr>
              <a:t>Rows</a:t>
            </a:r>
          </a:p>
        </p:txBody>
      </p:sp>
      <p:sp>
        <p:nvSpPr>
          <p:cNvPr id="18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ACD6D94E-3D1D-42AA-BF7B-00D157CB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44830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All candidates</a:t>
            </a:r>
          </a:p>
        </p:txBody>
      </p:sp>
      <p:sp>
        <p:nvSpPr>
          <p:cNvPr id="19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325CF078-8299-4B17-9917-1D3BFE26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44830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374</a:t>
            </a:r>
          </a:p>
        </p:txBody>
      </p:sp>
      <p:sp>
        <p:nvSpPr>
          <p:cNvPr id="20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7BACB834-5E62-473F-92AF-C16ACD17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81025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Valid scored</a:t>
            </a:r>
          </a:p>
        </p:txBody>
      </p:sp>
      <p:sp>
        <p:nvSpPr>
          <p:cNvPr id="21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C00186BA-ADA3-4988-A2EC-71928949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81025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306</a:t>
            </a:r>
          </a:p>
        </p:txBody>
      </p:sp>
      <p:sp>
        <p:nvSpPr>
          <p:cNvPr id="22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DCD97B20-C29A-45EA-96D5-AEDDCC9C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17220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Fail-closed</a:t>
            </a:r>
          </a:p>
        </p:txBody>
      </p:sp>
      <p:sp>
        <p:nvSpPr>
          <p:cNvPr id="23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2A31DC5A-B092-4BB0-A745-334678B5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617220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68</a:t>
            </a:r>
          </a:p>
        </p:txBody>
      </p:sp>
    </p:spTree>
    <p:extLst>
      <p:ext uri="{BB962C8B-B14F-4D97-AF65-F5344CB8AC3E}">
        <p14:creationId xmlns:p14="http://schemas.microsoft.com/office/powerpoint/2010/main" val="1797136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581976-D7DD-4E63-B8AC-8D18C908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69926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Training-split validation is the main win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617CBA5-CDA4-4538-B0A4-2F722B02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699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Disabled prefetching is 1.000x. Dark blue is best expert, orange is MoP-V1, and pink is MoP-V2.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fe65c9057c4780"/>
          <a:stretch xmlns:a="http://schemas.openxmlformats.org/drawingml/2006/main"/>
        </p:blipFill>
        <p:spPr>
          <a:xfrm xmlns:a="http://schemas.openxmlformats.org/drawingml/2006/main">
            <a:off x="1051719" y="1615440"/>
            <a:ext cx="16184563" cy="7768590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11E0C694-A56D-43EC-918E-A7A02159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563100"/>
            <a:ext cx="1699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13-trace validation bars show the main gain from MoP-V1 to MoP-V2. The 7-trace heldout bars show the smaller post-selection result. Prefetcher off is black at 1.000x and best expert is dark blue.</a:t>
            </a:r>
          </a:p>
        </p:txBody>
      </p:sp>
    </p:spTree>
    <p:extLst>
      <p:ext uri="{BB962C8B-B14F-4D97-AF65-F5344CB8AC3E}">
        <p14:creationId xmlns:p14="http://schemas.microsoft.com/office/powerpoint/2010/main" val="8325167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6707AF-EA71-4757-97AD-94506C1C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numeric result is stronger on training than heldout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99BDB9F-EB5A-4C93-8C27-65742638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Training-split validation carries the quantitative weight. Heldout supports a modest generalization claim.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F50BBBC5-3EE7-4B46-A1B4-6AD1C6A4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4350"/>
            <a:ext cx="92202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D5DB0D27-01AC-41A8-B1B2-22F9D623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Surface</a:t>
            </a:r>
          </a:p>
        </p:txBody>
      </p:sp>
      <p:sp>
        <p:nvSpPr>
          <p:cNvPr id="5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5043A064-E73A-42C5-9291-9A4CC74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146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MoP-V1</a:t>
            </a:r>
          </a:p>
        </p:txBody>
      </p:sp>
      <p:sp>
        <p:nvSpPr>
          <p:cNvPr id="6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7D8F781C-7607-4AAF-88CD-0B15B6D5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146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MoP-V2</a:t>
            </a:r>
          </a:p>
        </p:txBody>
      </p:sp>
      <p:sp>
        <p:nvSpPr>
          <p:cNvPr id="7" name="table-cell-0-3">
            <a:extLst xmlns:a="http://schemas.openxmlformats.org/drawingml/2006/main">
              <a:ext uri="{FF2B5EF4-FFF2-40B4-BE49-F238E27FC236}">
                <a16:creationId xmlns:a16="http://schemas.microsoft.com/office/drawing/2014/main" id="{81A9CD37-0E75-430C-80D6-6F4E4EBB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Best expert</a:t>
            </a:r>
          </a:p>
        </p:txBody>
      </p:sp>
      <p:sp>
        <p:nvSpPr>
          <p:cNvPr id="8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3042CB18-A30A-4FD8-AEEF-682CDBB0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13-trace speedup</a:t>
            </a:r>
          </a:p>
        </p:txBody>
      </p:sp>
      <p:sp>
        <p:nvSpPr>
          <p:cNvPr id="9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818C8FB4-2811-46D4-801B-80CE78BE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194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1.048x</a:t>
            </a:r>
          </a:p>
        </p:txBody>
      </p:sp>
      <p:sp>
        <p:nvSpPr>
          <p:cNvPr id="10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F7B70D63-B8FF-4DB0-B5E7-1C55DF1E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194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1.066x</a:t>
            </a:r>
          </a:p>
        </p:txBody>
      </p:sp>
      <p:sp>
        <p:nvSpPr>
          <p:cNvPr id="11" name="table-cell-1-3">
            <a:extLst xmlns:a="http://schemas.openxmlformats.org/drawingml/2006/main">
              <a:ext uri="{FF2B5EF4-FFF2-40B4-BE49-F238E27FC236}">
                <a16:creationId xmlns:a16="http://schemas.microsoft.com/office/drawing/2014/main" id="{8E4B1940-7742-4B11-9DE0-8F5F2923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194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1.085x</a:t>
            </a:r>
          </a:p>
        </p:txBody>
      </p:sp>
      <p:sp>
        <p:nvSpPr>
          <p:cNvPr id="12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5D80BD65-43E3-4718-BE29-2F16E150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13-trace % best</a:t>
            </a:r>
          </a:p>
        </p:txBody>
      </p:sp>
      <p:sp>
        <p:nvSpPr>
          <p:cNvPr id="13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0D9A6756-84F3-424C-8A8A-EFEE6477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432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96.5%</a:t>
            </a:r>
          </a:p>
        </p:txBody>
      </p:sp>
      <p:sp>
        <p:nvSpPr>
          <p:cNvPr id="14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03A1D79C-EECF-4ECD-8C29-1AC59E8A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432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98.3%</a:t>
            </a:r>
          </a:p>
        </p:txBody>
      </p:sp>
      <p:sp>
        <p:nvSpPr>
          <p:cNvPr id="15" name="table-cell-2-3">
            <a:extLst xmlns:a="http://schemas.openxmlformats.org/drawingml/2006/main">
              <a:ext uri="{FF2B5EF4-FFF2-40B4-BE49-F238E27FC236}">
                <a16:creationId xmlns:a16="http://schemas.microsoft.com/office/drawing/2014/main" id="{C7DBE23C-16C2-4447-B7BA-B55F4E7B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432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16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F0ABCA72-8CBF-4859-A8BE-86AE1B25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Beats worse expert</a:t>
            </a:r>
          </a:p>
        </p:txBody>
      </p:sp>
      <p:sp>
        <p:nvSpPr>
          <p:cNvPr id="17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9E863AFE-FEBE-4325-AF2A-FA347A75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480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9/13</a:t>
            </a:r>
          </a:p>
        </p:txBody>
      </p:sp>
      <p:sp>
        <p:nvSpPr>
          <p:cNvPr id="18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22BEA4C4-8364-48B1-8FA3-4BACD80D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480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11/13</a:t>
            </a:r>
          </a:p>
        </p:txBody>
      </p:sp>
      <p:sp>
        <p:nvSpPr>
          <p:cNvPr id="19" name="table-cell-3-3">
            <a:extLst xmlns:a="http://schemas.openxmlformats.org/drawingml/2006/main">
              <a:ext uri="{FF2B5EF4-FFF2-40B4-BE49-F238E27FC236}">
                <a16:creationId xmlns:a16="http://schemas.microsoft.com/office/drawing/2014/main" id="{7981D7C8-92C9-41C5-9ED5-828EAA8D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480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table-cell-4-0">
            <a:extLst xmlns:a="http://schemas.openxmlformats.org/drawingml/2006/main">
              <a:ext uri="{FF2B5EF4-FFF2-40B4-BE49-F238E27FC236}">
                <a16:creationId xmlns:a16="http://schemas.microsoft.com/office/drawing/2014/main" id="{0C196CAB-6978-47A0-9476-084E2C1D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Below 95% best</a:t>
            </a:r>
          </a:p>
        </p:txBody>
      </p:sp>
      <p:sp>
        <p:nvSpPr>
          <p:cNvPr id="21" name="table-cell-4-1">
            <a:extLst xmlns:a="http://schemas.openxmlformats.org/drawingml/2006/main">
              <a:ext uri="{FF2B5EF4-FFF2-40B4-BE49-F238E27FC236}">
                <a16:creationId xmlns:a16="http://schemas.microsoft.com/office/drawing/2014/main" id="{CDD0BFED-44DF-4E05-ADA8-8DEC26BA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7719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3/13</a:t>
            </a:r>
          </a:p>
        </p:txBody>
      </p:sp>
      <p:sp>
        <p:nvSpPr>
          <p:cNvPr id="22" name="table-cell-4-2">
            <a:extLst xmlns:a="http://schemas.openxmlformats.org/drawingml/2006/main">
              <a:ext uri="{FF2B5EF4-FFF2-40B4-BE49-F238E27FC236}">
                <a16:creationId xmlns:a16="http://schemas.microsoft.com/office/drawing/2014/main" id="{0AD2100D-9C42-4312-A772-E596A4AA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719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2/13</a:t>
            </a:r>
          </a:p>
        </p:txBody>
      </p:sp>
      <p:sp>
        <p:nvSpPr>
          <p:cNvPr id="23" name="table-cell-4-3">
            <a:extLst xmlns:a="http://schemas.openxmlformats.org/drawingml/2006/main">
              <a:ext uri="{FF2B5EF4-FFF2-40B4-BE49-F238E27FC236}">
                <a16:creationId xmlns:a16="http://schemas.microsoft.com/office/drawing/2014/main" id="{F674E737-C1B0-4EE4-B87F-484F0F0A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719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table-cell-5-0">
            <a:extLst xmlns:a="http://schemas.openxmlformats.org/drawingml/2006/main">
              <a:ext uri="{FF2B5EF4-FFF2-40B4-BE49-F238E27FC236}">
                <a16:creationId xmlns:a16="http://schemas.microsoft.com/office/drawing/2014/main" id="{6A77F2E0-2FC3-4ECD-A0D1-FA59C72E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7-heldout speedup</a:t>
            </a:r>
          </a:p>
        </p:txBody>
      </p:sp>
      <p:sp>
        <p:nvSpPr>
          <p:cNvPr id="25" name="table-cell-5-1">
            <a:extLst xmlns:a="http://schemas.openxmlformats.org/drawingml/2006/main">
              <a:ext uri="{FF2B5EF4-FFF2-40B4-BE49-F238E27FC236}">
                <a16:creationId xmlns:a16="http://schemas.microsoft.com/office/drawing/2014/main" id="{BCB4D8FB-1A6F-4E8B-8627-E43375A0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957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0.998x</a:t>
            </a:r>
          </a:p>
        </p:txBody>
      </p:sp>
      <p:sp>
        <p:nvSpPr>
          <p:cNvPr id="26" name="table-cell-5-2">
            <a:extLst xmlns:a="http://schemas.openxmlformats.org/drawingml/2006/main">
              <a:ext uri="{FF2B5EF4-FFF2-40B4-BE49-F238E27FC236}">
                <a16:creationId xmlns:a16="http://schemas.microsoft.com/office/drawing/2014/main" id="{71CF1A6B-982B-4E9E-A9F1-E9E417F2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0957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1.003x</a:t>
            </a:r>
          </a:p>
        </p:txBody>
      </p:sp>
      <p:sp>
        <p:nvSpPr>
          <p:cNvPr id="27" name="table-cell-5-3">
            <a:extLst xmlns:a="http://schemas.openxmlformats.org/drawingml/2006/main">
              <a:ext uri="{FF2B5EF4-FFF2-40B4-BE49-F238E27FC236}">
                <a16:creationId xmlns:a16="http://schemas.microsoft.com/office/drawing/2014/main" id="{50027D6D-9AA7-4735-A478-6A6B9AF9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1.024x</a:t>
            </a:r>
          </a:p>
        </p:txBody>
      </p:sp>
      <p:sp>
        <p:nvSpPr>
          <p:cNvPr id="28" name="table-cell-6-0">
            <a:extLst xmlns:a="http://schemas.openxmlformats.org/drawingml/2006/main">
              <a:ext uri="{FF2B5EF4-FFF2-40B4-BE49-F238E27FC236}">
                <a16:creationId xmlns:a16="http://schemas.microsoft.com/office/drawing/2014/main" id="{5CD8A7E9-71BB-41AF-B9AF-BA6178EE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7-heldout % best</a:t>
            </a:r>
          </a:p>
        </p:txBody>
      </p:sp>
      <p:sp>
        <p:nvSpPr>
          <p:cNvPr id="29" name="table-cell-6-1">
            <a:extLst xmlns:a="http://schemas.openxmlformats.org/drawingml/2006/main">
              <a:ext uri="{FF2B5EF4-FFF2-40B4-BE49-F238E27FC236}">
                <a16:creationId xmlns:a16="http://schemas.microsoft.com/office/drawing/2014/main" id="{3C5EAF0C-3164-4456-B5C2-B41DA589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4005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97.6%</a:t>
            </a:r>
          </a:p>
        </p:txBody>
      </p:sp>
      <p:sp>
        <p:nvSpPr>
          <p:cNvPr id="30" name="table-cell-6-2">
            <a:extLst xmlns:a="http://schemas.openxmlformats.org/drawingml/2006/main">
              <a:ext uri="{FF2B5EF4-FFF2-40B4-BE49-F238E27FC236}">
                <a16:creationId xmlns:a16="http://schemas.microsoft.com/office/drawing/2014/main" id="{D5DDC632-DC9A-4BBB-9B3A-2F2CE985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005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97.9%</a:t>
            </a:r>
          </a:p>
        </p:txBody>
      </p:sp>
      <p:sp>
        <p:nvSpPr>
          <p:cNvPr id="31" name="table-cell-6-3">
            <a:extLst xmlns:a="http://schemas.openxmlformats.org/drawingml/2006/main">
              <a:ext uri="{FF2B5EF4-FFF2-40B4-BE49-F238E27FC236}">
                <a16:creationId xmlns:a16="http://schemas.microsoft.com/office/drawing/2014/main" id="{7824C7AA-520C-45B8-B343-FC504BE6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005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32" name="cycle-interpretation">
            <a:extLst xmlns:a="http://schemas.openxmlformats.org/drawingml/2006/main">
              <a:ext uri="{FF2B5EF4-FFF2-40B4-BE49-F238E27FC236}">
                <a16:creationId xmlns:a16="http://schemas.microsoft.com/office/drawing/2014/main" id="{5082DB4C-5B42-4035-929F-7889AD1D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723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</a:defRPr>
            </a:pPr>
            <a:r>
              <a:rPr sz="1575">
                <a:solidFill>
                  <a:srgbClr val="333333"/>
                </a:solidFill>
              </a:rPr>
              <a:t>The IPC movement is cycle movement under a fixed retired-instruction window: MoP-V2 has instruction-count ratio 1.000x on both final runs, with cycle-count ratio 0.938x on training-split validation and 0.997x on heldout.</a:t>
            </a:r>
          </a:p>
        </p:txBody>
      </p:sp>
      <p:pic>
        <p:nvPicPr>
          <p:cNvPr id="33" name="win-los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c1eb2da404e9c"/>
          <a:stretch xmlns:a="http://schemas.openxmlformats.org/drawingml/2006/main"/>
        </p:blipFill>
        <p:spPr>
          <a:xfrm xmlns:a="http://schemas.openxmlformats.org/drawingml/2006/main">
            <a:off x="8385048" y="4199174"/>
            <a:ext cx="9217152" cy="3351692"/>
          </a:xfrm>
          <a:prstGeom xmlns:a="http://schemas.openxmlformats.org/drawingml/2006/main" prst="rect">
            <a:avLst/>
          </a:prstGeom>
        </p:spPr>
      </p:pic>
      <p:sp>
        <p:nvSpPr>
          <p:cNvPr id="3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ED081658-70F7-4EEE-ADF9-21189830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9334500"/>
            <a:ext cx="92202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routing-behavior plot uses final run summaries to show selected-epoch share, budget share, and useful-prefetch share for MoP-V1 and MoP-V2.</a:t>
            </a:r>
          </a:p>
        </p:txBody>
      </p:sp>
    </p:spTree>
    <p:extLst>
      <p:ext uri="{BB962C8B-B14F-4D97-AF65-F5344CB8AC3E}">
        <p14:creationId xmlns:p14="http://schemas.microsoft.com/office/powerpoint/2010/main" val="79697181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DB7162-ED0B-46E1-BB45-772DFBFC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70307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Heldout behavior is trace-specific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165CCC0-1BA3-43BA-94F3-0C5B67BA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7030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Within each heldout trace the profile order is Expert 1, Expert 2, MoP-V1, MoP-V2. The 1.000x line is disabled prefetching.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1bdf512d347aa"/>
          <a:stretch xmlns:a="http://schemas.openxmlformats.org/drawingml/2006/main"/>
        </p:blipFill>
        <p:spPr>
          <a:xfrm xmlns:a="http://schemas.openxmlformats.org/drawingml/2006/main">
            <a:off x="1796527" y="1596390"/>
            <a:ext cx="14694946" cy="7806690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516A9807-7CFA-49AB-B484-9C90D50F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82150"/>
            <a:ext cx="17030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single experts share one blue hue with different opacity, MoP-V1 is orange, MoP-V2 is pink, and the black vertical line is disabled prefetching at 1.000x.</a:t>
            </a:r>
          </a:p>
        </p:txBody>
      </p:sp>
    </p:spTree>
    <p:extLst>
      <p:ext uri="{BB962C8B-B14F-4D97-AF65-F5344CB8AC3E}">
        <p14:creationId xmlns:p14="http://schemas.microsoft.com/office/powerpoint/2010/main" val="2733161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733FD5-6FAD-46D2-B2DA-2AF520F7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94678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expert pair gives routing something real to choose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CDB5FC5-0EAF-45FA-A463-A6EC0880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9467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MLOP and SPP+PPF have different strengths across traces, so the router has a meaningful selection problem.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2D0004B1-105C-4CF2-98A3-1D94BB4E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14350"/>
            <a:ext cx="70104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expert-profil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22bc2a34c4382"/>
          <a:stretch xmlns:a="http://schemas.openxmlformats.org/drawingml/2006/main"/>
        </p:blipFill>
        <p:spPr>
          <a:xfrm xmlns:a="http://schemas.openxmlformats.org/drawingml/2006/main">
            <a:off x="666750" y="3358225"/>
            <a:ext cx="9474994" cy="5033590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5D819914-8054-46A2-9086-F8C1E81E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0"/>
            <a:ext cx="94678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heldout trace profile shows where MLOP, SPP+PPF, MoP-V1, and MoP-V2 land relative to disabled prefetching at 1.000x.</a:t>
            </a:r>
          </a:p>
        </p:txBody>
      </p:sp>
      <p:sp>
        <p:nvSpPr>
          <p:cNvPr id="6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D8F30867-9D0F-4F04-ACF5-704FAC4C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514600"/>
            <a:ext cx="70104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3F6FD1"/>
                </a:solidFill>
              </a:defRPr>
            </a:pPr>
            <a:r>
              <a:rPr sz="4650" b="1">
                <a:solidFill>
                  <a:srgbClr val="3F6FD1"/>
                </a:solidFill>
              </a:rPr>
              <a:t>1.024x</a:t>
            </a:r>
          </a:p>
        </p:txBody>
      </p:sp>
      <p:sp>
        <p:nvSpPr>
          <p:cNvPr id="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3BB6B301-FA7E-4C27-926C-6F0021A7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95650"/>
            <a:ext cx="701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SPP+PPF heldout geomean over disabled prefetching</a:t>
            </a:r>
          </a:p>
        </p:txBody>
      </p:sp>
      <p:sp>
        <p:nvSpPr>
          <p:cNvPr id="8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6B5ECEEF-E75C-44D0-A734-E10A87B0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733800"/>
            <a:ext cx="70104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E6100"/>
                </a:solidFill>
              </a:defRPr>
            </a:pPr>
            <a:r>
              <a:rPr sz="4350" b="1">
                <a:solidFill>
                  <a:srgbClr val="FE6100"/>
                </a:solidFill>
              </a:rPr>
              <a:t>0.974x</a:t>
            </a:r>
          </a:p>
        </p:txBody>
      </p:sp>
      <p:sp>
        <p:nvSpPr>
          <p:cNvPr id="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01864C82-C683-442F-B4FA-6C096946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476750"/>
            <a:ext cx="701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MLOP heldout geomean over disabled prefetching</a:t>
            </a:r>
          </a:p>
        </p:txBody>
      </p:sp>
      <p:sp>
        <p:nvSpPr>
          <p:cNvPr id="10" name="best-expert-copy">
            <a:extLst xmlns:a="http://schemas.openxmlformats.org/drawingml/2006/main">
              <a:ext uri="{FF2B5EF4-FFF2-40B4-BE49-F238E27FC236}">
                <a16:creationId xmlns:a16="http://schemas.microsoft.com/office/drawing/2014/main" id="{ABE46B67-9FAA-4CA4-A7B5-AC01D325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914900"/>
            <a:ext cx="70104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The best-expert reference is computed per trace, then geomeaned. It is a reference curve for routing quality.</a:t>
            </a:r>
          </a:p>
        </p:txBody>
      </p:sp>
    </p:spTree>
    <p:extLst>
      <p:ext uri="{BB962C8B-B14F-4D97-AF65-F5344CB8AC3E}">
        <p14:creationId xmlns:p14="http://schemas.microsoft.com/office/powerpoint/2010/main" val="8697246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514202-C6FB-4E8A-A8F0-1CDACA61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64198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MoP-V2 clears the simple router baselines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6C9927-0644-48D7-A4C4-7D1B5896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6419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WinnerTakeAll and OneShotFit are intentionally small baselines for the same expert pair.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F36C90F3-810F-4BAA-B54D-748C935F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4350"/>
            <a:ext cx="100393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kv-key-0">
            <a:extLst xmlns:a="http://schemas.openxmlformats.org/drawingml/2006/main">
              <a:ext uri="{FF2B5EF4-FFF2-40B4-BE49-F238E27FC236}">
                <a16:creationId xmlns:a16="http://schemas.microsoft.com/office/drawing/2014/main" id="{EEE38BCB-D750-408C-84CD-5F44DD6E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WinnerTakeAll</a:t>
            </a:r>
          </a:p>
        </p:txBody>
      </p:sp>
      <p:sp>
        <p:nvSpPr>
          <p:cNvPr id="5" name="kv-value-0">
            <a:extLst xmlns:a="http://schemas.openxmlformats.org/drawingml/2006/main">
              <a:ext uri="{FF2B5EF4-FFF2-40B4-BE49-F238E27FC236}">
                <a16:creationId xmlns:a16="http://schemas.microsoft.com/office/drawing/2014/main" id="{A4979BF5-7FEE-4AAA-ACE8-B8F5FCEB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1460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Picks the expert with the stronger previous-epoch usefulness score.</a:t>
            </a:r>
          </a:p>
        </p:txBody>
      </p:sp>
      <p:sp>
        <p:nvSpPr>
          <p:cNvPr id="6" name="kv-key-1">
            <a:extLst xmlns:a="http://schemas.openxmlformats.org/drawingml/2006/main">
              <a:ext uri="{FF2B5EF4-FFF2-40B4-BE49-F238E27FC236}">
                <a16:creationId xmlns:a16="http://schemas.microsoft.com/office/drawing/2014/main" id="{622E736F-72FB-4954-8B68-5005F98F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OneShotFit</a:t>
            </a:r>
          </a:p>
        </p:txBody>
      </p:sp>
      <p:sp>
        <p:nvSpPr>
          <p:cNvPr id="7" name="kv-value-1">
            <a:extLst xmlns:a="http://schemas.openxmlformats.org/drawingml/2006/main">
              <a:ext uri="{FF2B5EF4-FFF2-40B4-BE49-F238E27FC236}">
                <a16:creationId xmlns:a16="http://schemas.microsoft.com/office/drawing/2014/main" id="{4C32D1F8-9395-409B-A4B6-9A3FAE7C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2420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Probes the experts once, then keeps the better early winner.</a:t>
            </a:r>
          </a:p>
        </p:txBody>
      </p:sp>
      <p:sp>
        <p:nvSpPr>
          <p:cNvPr id="8" name="kv-key-2">
            <a:extLst xmlns:a="http://schemas.openxmlformats.org/drawingml/2006/main">
              <a:ext uri="{FF2B5EF4-FFF2-40B4-BE49-F238E27FC236}">
                <a16:creationId xmlns:a16="http://schemas.microsoft.com/office/drawing/2014/main" id="{CA9440F0-E2E5-4015-AD23-72039BDF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Athena MAB</a:t>
            </a:r>
          </a:p>
        </p:txBody>
      </p:sp>
      <p:sp>
        <p:nvSpPr>
          <p:cNvPr id="9" name="kv-value-2">
            <a:extLst xmlns:a="http://schemas.openxmlformats.org/drawingml/2006/main">
              <a:ext uri="{FF2B5EF4-FFF2-40B4-BE49-F238E27FC236}">
                <a16:creationId xmlns:a16="http://schemas.microsoft.com/office/drawing/2014/main" id="{BB4B783F-DF2C-4A6B-94F1-38AAD6C9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5285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Athena's multi-armed-bandit router baseline for the same expert pair.</a:t>
            </a:r>
          </a:p>
        </p:txBody>
      </p:sp>
      <p:sp>
        <p:nvSpPr>
          <p:cNvPr id="10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ECA794F1-0073-419A-9F5D-1F02D680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13-trace method</a:t>
            </a:r>
          </a:p>
        </p:txBody>
      </p:sp>
      <p:sp>
        <p:nvSpPr>
          <p:cNvPr id="11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4F361F95-2DFB-48BE-81A5-EC84DCC4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386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Speedup</a:t>
            </a:r>
          </a:p>
        </p:txBody>
      </p:sp>
      <p:sp>
        <p:nvSpPr>
          <p:cNvPr id="12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FE0D767C-64E7-4EC1-8544-3BB15BD6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% best</a:t>
            </a:r>
          </a:p>
        </p:txBody>
      </p:sp>
      <p:sp>
        <p:nvSpPr>
          <p:cNvPr id="13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6346E5AE-6B28-4217-AAF9-D9BC4C5D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MoP-V2</a:t>
            </a:r>
          </a:p>
        </p:txBody>
      </p:sp>
      <p:sp>
        <p:nvSpPr>
          <p:cNvPr id="14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066B0899-B23B-42B1-A09C-776E9C99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76250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1.066x</a:t>
            </a:r>
          </a:p>
        </p:txBody>
      </p:sp>
      <p:sp>
        <p:nvSpPr>
          <p:cNvPr id="15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3A25C270-6BBA-4337-BAF7-DF714EB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6250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98.3%</a:t>
            </a:r>
          </a:p>
        </p:txBody>
      </p:sp>
      <p:sp>
        <p:nvSpPr>
          <p:cNvPr id="16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3EA8BD08-5FB2-4F68-A51C-2998C0F7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WinnerTakeAll</a:t>
            </a:r>
          </a:p>
        </p:txBody>
      </p:sp>
      <p:sp>
        <p:nvSpPr>
          <p:cNvPr id="17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588FFD43-A60E-41CB-BFC7-B01120B9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863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1.025x</a:t>
            </a:r>
          </a:p>
        </p:txBody>
      </p:sp>
      <p:sp>
        <p:nvSpPr>
          <p:cNvPr id="18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97468375-89BC-4A81-B4AB-74444A3B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0863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94.3%</a:t>
            </a:r>
          </a:p>
        </p:txBody>
      </p:sp>
      <p:sp>
        <p:nvSpPr>
          <p:cNvPr id="19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DF3D6B64-2359-4B44-AA7A-73A8EF78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OneShotFit</a:t>
            </a:r>
          </a:p>
        </p:txBody>
      </p:sp>
      <p:sp>
        <p:nvSpPr>
          <p:cNvPr id="20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6ADB9636-B920-446E-BE87-31155D8F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3911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1.027x</a:t>
            </a:r>
          </a:p>
        </p:txBody>
      </p:sp>
      <p:sp>
        <p:nvSpPr>
          <p:cNvPr id="21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6C791FA4-673A-4920-8CE9-39134DC9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911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94.3%</a:t>
            </a:r>
          </a:p>
        </p:txBody>
      </p:sp>
      <p:sp>
        <p:nvSpPr>
          <p:cNvPr id="22" name="table-cell-4-0">
            <a:extLst xmlns:a="http://schemas.openxmlformats.org/drawingml/2006/main">
              <a:ext uri="{FF2B5EF4-FFF2-40B4-BE49-F238E27FC236}">
                <a16:creationId xmlns:a16="http://schemas.microsoft.com/office/drawing/2014/main" id="{31E8164E-4D3A-44E1-8D17-050F9BA2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1500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Athena MAB</a:t>
            </a:r>
          </a:p>
        </p:txBody>
      </p:sp>
      <p:sp>
        <p:nvSpPr>
          <p:cNvPr id="23" name="table-cell-4-1">
            <a:extLst xmlns:a="http://schemas.openxmlformats.org/drawingml/2006/main">
              <a:ext uri="{FF2B5EF4-FFF2-40B4-BE49-F238E27FC236}">
                <a16:creationId xmlns:a16="http://schemas.microsoft.com/office/drawing/2014/main" id="{B683DA4B-299F-49D2-B050-EB5E0AB2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71500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1.021x</a:t>
            </a:r>
          </a:p>
        </p:txBody>
      </p:sp>
      <p:sp>
        <p:nvSpPr>
          <p:cNvPr id="24" name="table-cell-4-2">
            <a:extLst xmlns:a="http://schemas.openxmlformats.org/drawingml/2006/main">
              <a:ext uri="{FF2B5EF4-FFF2-40B4-BE49-F238E27FC236}">
                <a16:creationId xmlns:a16="http://schemas.microsoft.com/office/drawing/2014/main" id="{D927779A-672B-41A6-8618-AE426EFA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71500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94.2%</a:t>
            </a:r>
          </a:p>
        </p:txBody>
      </p:sp>
      <p:pic>
        <p:nvPicPr>
          <p:cNvPr id="25" name="router-criter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9a09e56ed04ecb"/>
          <a:stretch xmlns:a="http://schemas.openxmlformats.org/drawingml/2006/main"/>
        </p:blipFill>
        <p:spPr>
          <a:xfrm xmlns:a="http://schemas.openxmlformats.org/drawingml/2006/main">
            <a:off x="7581138" y="3465393"/>
            <a:ext cx="10040112" cy="4819254"/>
          </a:xfrm>
          <a:prstGeom xmlns:a="http://schemas.openxmlformats.org/drawingml/2006/main" prst="rect">
            <a:avLst/>
          </a:prstGeom>
        </p:spPr>
      </p:pic>
      <p:sp>
        <p:nvSpPr>
          <p:cNvPr id="26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DF3BDB71-54AD-4006-B126-94E65D0B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9334500"/>
            <a:ext cx="100393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MoP-V2 improves over MoP-V1 on the 13-trace validation set, while the heldout effect is smaller and shown after policy selection.</a:t>
            </a:r>
          </a:p>
        </p:txBody>
      </p:sp>
    </p:spTree>
    <p:extLst>
      <p:ext uri="{BB962C8B-B14F-4D97-AF65-F5344CB8AC3E}">
        <p14:creationId xmlns:p14="http://schemas.microsoft.com/office/powerpoint/2010/main" val="19148116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3B5836-9107-4529-8BD8-B4B4DB6A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9753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OpenEvolve found close candidates across models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875AB4C-6854-45D7-B91C-7E78BE31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33550"/>
            <a:ext cx="9753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Quick-evaluation winners were similar, then wider validation and 13-trace confirmation selected MoP-V2.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81655715-256A-4061-90EC-D29DBC4C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7818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689c2df454e2f"/>
          <a:stretch xmlns:a="http://schemas.openxmlformats.org/drawingml/2006/main"/>
        </p:blipFill>
        <p:spPr>
          <a:xfrm xmlns:a="http://schemas.openxmlformats.org/drawingml/2006/main">
            <a:off x="647700" y="3436048"/>
            <a:ext cx="9755886" cy="4877943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53C0DB49-585D-4991-BAAB-6FFD3F9A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53550"/>
            <a:ext cx="97536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Faint points are quick-evaluation candidates. Dashed lines track the score-selected incumbent IPC, while solid lines track best IPC seen so far.</a:t>
            </a:r>
          </a:p>
        </p:txBody>
      </p:sp>
      <p:sp>
        <p:nvSpPr>
          <p:cNvPr id="6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D2D1425F-9411-42E7-BADA-90F19035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9555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Model</a:t>
            </a:r>
          </a:p>
        </p:txBody>
      </p:sp>
      <p:sp>
        <p:nvSpPr>
          <p:cNvPr id="7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43515D6B-5C4F-43EF-A3B1-3F63A227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49555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Iter</a:t>
            </a:r>
          </a:p>
        </p:txBody>
      </p:sp>
      <p:sp>
        <p:nvSpPr>
          <p:cNvPr id="8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173001C6-A835-401F-941A-4F914DF7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49555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Wide val</a:t>
            </a:r>
          </a:p>
        </p:txBody>
      </p:sp>
      <p:sp>
        <p:nvSpPr>
          <p:cNvPr id="9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3F949AE9-3AE2-4CF6-B710-ECE058B1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1940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GPT-5 mini</a:t>
            </a:r>
          </a:p>
        </p:txBody>
      </p:sp>
      <p:sp>
        <p:nvSpPr>
          <p:cNvPr id="10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9DE7400D-3CE1-4FD0-8FEE-8F10136A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81940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80</a:t>
            </a:r>
          </a:p>
        </p:txBody>
      </p:sp>
      <p:sp>
        <p:nvSpPr>
          <p:cNvPr id="11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882197E2-A61F-42D7-A2C8-F69A1D46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81940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1.087x</a:t>
            </a:r>
          </a:p>
        </p:txBody>
      </p:sp>
      <p:sp>
        <p:nvSpPr>
          <p:cNvPr id="12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326E5105-19E8-4AD7-B8D1-AF8E540F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14325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GPT-5.4</a:t>
            </a:r>
          </a:p>
        </p:txBody>
      </p:sp>
      <p:sp>
        <p:nvSpPr>
          <p:cNvPr id="13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3D059043-5A54-4374-BBE0-BA4B69B3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314325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80</a:t>
            </a:r>
          </a:p>
        </p:txBody>
      </p:sp>
      <p:sp>
        <p:nvSpPr>
          <p:cNvPr id="14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902D84FF-D1A8-4F73-9A3E-B7EDD5A8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14325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1.088x</a:t>
            </a:r>
          </a:p>
        </p:txBody>
      </p:sp>
      <p:sp>
        <p:nvSpPr>
          <p:cNvPr id="15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29B63528-6856-48C1-A2BD-C97A56E4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46710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Sonnet 4.6</a:t>
            </a:r>
          </a:p>
        </p:txBody>
      </p:sp>
      <p:sp>
        <p:nvSpPr>
          <p:cNvPr id="16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84CA71D2-D166-41C8-976D-8F5B2F3A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346710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F957B2E5-5D5A-42B2-BD9B-2D74FB57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46710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1.087x</a:t>
            </a:r>
          </a:p>
        </p:txBody>
      </p:sp>
      <p:sp>
        <p:nvSpPr>
          <p:cNvPr id="18" name="selected-policy">
            <a:extLst xmlns:a="http://schemas.openxmlformats.org/drawingml/2006/main">
              <a:ext uri="{FF2B5EF4-FFF2-40B4-BE49-F238E27FC236}">
                <a16:creationId xmlns:a16="http://schemas.microsoft.com/office/drawing/2014/main" id="{B35E998C-3710-4215-87BB-FF636F19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905250"/>
            <a:ext cx="67818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The selected policy reached 1.089x on the same 10-trace wider-validation set, then 1.066x on the 13-trace training-split validation set.</a:t>
            </a:r>
          </a:p>
        </p:txBody>
      </p:sp>
    </p:spTree>
    <p:extLst>
      <p:ext uri="{BB962C8B-B14F-4D97-AF65-F5344CB8AC3E}">
        <p14:creationId xmlns:p14="http://schemas.microsoft.com/office/powerpoint/2010/main" val="150908486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A00991-F932-4B62-9612-AFFB8876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6296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Routing behavior remained interpretable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1203530-4130-492F-A0DB-6B5B6B65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86296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MoP-V2 still acts like a compact epoch router, with observable action choices and budget behavior.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A604234B-E4A1-4C9B-82B8-74A7D74D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33400"/>
            <a:ext cx="77914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action-distribu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ee24a389644df"/>
          <a:stretch xmlns:a="http://schemas.openxmlformats.org/drawingml/2006/main"/>
        </p:blipFill>
        <p:spPr>
          <a:xfrm xmlns:a="http://schemas.openxmlformats.org/drawingml/2006/main">
            <a:off x="685800" y="4307551"/>
            <a:ext cx="8621078" cy="3134937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AFE750EA-70A1-40F1-871B-0BEAB5E5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15450"/>
            <a:ext cx="86296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Final routing behavior stays interpretable: the plot shows how MoP-V1 and MoP-V2 allocate selected epochs, budget, and useful prefetches across the two experts.</a:t>
            </a:r>
          </a:p>
        </p:txBody>
      </p:sp>
      <p:sp>
        <p:nvSpPr>
          <p:cNvPr id="6" name="bullet-0">
            <a:extLst xmlns:a="http://schemas.openxmlformats.org/drawingml/2006/main">
              <a:ext uri="{FF2B5EF4-FFF2-40B4-BE49-F238E27FC236}">
                <a16:creationId xmlns:a16="http://schemas.microsoft.com/office/drawing/2014/main" id="{6B60C36D-2082-4850-B316-AC67CA51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3365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The router can choose MLOP, SPP+PPF, both, or the off action after each epoch.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40933185-E752-4495-90BD-E8F29C64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7660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The selected budget and score weights shape these choices without changing simulator internals.</a:t>
            </a:r>
          </a:p>
        </p:txBody>
      </p:sp>
      <p:sp>
        <p:nvSpPr>
          <p:cNvPr id="8" name="bullet-2">
            <a:extLst xmlns:a="http://schemas.openxmlformats.org/drawingml/2006/main">
              <a:ext uri="{FF2B5EF4-FFF2-40B4-BE49-F238E27FC236}">
                <a16:creationId xmlns:a16="http://schemas.microsoft.com/office/drawing/2014/main" id="{E7AF4CB3-D9A1-40AA-B0A1-01E34EA8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1955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This keeps the final method inside a compact, auditable policy dictionary.</a:t>
            </a:r>
          </a:p>
        </p:txBody>
      </p:sp>
      <p:sp>
        <p:nvSpPr>
          <p:cNvPr id="9" name="logistics-pointer">
            <a:extLst xmlns:a="http://schemas.openxmlformats.org/drawingml/2006/main">
              <a:ext uri="{FF2B5EF4-FFF2-40B4-BE49-F238E27FC236}">
                <a16:creationId xmlns:a16="http://schemas.microsoft.com/office/drawing/2014/main" id="{F232B388-0641-4234-959C-D1194A62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779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report keeps raw implementation keys in writing_logistics.md so the main story can use public names.</a:t>
            </a:r>
          </a:p>
        </p:txBody>
      </p:sp>
    </p:spTree>
    <p:extLst>
      <p:ext uri="{BB962C8B-B14F-4D97-AF65-F5344CB8AC3E}">
        <p14:creationId xmlns:p14="http://schemas.microsoft.com/office/powerpoint/2010/main" val="17707385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19D8A8-CF2A-48F2-B755-C5ECC1CF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981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Claim and limitations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BD6F527-67A2-4CC7-948B-35A7C0F5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7981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final report makes a measured claim: strong training-split validation, small heldout lift, and transparent limits.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47C4454B-09C1-437C-9D29-5D9E927A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66750"/>
            <a:ext cx="7981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3505F7EB-DC23-4F5A-A5BA-B0B5555B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798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CLAIMS</a:t>
            </a:r>
          </a:p>
        </p:txBody>
      </p:sp>
      <p:sp>
        <p:nvSpPr>
          <p:cNvPr id="5" name="bullet-0">
            <a:extLst xmlns:a="http://schemas.openxmlformats.org/drawingml/2006/main">
              <a:ext uri="{FF2B5EF4-FFF2-40B4-BE49-F238E27FC236}">
                <a16:creationId xmlns:a16="http://schemas.microsoft.com/office/drawing/2014/main" id="{2BE6EE3C-2DC7-4D81-9853-797ACF7E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MoP-V2 improves over MoP-V1 on the 13-trace training-split validation set.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4C621591-25A7-4F73-932E-F8061AB9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MoP-V2 reaches 1.003x over disabled prefetching on seven heldout traces.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7D44AEF3-1308-4C1F-845C-3FC00661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Best expert remains a separate reference, with MoP-V2 reaching 97.9% of it on heldout.</a:t>
            </a:r>
          </a:p>
        </p:txBody>
      </p:sp>
      <p:sp>
        <p:nvSpPr>
          <p:cNvPr id="8" name="bullet-3">
            <a:extLst xmlns:a="http://schemas.openxmlformats.org/drawingml/2006/main">
              <a:ext uri="{FF2B5EF4-FFF2-40B4-BE49-F238E27FC236}">
                <a16:creationId xmlns:a16="http://schemas.microsoft.com/office/drawing/2014/main" id="{EC64B753-B87F-42C2-9DFD-2A3CB6AE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7981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Instruction count stays fixed within simulator-rounding error.</a:t>
            </a:r>
          </a:p>
        </p:txBody>
      </p: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82B5856A-96A2-412C-8838-2A78DDA4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90750"/>
            <a:ext cx="798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LIMITS AND REPRODUCTION</a:t>
            </a:r>
          </a:p>
        </p:txBody>
      </p:sp>
      <p:sp>
        <p:nvSpPr>
          <p:cNvPr id="10" name="bullet-0">
            <a:extLst xmlns:a="http://schemas.openxmlformats.org/drawingml/2006/main">
              <a:ext uri="{FF2B5EF4-FFF2-40B4-BE49-F238E27FC236}">
                <a16:creationId xmlns:a16="http://schemas.microsoft.com/office/drawing/2014/main" id="{158D00D6-B73F-41D7-99F3-624CF80F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9080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Seven heldout traces make the heldout result a sanity check with visible per-trace variation.</a:t>
            </a:r>
          </a:p>
        </p:txBody>
      </p:sp>
      <p:sp>
        <p:nvSpPr>
          <p:cNvPr id="11" name="bullet-1">
            <a:extLst xmlns:a="http://schemas.openxmlformats.org/drawingml/2006/main">
              <a:ext uri="{FF2B5EF4-FFF2-40B4-BE49-F238E27FC236}">
                <a16:creationId xmlns:a16="http://schemas.microsoft.com/office/drawing/2014/main" id="{0504FF25-DE2D-4D99-8FCA-E4DC34C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337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secret_compute_fp_105 remains the largest heldout loss relative to best expert.</a:t>
            </a:r>
          </a:p>
        </p:txBody>
      </p:sp>
      <p:sp>
        <p:nvSpPr>
          <p:cNvPr id="12" name="bullet-2">
            <a:extLst xmlns:a="http://schemas.openxmlformats.org/drawingml/2006/main">
              <a:ext uri="{FF2B5EF4-FFF2-40B4-BE49-F238E27FC236}">
                <a16:creationId xmlns:a16="http://schemas.microsoft.com/office/drawing/2014/main" id="{492FD279-5EF9-4AA9-A3FC-27995007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576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Malformed or out-of-contract OpenEvolve candidates stay in the candidate record with failure scores.</a:t>
            </a:r>
          </a:p>
        </p:txBody>
      </p:sp>
      <p:sp>
        <p:nvSpPr>
          <p:cNvPr id="13" name="bullet-3">
            <a:extLst xmlns:a="http://schemas.openxmlformats.org/drawingml/2006/main">
              <a:ext uri="{FF2B5EF4-FFF2-40B4-BE49-F238E27FC236}">
                <a16:creationId xmlns:a16="http://schemas.microsoft.com/office/drawing/2014/main" id="{2E5D3DF3-751E-4887-8C60-1AD5FA4E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815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Reproduction paths, naming map, and generated-file list live in the writing logistics note.</a:t>
            </a:r>
          </a:p>
        </p:txBody>
      </p:sp>
    </p:spTree>
    <p:extLst>
      <p:ext uri="{BB962C8B-B14F-4D97-AF65-F5344CB8AC3E}">
        <p14:creationId xmlns:p14="http://schemas.microsoft.com/office/powerpoint/2010/main" val="9592911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2026-04-30T19:33:24.6230000Z</dcterms:created>
  <dcterms:modified xsi:type="dcterms:W3CDTF">2026-04-30T19:33:24.6230000Z</dcterms:modified>
</coreProperties>
</file>