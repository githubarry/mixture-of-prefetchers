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74d717b52c40ef" /><Relationship Type="http://schemas.openxmlformats.org/officeDocument/2006/relationships/extended-properties" Target="/docProps/app.xml" Id="Rd1db8d308fcc4fc3" /><Relationship Type="http://schemas.openxmlformats.org/officeDocument/2006/relationships/officeDocument" Target="/ppt/presentation.xml" Id="Rd7615b4d0d104e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7eb8a0f0d04579"/>
  </p:sldMasterIdLst>
  <p:notesMasterIdLst>
    <p:notesMasterId xmlns:r="http://schemas.openxmlformats.org/officeDocument/2006/relationships" r:id="Rc6c2614b778443a5"/>
  </p:notesMasterIdLst>
  <p:sldIdLst>
    <p:sldId xmlns:r="http://schemas.openxmlformats.org/officeDocument/2006/relationships" id="256" r:id="R8beaa51bf574410a"/>
    <p:sldId xmlns:r="http://schemas.openxmlformats.org/officeDocument/2006/relationships" id="257" r:id="Rdea68e73533647d6"/>
    <p:sldId xmlns:r="http://schemas.openxmlformats.org/officeDocument/2006/relationships" id="258" r:id="Red0d9fcb08c449a1"/>
    <p:sldId xmlns:r="http://schemas.openxmlformats.org/officeDocument/2006/relationships" id="259" r:id="Re019cf7fa3fa4ecb"/>
    <p:sldId xmlns:r="http://schemas.openxmlformats.org/officeDocument/2006/relationships" id="260" r:id="Raed7fd43a2534988"/>
    <p:sldId xmlns:r="http://schemas.openxmlformats.org/officeDocument/2006/relationships" id="261" r:id="R41ca224487b84c8c"/>
    <p:sldId xmlns:r="http://schemas.openxmlformats.org/officeDocument/2006/relationships" id="262" r:id="R3c7768c49eeb4c22"/>
    <p:sldId xmlns:r="http://schemas.openxmlformats.org/officeDocument/2006/relationships" id="263" r:id="R721a3affb238437b"/>
    <p:sldId xmlns:r="http://schemas.openxmlformats.org/officeDocument/2006/relationships" id="264" r:id="R399c9aa2650f44a2"/>
    <p:sldId xmlns:r="http://schemas.openxmlformats.org/officeDocument/2006/relationships" id="265" r:id="R0f02b8d0f8854daa"/>
    <p:sldId xmlns:r="http://schemas.openxmlformats.org/officeDocument/2006/relationships" id="266" r:id="Rc86184d8cb934ee1"/>
    <p:sldId xmlns:r="http://schemas.openxmlformats.org/officeDocument/2006/relationships" id="267" r:id="Rc0906d0092b1422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7eb8a0f0d04579" /><Relationship Type="http://schemas.openxmlformats.org/officeDocument/2006/relationships/theme" Target="/ppt/theme/theme1.xml" Id="R7d1d801a1a854225" /><Relationship Type="http://schemas.openxmlformats.org/officeDocument/2006/relationships/notesMaster" Target="/ppt/notesMasters/notesMaster1.xml" Id="Rc6c2614b778443a5" /><Relationship Type="http://schemas.openxmlformats.org/officeDocument/2006/relationships/presProps" Target="/ppt/presProps.xml" Id="R905f9636f1d24a25" /><Relationship Type="http://schemas.openxmlformats.org/officeDocument/2006/relationships/viewProps" Target="/ppt/viewProps.xml" Id="R3ffebb353dcb4c55" /><Relationship Type="http://schemas.openxmlformats.org/officeDocument/2006/relationships/tableStyles" Target="/ppt/tableStyles.xml" Id="R51b999fa654c4f4a" /><Relationship Type="http://schemas.openxmlformats.org/officeDocument/2006/relationships/slide" Target="/ppt/slides/slide1.xml" Id="R8beaa51bf574410a" /><Relationship Type="http://schemas.openxmlformats.org/officeDocument/2006/relationships/slide" Target="/ppt/slides/slide2.xml" Id="Rdea68e73533647d6" /><Relationship Type="http://schemas.openxmlformats.org/officeDocument/2006/relationships/slide" Target="/ppt/slides/slide3.xml" Id="Red0d9fcb08c449a1" /><Relationship Type="http://schemas.openxmlformats.org/officeDocument/2006/relationships/slide" Target="/ppt/slides/slide4.xml" Id="Re019cf7fa3fa4ecb" /><Relationship Type="http://schemas.openxmlformats.org/officeDocument/2006/relationships/slide" Target="/ppt/slides/slide5.xml" Id="Raed7fd43a2534988" /><Relationship Type="http://schemas.openxmlformats.org/officeDocument/2006/relationships/slide" Target="/ppt/slides/slide6.xml" Id="R41ca224487b84c8c" /><Relationship Type="http://schemas.openxmlformats.org/officeDocument/2006/relationships/slide" Target="/ppt/slides/slide7.xml" Id="R3c7768c49eeb4c22" /><Relationship Type="http://schemas.openxmlformats.org/officeDocument/2006/relationships/slide" Target="/ppt/slides/slide8.xml" Id="R721a3affb238437b" /><Relationship Type="http://schemas.openxmlformats.org/officeDocument/2006/relationships/slide" Target="/ppt/slides/slide9.xml" Id="R399c9aa2650f44a2" /><Relationship Type="http://schemas.openxmlformats.org/officeDocument/2006/relationships/slide" Target="/ppt/slides/slide10.xml" Id="R0f02b8d0f8854daa" /><Relationship Type="http://schemas.openxmlformats.org/officeDocument/2006/relationships/slide" Target="/ppt/slides/slide11.xml" Id="Rc86184d8cb934ee1" /><Relationship Type="http://schemas.openxmlformats.org/officeDocument/2006/relationships/slide" Target="/ppt/slides/slide12.xml" Id="Rc0906d0092b142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59a6e0cc44d45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a2807d3d5a478f" /><Relationship Type="http://schemas.openxmlformats.org/officeDocument/2006/relationships/notesMaster" Target="/ppt/notesMasters/notesMaster1.xml" Id="Rf77b34cf043d40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8c832024c1495f" /><Relationship Type="http://schemas.openxmlformats.org/officeDocument/2006/relationships/notesMaster" Target="/ppt/notesMasters/notesMaster1.xml" Id="Ra24171dc87cb49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5546ba0c2c4c36" /><Relationship Type="http://schemas.openxmlformats.org/officeDocument/2006/relationships/notesMaster" Target="/ppt/notesMasters/notesMaster1.xml" Id="Ra30c6b6887de42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6e71126f754265" /><Relationship Type="http://schemas.openxmlformats.org/officeDocument/2006/relationships/notesMaster" Target="/ppt/notesMasters/notesMaster1.xml" Id="R93f7837830ea44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4d80865ce94cc4" /><Relationship Type="http://schemas.openxmlformats.org/officeDocument/2006/relationships/notesMaster" Target="/ppt/notesMasters/notesMaster1.xml" Id="Rbf4c3de0bcf444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3c803379184148" /><Relationship Type="http://schemas.openxmlformats.org/officeDocument/2006/relationships/notesMaster" Target="/ppt/notesMasters/notesMaster1.xml" Id="R8747fa2c9e7545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24e0f7fdcb415c" /><Relationship Type="http://schemas.openxmlformats.org/officeDocument/2006/relationships/notesMaster" Target="/ppt/notesMasters/notesMaster1.xml" Id="Rea37ee3f2eca42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206a19e3e24303" /><Relationship Type="http://schemas.openxmlformats.org/officeDocument/2006/relationships/notesMaster" Target="/ppt/notesMasters/notesMaster1.xml" Id="R8c45d881175340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0ff90721a74380" /><Relationship Type="http://schemas.openxmlformats.org/officeDocument/2006/relationships/notesMaster" Target="/ppt/notesMasters/notesMaster1.xml" Id="Rdaf760746d784f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e9e7c19c164755" /><Relationship Type="http://schemas.openxmlformats.org/officeDocument/2006/relationships/notesMaster" Target="/ppt/notesMasters/notesMaster1.xml" Id="R369982e1e6eb4b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a877d548374d31" /><Relationship Type="http://schemas.openxmlformats.org/officeDocument/2006/relationships/notesMaster" Target="/ppt/notesMasters/notesMaster1.xml" Id="R59c38b9dd67444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8c582dcfea4478" /><Relationship Type="http://schemas.openxmlformats.org/officeDocument/2006/relationships/notesMaster" Target="/ppt/notesMasters/notesMaster1.xml" Id="R893327ce750243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97c2554d5d4f4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13742f095ea4722" /><Relationship Type="http://schemas.openxmlformats.org/officeDocument/2006/relationships/slideLayout" Target="/ppt/slideLayouts/slideLayout2.xml" Id="R046f1564e37643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6f1564e37643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d658e774ce4c38" /><Relationship Type="http://schemas.openxmlformats.org/officeDocument/2006/relationships/image" Target="/ppt/media/image.png" Id="R4441cadf86094a6a" /><Relationship Type="http://schemas.openxmlformats.org/officeDocument/2006/relationships/image" Target="/ppt/media/image2.png" Id="R481b6f6b299f4cf0" /><Relationship Type="http://schemas.openxmlformats.org/officeDocument/2006/relationships/image" Target="/ppt/media/image3.png" Id="R846a553b06f84130" /><Relationship Type="http://schemas.openxmlformats.org/officeDocument/2006/relationships/notesSlide" Target="/ppt/notesSlides/notesSlide1.xml" Id="R8ebb860e605f4d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f1fc6d8c574a19" /><Relationship Type="http://schemas.openxmlformats.org/officeDocument/2006/relationships/notesSlide" Target="/ppt/notesSlides/notesSlide2.xml" Id="R997eb9afde8444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429fc86a4f481d" /><Relationship Type="http://schemas.openxmlformats.org/officeDocument/2006/relationships/notesSlide" Target="/ppt/notesSlides/notesSlide3.xml" Id="Rcae4beac8f5941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16e5c5d01c4a0d" /><Relationship Type="http://schemas.openxmlformats.org/officeDocument/2006/relationships/notesSlide" Target="/ppt/notesSlides/notesSlide4.xml" Id="Rcfd707392d1245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3dfc935daf406b" /><Relationship Type="http://schemas.openxmlformats.org/officeDocument/2006/relationships/image" Target="/ppt/media/image4.png" Id="Ra9ac0cb36d3c4fe7" /><Relationship Type="http://schemas.openxmlformats.org/officeDocument/2006/relationships/notesSlide" Target="/ppt/notesSlides/notesSlide5.xml" Id="R7b35479f30514d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a3a20d10a14c0b" /><Relationship Type="http://schemas.openxmlformats.org/officeDocument/2006/relationships/image" Target="/ppt/media/image5.png" Id="Rfb2e75ebb8344a95" /><Relationship Type="http://schemas.openxmlformats.org/officeDocument/2006/relationships/notesSlide" Target="/ppt/notesSlides/notesSlide6.xml" Id="R54da375d5a4149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890d6fba954090" /><Relationship Type="http://schemas.openxmlformats.org/officeDocument/2006/relationships/image" Target="/ppt/media/image6.png" Id="R87eb2d41b25a4475" /><Relationship Type="http://schemas.openxmlformats.org/officeDocument/2006/relationships/notesSlide" Target="/ppt/notesSlides/notesSlide7.xml" Id="R8ab721c5fc3c49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183dbaa6ee4170" /><Relationship Type="http://schemas.openxmlformats.org/officeDocument/2006/relationships/image" Target="/ppt/media/image7.png" Id="R3f6b97485da3458b" /><Relationship Type="http://schemas.openxmlformats.org/officeDocument/2006/relationships/notesSlide" Target="/ppt/notesSlides/notesSlide8.xml" Id="R14ff238ce34243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6878a41a9140f7" /><Relationship Type="http://schemas.openxmlformats.org/officeDocument/2006/relationships/image" Target="/ppt/media/image8.png" Id="R62e884c27cbb4e1c" /><Relationship Type="http://schemas.openxmlformats.org/officeDocument/2006/relationships/notesSlide" Target="/ppt/notesSlides/notesSlide9.xml" Id="Rb63c5617dd3c41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c67448e776417d" /><Relationship Type="http://schemas.openxmlformats.org/officeDocument/2006/relationships/image" Target="/ppt/media/image9.png" Id="Ra9f21853cd114ac4" /><Relationship Type="http://schemas.openxmlformats.org/officeDocument/2006/relationships/notesSlide" Target="/ppt/notesSlides/notesSlide10.xml" Id="Rfddc6bb1b41943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c6812e581440c0" /><Relationship Type="http://schemas.openxmlformats.org/officeDocument/2006/relationships/image" Target="/ppt/media/image10.png" Id="Rea4d5f9ce49940d4" /><Relationship Type="http://schemas.openxmlformats.org/officeDocument/2006/relationships/notesSlide" Target="/ppt/notesSlides/notesSlide11.xml" Id="R5887f82614234f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34ec9a14834a06" /><Relationship Type="http://schemas.openxmlformats.org/officeDocument/2006/relationships/notesSlide" Target="/ppt/notesSlides/notesSlide12.xml" Id="R0f5a30e7dfe8467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E214BBD-8C9D-4271-B5E2-D7FF9C40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7943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F6FD1"/>
                </a:solidFill>
              </a:defRPr>
            </a:pPr>
            <a:r>
              <a:rPr sz="1350" b="1">
                <a:solidFill>
                  <a:srgbClr val="3F6FD1"/>
                </a:solidFill>
              </a:rPr>
              <a:t>OPENEVOLVE-TUNED L2 CACHE PREFETCH ROUTING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73CF15B-02D3-4C6C-80FD-4369B5B2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23950"/>
            <a:ext cx="79438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000000"/>
                </a:solidFill>
              </a:defRPr>
            </a:pPr>
            <a:r>
              <a:rPr sz="5700" b="1">
                <a:solidFill>
                  <a:srgbClr val="000000"/>
                </a:solidFill>
              </a:rPr>
              <a:t>Mixture of Prefetchers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FBAF4C6A-EB93-4648-9775-AAC94064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381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7F"/>
          </a:solidFill>
          <a:ln xmlns:a="http://schemas.openxmlformats.org/drawingml/2006/main" w="0">
            <a:solidFill>
              <a:srgbClr val="DC267F"/>
            </a:solidFill>
            <a:prstDash val="solid"/>
          </a:ln>
        </p:spPr>
      </p:sp>
      <p:sp>
        <p:nvSpPr>
          <p:cNvPr id="4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725502AA-263D-4CD0-AD5F-873D78E8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79438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000000"/>
                </a:solidFill>
              </a:defRPr>
            </a:pPr>
            <a:r>
              <a:rPr sz="2325">
                <a:solidFill>
                  <a:srgbClr val="000000"/>
                </a:solidFill>
              </a:rPr>
              <a:t>A compact router chooses between MLOP and SPP+PPF after each epoch, then OpenEvolve tunes the policy dictionary.</a:t>
            </a:r>
          </a:p>
        </p:txBody>
      </p:sp>
      <p:sp>
        <p:nvSpPr>
          <p:cNvPr id="5" name="cover-scope">
            <a:extLst xmlns:a="http://schemas.openxmlformats.org/drawingml/2006/main">
              <a:ext uri="{FF2B5EF4-FFF2-40B4-BE49-F238E27FC236}">
                <a16:creationId xmlns:a16="http://schemas.microsoft.com/office/drawing/2014/main" id="{36DCC240-172B-4016-A48A-8E7843A3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7943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3333"/>
                </a:solidFill>
              </a:defRPr>
            </a:pPr>
            <a:r>
              <a:rPr sz="1875">
                <a:solidFill>
                  <a:srgbClr val="333333"/>
                </a:solidFill>
              </a:rPr>
              <a:t>Final claim size: strong 13-trace training-split validation result, modest heldout generalization over disabled prefetching.</a:t>
            </a:r>
          </a:p>
        </p:txBody>
      </p:sp>
      <p:pic>
        <p:nvPicPr>
          <p:cNvPr id="6" name="icon-rou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1cadf86094a6a"/>
          <a:stretch xmlns:a="http://schemas.openxmlformats.org/drawingml/2006/main"/>
        </p:blipFill>
        <p:spPr>
          <a:xfrm xmlns:a="http://schemas.openxmlformats.org/drawingml/2006/main">
            <a:off x="9477375" y="6667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7" name="icon-heading-Route the next epoch">
            <a:extLst xmlns:a="http://schemas.openxmlformats.org/drawingml/2006/main">
              <a:ext uri="{FF2B5EF4-FFF2-40B4-BE49-F238E27FC236}">
                <a16:creationId xmlns:a16="http://schemas.microsoft.com/office/drawing/2014/main" id="{DE9E5F87-646E-487D-8E21-2F8EB5E5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6675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F6FD1"/>
                </a:solidFill>
              </a:defRPr>
            </a:pPr>
            <a:r>
              <a:rPr sz="1950" b="1">
                <a:solidFill>
                  <a:srgbClr val="3F6FD1"/>
                </a:solidFill>
              </a:rPr>
              <a:t>Route the next epoch</a:t>
            </a:r>
          </a:p>
        </p:txBody>
      </p:sp>
      <p:sp>
        <p:nvSpPr>
          <p:cNvPr id="8" name="icon-body-Route the next epoch">
            <a:extLst xmlns:a="http://schemas.openxmlformats.org/drawingml/2006/main">
              <a:ext uri="{FF2B5EF4-FFF2-40B4-BE49-F238E27FC236}">
                <a16:creationId xmlns:a16="http://schemas.microsoft.com/office/drawing/2014/main" id="{05957C3D-C8AF-4747-BB79-9956F199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009650"/>
            <a:ext cx="7258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Use recent usefulness counters to choose MLOP, SPP+PPF, both, or the off action.</a:t>
            </a:r>
          </a:p>
        </p:txBody>
      </p:sp>
      <p:pic>
        <p:nvPicPr>
          <p:cNvPr id="9" name="icon-tun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b6f6b299f4cf0"/>
          <a:stretch xmlns:a="http://schemas.openxmlformats.org/drawingml/2006/main"/>
        </p:blipFill>
        <p:spPr>
          <a:xfrm xmlns:a="http://schemas.openxmlformats.org/drawingml/2006/main">
            <a:off x="9477375" y="152590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0" name="icon-heading-Tune a small policy">
            <a:extLst xmlns:a="http://schemas.openxmlformats.org/drawingml/2006/main">
              <a:ext uri="{FF2B5EF4-FFF2-40B4-BE49-F238E27FC236}">
                <a16:creationId xmlns:a16="http://schemas.microsoft.com/office/drawing/2014/main" id="{08E168A4-C243-431E-AA3D-02B16C42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5240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C267F"/>
                </a:solidFill>
              </a:defRPr>
            </a:pPr>
            <a:r>
              <a:rPr sz="1950" b="1">
                <a:solidFill>
                  <a:srgbClr val="DC267F"/>
                </a:solidFill>
              </a:rPr>
              <a:t>Tune a small policy</a:t>
            </a:r>
          </a:p>
        </p:txBody>
      </p:sp>
      <p:sp>
        <p:nvSpPr>
          <p:cNvPr id="11" name="icon-body-Tune a small policy">
            <a:extLst xmlns:a="http://schemas.openxmlformats.org/drawingml/2006/main">
              <a:ext uri="{FF2B5EF4-FFF2-40B4-BE49-F238E27FC236}">
                <a16:creationId xmlns:a16="http://schemas.microsoft.com/office/drawing/2014/main" id="{A482DD73-D667-4E22-A42A-F4F44355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866900"/>
            <a:ext cx="7258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OpenEvolve changes budget, score weights, accuracy floor, and tie margin.</a:t>
            </a:r>
          </a:p>
        </p:txBody>
      </p:sp>
      <p:pic>
        <p:nvPicPr>
          <p:cNvPr id="12" name="icon-fact_chec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a553b06f84130"/>
          <a:stretch xmlns:a="http://schemas.openxmlformats.org/drawingml/2006/main"/>
        </p:blipFill>
        <p:spPr>
          <a:xfrm xmlns:a="http://schemas.openxmlformats.org/drawingml/2006/main">
            <a:off x="9477375" y="23850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icon-heading-Claim the right result size">
            <a:extLst xmlns:a="http://schemas.openxmlformats.org/drawingml/2006/main">
              <a:ext uri="{FF2B5EF4-FFF2-40B4-BE49-F238E27FC236}">
                <a16:creationId xmlns:a16="http://schemas.microsoft.com/office/drawing/2014/main" id="{9D15B451-3105-43B8-9360-6A7E88D7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38125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E6100"/>
                </a:solidFill>
              </a:defRPr>
            </a:pPr>
            <a:r>
              <a:rPr sz="1950" b="1">
                <a:solidFill>
                  <a:srgbClr val="FE6100"/>
                </a:solidFill>
              </a:rPr>
              <a:t>Claim the right result size</a:t>
            </a:r>
          </a:p>
        </p:txBody>
      </p:sp>
      <p:sp>
        <p:nvSpPr>
          <p:cNvPr id="14" name="icon-body-Claim the right result size">
            <a:extLst xmlns:a="http://schemas.openxmlformats.org/drawingml/2006/main">
              <a:ext uri="{FF2B5EF4-FFF2-40B4-BE49-F238E27FC236}">
                <a16:creationId xmlns:a16="http://schemas.microsoft.com/office/drawing/2014/main" id="{E40C7751-82E1-42AC-8FA3-42688E02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24150"/>
            <a:ext cx="7258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MoP-V2 reaches 1.066x on 13 training-split validation traces and 1.003x on heldout.</a:t>
            </a:r>
          </a:p>
        </p:txBody>
      </p:sp>
      <p:sp>
        <p:nvSpPr>
          <p:cNvPr id="15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9AD0BF45-9739-4A69-8859-38C93A3B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801100"/>
            <a:ext cx="165354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CMU 15-740 class project. Disabled prefetching is the 1.000x reference throughout.</a:t>
            </a:r>
          </a:p>
        </p:txBody>
      </p:sp>
    </p:spTree>
    <p:extLst>
      <p:ext uri="{BB962C8B-B14F-4D97-AF65-F5344CB8AC3E}">
        <p14:creationId xmlns:p14="http://schemas.microsoft.com/office/powerpoint/2010/main" val="7946589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143532-F579-445C-A396-617BE287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76009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What we built on Athena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4CDAF2F-251C-46CA-91D1-9134495F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33500"/>
            <a:ext cx="7600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33333"/>
                </a:solidFill>
              </a:defRPr>
            </a:pPr>
            <a:r>
              <a:rPr sz="1725">
                <a:solidFill>
                  <a:srgbClr val="333333"/>
                </a:solidFill>
              </a:rPr>
              <a:t>The project adds a router layer and a small policy-search loop above existing Athena L2C prefetchers.</a:t>
            </a:r>
          </a:p>
        </p:txBody>
      </p:sp>
      <p:sp>
        <p:nvSpPr>
          <p:cNvPr id="3" name="blank-title-peer">
            <a:extLst xmlns:a="http://schemas.openxmlformats.org/drawingml/2006/main">
              <a:ext uri="{FF2B5EF4-FFF2-40B4-BE49-F238E27FC236}">
                <a16:creationId xmlns:a16="http://schemas.microsoft.com/office/drawing/2014/main" id="{B62A531E-0343-43A8-93F8-356B8453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66750"/>
            <a:ext cx="83820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08A75D6-9B5E-4740-84D3-C5974A2F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7600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267F"/>
                </a:solidFill>
              </a:defRPr>
            </a:pPr>
            <a:r>
              <a:rPr sz="1350" b="1">
                <a:solidFill>
                  <a:srgbClr val="DC267F"/>
                </a:solidFill>
              </a:rPr>
              <a:t>ROUTER NAMES</a:t>
            </a:r>
          </a:p>
        </p:txBody>
      </p:sp>
      <p:sp>
        <p:nvSpPr>
          <p:cNvPr id="5" name="kv-key-0">
            <a:extLst xmlns:a="http://schemas.openxmlformats.org/drawingml/2006/main">
              <a:ext uri="{FF2B5EF4-FFF2-40B4-BE49-F238E27FC236}">
                <a16:creationId xmlns:a16="http://schemas.microsoft.com/office/drawing/2014/main" id="{6988B437-1BD6-4590-BDB4-F812F877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257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MoP-V1</a:t>
            </a:r>
          </a:p>
        </p:txBody>
      </p:sp>
      <p:sp>
        <p:nvSpPr>
          <p:cNvPr id="6" name="kv-value-0">
            <a:extLst xmlns:a="http://schemas.openxmlformats.org/drawingml/2006/main">
              <a:ext uri="{FF2B5EF4-FFF2-40B4-BE49-F238E27FC236}">
                <a16:creationId xmlns:a16="http://schemas.microsoft.com/office/drawing/2014/main" id="{638D51D2-8240-4BEB-B0E6-77F51411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6134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3333"/>
                </a:solidFill>
              </a:defRPr>
            </a:pPr>
            <a:r>
              <a:rPr sz="1875">
                <a:solidFill>
                  <a:srgbClr val="333333"/>
                </a:solidFill>
              </a:rPr>
              <a:t>Manual one-epoch probe router. It probes both experts, then routes to the higher-scoring expert.</a:t>
            </a:r>
          </a:p>
        </p:txBody>
      </p:sp>
      <p:sp>
        <p:nvSpPr>
          <p:cNvPr id="7" name="kv-key-1">
            <a:extLst xmlns:a="http://schemas.openxmlformats.org/drawingml/2006/main">
              <a:ext uri="{FF2B5EF4-FFF2-40B4-BE49-F238E27FC236}">
                <a16:creationId xmlns:a16="http://schemas.microsoft.com/office/drawing/2014/main" id="{BF1E111B-AF2E-459F-95DE-B3796A93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257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MoP-V2</a:t>
            </a:r>
          </a:p>
        </p:txBody>
      </p:sp>
      <p:sp>
        <p:nvSpPr>
          <p:cNvPr id="8" name="kv-value-1">
            <a:extLst xmlns:a="http://schemas.openxmlformats.org/drawingml/2006/main">
              <a:ext uri="{FF2B5EF4-FFF2-40B4-BE49-F238E27FC236}">
                <a16:creationId xmlns:a16="http://schemas.microsoft.com/office/drawing/2014/main" id="{FA4F2B66-05CC-491C-AD06-EBCE0D11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57550"/>
            <a:ext cx="6134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3333"/>
                </a:solidFill>
              </a:defRPr>
            </a:pPr>
            <a:r>
              <a:rPr sz="1875">
                <a:solidFill>
                  <a:srgbClr val="333333"/>
                </a:solidFill>
              </a:rPr>
              <a:t>OpenEvolve-tuned router. It keeps the same public role and tunes budget, scoring, and tie behavior.</a:t>
            </a:r>
          </a:p>
        </p:txBody>
      </p:sp>
      <p:sp>
        <p:nvSpPr>
          <p:cNvPr id="9" name="kv-key-2">
            <a:extLst xmlns:a="http://schemas.openxmlformats.org/drawingml/2006/main">
              <a:ext uri="{FF2B5EF4-FFF2-40B4-BE49-F238E27FC236}">
                <a16:creationId xmlns:a16="http://schemas.microsoft.com/office/drawing/2014/main" id="{40862CB4-88FA-4312-A799-29D1DC4C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1257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Experts</a:t>
            </a:r>
          </a:p>
        </p:txBody>
      </p:sp>
      <p:sp>
        <p:nvSpPr>
          <p:cNvPr id="10" name="kv-value-2">
            <a:extLst xmlns:a="http://schemas.openxmlformats.org/drawingml/2006/main">
              <a:ext uri="{FF2B5EF4-FFF2-40B4-BE49-F238E27FC236}">
                <a16:creationId xmlns:a16="http://schemas.microsoft.com/office/drawing/2014/main" id="{D053D788-33EE-41B7-A48E-BE6406C4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24300"/>
            <a:ext cx="6134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3333"/>
                </a:solidFill>
              </a:defRPr>
            </a:pPr>
            <a:r>
              <a:rPr sz="1875">
                <a:solidFill>
                  <a:srgbClr val="333333"/>
                </a:solidFill>
              </a:rPr>
              <a:t>MLOP and SPP+PPF are the two Athena L2-cache prefetchers used by this router.</a:t>
            </a:r>
          </a:p>
        </p:txBody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63E66C7B-90DB-40C3-A158-8C577F4E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90750"/>
            <a:ext cx="838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F6FD1"/>
                </a:solidFill>
              </a:defRPr>
            </a:pPr>
            <a:r>
              <a:rPr sz="1350" b="1">
                <a:solidFill>
                  <a:srgbClr val="3F6FD1"/>
                </a:solidFill>
              </a:rPr>
              <a:t>EVIDENCE LAYER</a:t>
            </a:r>
          </a:p>
        </p:txBody>
      </p:sp>
      <p:sp>
        <p:nvSpPr>
          <p:cNvPr id="12" name="bullet-0">
            <a:extLst xmlns:a="http://schemas.openxmlformats.org/drawingml/2006/main">
              <a:ext uri="{FF2B5EF4-FFF2-40B4-BE49-F238E27FC236}">
                <a16:creationId xmlns:a16="http://schemas.microsoft.com/office/drawing/2014/main" id="{8D033E5F-9B72-4780-B679-1C4A9AED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90800"/>
            <a:ext cx="838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</a:defRPr>
            </a:pPr>
            <a:r>
              <a:rPr sz="2100">
                <a:solidFill>
                  <a:srgbClr val="000000"/>
                </a:solidFill>
              </a:rPr>
              <a:t>Epoch-level counters record issued and useful prefetches.</a:t>
            </a:r>
          </a:p>
        </p:txBody>
      </p:sp>
      <p:sp>
        <p:nvSpPr>
          <p:cNvPr id="13" name="bullet-1">
            <a:extLst xmlns:a="http://schemas.openxmlformats.org/drawingml/2006/main">
              <a:ext uri="{FF2B5EF4-FFF2-40B4-BE49-F238E27FC236}">
                <a16:creationId xmlns:a16="http://schemas.microsoft.com/office/drawing/2014/main" id="{0E89E8F1-224F-4301-9154-E66101F9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48000"/>
            <a:ext cx="838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</a:defRPr>
            </a:pPr>
            <a:r>
              <a:rPr sz="2100">
                <a:solidFill>
                  <a:srgbClr val="000000"/>
                </a:solidFill>
              </a:rPr>
              <a:t>OpenEvolve edits a small literal policy dictionary.</a:t>
            </a:r>
          </a:p>
        </p:txBody>
      </p:sp>
      <p:sp>
        <p:nvSpPr>
          <p:cNvPr id="14" name="bullet-2">
            <a:extLst xmlns:a="http://schemas.openxmlformats.org/drawingml/2006/main">
              <a:ext uri="{FF2B5EF4-FFF2-40B4-BE49-F238E27FC236}">
                <a16:creationId xmlns:a16="http://schemas.microsoft.com/office/drawing/2014/main" id="{1013A4D7-3C35-47DF-929D-074C048C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05200"/>
            <a:ext cx="8382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</a:defRPr>
            </a:pPr>
            <a:r>
              <a:rPr sz="2100">
                <a:solidFill>
                  <a:srgbClr val="000000"/>
                </a:solidFill>
              </a:rPr>
              <a:t>Generated candidate records preserve valid scored rows and fail-closed rows.</a:t>
            </a:r>
          </a:p>
        </p:txBody>
      </p:sp>
      <p:sp>
        <p:nvSpPr>
          <p:cNvPr id="15" name="bullet-3">
            <a:extLst xmlns:a="http://schemas.openxmlformats.org/drawingml/2006/main">
              <a:ext uri="{FF2B5EF4-FFF2-40B4-BE49-F238E27FC236}">
                <a16:creationId xmlns:a16="http://schemas.microsoft.com/office/drawing/2014/main" id="{E5DB750E-CEE7-4EB6-9CEE-148F690B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86250"/>
            <a:ext cx="838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</a:defRPr>
            </a:pPr>
            <a:r>
              <a:rPr sz="2100">
                <a:solidFill>
                  <a:srgbClr val="000000"/>
                </a:solidFill>
              </a:rPr>
              <a:t>Report tables and figures rebuild from simulator summaries.</a:t>
            </a:r>
          </a:p>
        </p:txBody>
      </p:sp>
    </p:spTree>
    <p:extLst>
      <p:ext uri="{BB962C8B-B14F-4D97-AF65-F5344CB8AC3E}">
        <p14:creationId xmlns:p14="http://schemas.microsoft.com/office/powerpoint/2010/main" val="5741239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330A14-9793-4AEC-A320-5149D020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8382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Trace protocol and comparators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FF1EE70-DFCA-4175-8E65-9365B182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335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33333"/>
                </a:solidFill>
              </a:defRPr>
            </a:pPr>
            <a:r>
              <a:rPr sz="1725">
                <a:solidFill>
                  <a:srgbClr val="333333"/>
                </a:solidFill>
              </a:rPr>
              <a:t>All performance numbers use disabled prefetching as 1.000x. Best expert is a per-trace reference.</a:t>
            </a:r>
          </a:p>
        </p:txBody>
      </p:sp>
      <p:sp>
        <p:nvSpPr>
          <p:cNvPr id="3" name="blank-title-peer">
            <a:extLst xmlns:a="http://schemas.openxmlformats.org/drawingml/2006/main">
              <a:ext uri="{FF2B5EF4-FFF2-40B4-BE49-F238E27FC236}">
                <a16:creationId xmlns:a16="http://schemas.microsoft.com/office/drawing/2014/main" id="{3B09633F-4764-42EE-A4CC-47DCB716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6750"/>
            <a:ext cx="75819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E33224F1-92C0-43BF-9935-6E8FC41D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838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F6FD1"/>
                </a:solidFill>
              </a:defRPr>
            </a:pPr>
            <a:r>
              <a:rPr sz="1350" b="1">
                <a:solidFill>
                  <a:srgbClr val="3F6FD1"/>
                </a:solidFill>
              </a:rPr>
              <a:t>FIXED SETUP</a:t>
            </a:r>
          </a:p>
        </p:txBody>
      </p:sp>
      <p:sp>
        <p:nvSpPr>
          <p:cNvPr id="5" name="kv-key-0">
            <a:extLst xmlns:a="http://schemas.openxmlformats.org/drawingml/2006/main">
              <a:ext uri="{FF2B5EF4-FFF2-40B4-BE49-F238E27FC236}">
                <a16:creationId xmlns:a16="http://schemas.microsoft.com/office/drawing/2014/main" id="{6DA14FA2-7DE1-4F2F-98A6-CD86FC28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209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Cache</a:t>
            </a:r>
          </a:p>
        </p:txBody>
      </p:sp>
      <p:sp>
        <p:nvSpPr>
          <p:cNvPr id="6" name="kv-value-0">
            <a:extLst xmlns:a="http://schemas.openxmlformats.org/drawingml/2006/main">
              <a:ext uri="{FF2B5EF4-FFF2-40B4-BE49-F238E27FC236}">
                <a16:creationId xmlns:a16="http://schemas.microsoft.com/office/drawing/2014/main" id="{BCA7D38B-38F0-4A6D-96EB-975636BE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71750"/>
            <a:ext cx="596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33333"/>
                </a:solidFill>
              </a:defRPr>
            </a:pPr>
            <a:r>
              <a:rPr sz="1725">
                <a:solidFill>
                  <a:srgbClr val="333333"/>
                </a:solidFill>
              </a:rPr>
              <a:t>Athena L2C</a:t>
            </a:r>
          </a:p>
        </p:txBody>
      </p:sp>
      <p:sp>
        <p:nvSpPr>
          <p:cNvPr id="7" name="kv-key-1">
            <a:extLst xmlns:a="http://schemas.openxmlformats.org/drawingml/2006/main">
              <a:ext uri="{FF2B5EF4-FFF2-40B4-BE49-F238E27FC236}">
                <a16:creationId xmlns:a16="http://schemas.microsoft.com/office/drawing/2014/main" id="{9A892688-D82C-482E-BF22-487614A3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2209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Expert pair</a:t>
            </a:r>
          </a:p>
        </p:txBody>
      </p:sp>
      <p:sp>
        <p:nvSpPr>
          <p:cNvPr id="8" name="kv-value-1">
            <a:extLst xmlns:a="http://schemas.openxmlformats.org/drawingml/2006/main">
              <a:ext uri="{FF2B5EF4-FFF2-40B4-BE49-F238E27FC236}">
                <a16:creationId xmlns:a16="http://schemas.microsoft.com/office/drawing/2014/main" id="{0E67CEE7-DD05-4344-A123-7631E16C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33700"/>
            <a:ext cx="596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33333"/>
                </a:solidFill>
              </a:defRPr>
            </a:pPr>
            <a:r>
              <a:rPr sz="1725">
                <a:solidFill>
                  <a:srgbClr val="333333"/>
                </a:solidFill>
              </a:rPr>
              <a:t>MLOP + SPP+PPF</a:t>
            </a:r>
          </a:p>
        </p:txBody>
      </p:sp>
      <p:sp>
        <p:nvSpPr>
          <p:cNvPr id="9" name="kv-key-2">
            <a:extLst xmlns:a="http://schemas.openxmlformats.org/drawingml/2006/main">
              <a:ext uri="{FF2B5EF4-FFF2-40B4-BE49-F238E27FC236}">
                <a16:creationId xmlns:a16="http://schemas.microsoft.com/office/drawing/2014/main" id="{9979B457-2DE7-4617-9289-162BDF20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209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Official split</a:t>
            </a:r>
          </a:p>
        </p:txBody>
      </p:sp>
      <p:sp>
        <p:nvSpPr>
          <p:cNvPr id="10" name="kv-value-2">
            <a:extLst xmlns:a="http://schemas.openxmlformats.org/drawingml/2006/main">
              <a:ext uri="{FF2B5EF4-FFF2-40B4-BE49-F238E27FC236}">
                <a16:creationId xmlns:a16="http://schemas.microsoft.com/office/drawing/2014/main" id="{B16D1070-FD10-4577-8DBD-2FE6126A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95650"/>
            <a:ext cx="596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33333"/>
                </a:solidFill>
              </a:defRPr>
            </a:pPr>
            <a:r>
              <a:rPr sz="1725">
                <a:solidFill>
                  <a:srgbClr val="333333"/>
                </a:solidFill>
              </a:rPr>
              <a:t>24 traces total: 17 training, 7 heldout</a:t>
            </a:r>
          </a:p>
        </p:txBody>
      </p:sp>
      <p:sp>
        <p:nvSpPr>
          <p:cNvPr id="11" name="kv-key-3">
            <a:extLst xmlns:a="http://schemas.openxmlformats.org/drawingml/2006/main">
              <a:ext uri="{FF2B5EF4-FFF2-40B4-BE49-F238E27FC236}">
                <a16:creationId xmlns:a16="http://schemas.microsoft.com/office/drawing/2014/main" id="{017F5698-7812-45F8-9B04-C4BB65E5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2209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Final validation</a:t>
            </a:r>
          </a:p>
        </p:txBody>
      </p:sp>
      <p:sp>
        <p:nvSpPr>
          <p:cNvPr id="12" name="kv-value-3">
            <a:extLst xmlns:a="http://schemas.openxmlformats.org/drawingml/2006/main">
              <a:ext uri="{FF2B5EF4-FFF2-40B4-BE49-F238E27FC236}">
                <a16:creationId xmlns:a16="http://schemas.microsoft.com/office/drawing/2014/main" id="{7F8A57E0-FA92-48D8-A926-EA1EF8FB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57600"/>
            <a:ext cx="596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33333"/>
                </a:solidFill>
              </a:defRPr>
            </a:pPr>
            <a:r>
              <a:rPr sz="1725">
                <a:solidFill>
                  <a:srgbClr val="333333"/>
                </a:solidFill>
              </a:rPr>
              <a:t>13 available training traces, 500K warmup, 1M simulation</a:t>
            </a:r>
          </a:p>
        </p:txBody>
      </p:sp>
      <p:sp>
        <p:nvSpPr>
          <p:cNvPr id="13" name="kv-key-4">
            <a:extLst xmlns:a="http://schemas.openxmlformats.org/drawingml/2006/main">
              <a:ext uri="{FF2B5EF4-FFF2-40B4-BE49-F238E27FC236}">
                <a16:creationId xmlns:a16="http://schemas.microsoft.com/office/drawing/2014/main" id="{1A77B702-B94A-43BB-B4FF-F7BF3425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2209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Heldout</a:t>
            </a:r>
          </a:p>
        </p:txBody>
      </p:sp>
      <p:sp>
        <p:nvSpPr>
          <p:cNvPr id="14" name="kv-value-4">
            <a:extLst xmlns:a="http://schemas.openxmlformats.org/drawingml/2006/main">
              <a:ext uri="{FF2B5EF4-FFF2-40B4-BE49-F238E27FC236}">
                <a16:creationId xmlns:a16="http://schemas.microsoft.com/office/drawing/2014/main" id="{4359EB33-BBF5-4EBA-9ED5-5DDE0BFC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19550"/>
            <a:ext cx="596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33333"/>
                </a:solidFill>
              </a:defRPr>
            </a:pPr>
            <a:r>
              <a:rPr sz="1725">
                <a:solidFill>
                  <a:srgbClr val="333333"/>
                </a:solidFill>
              </a:rPr>
              <a:t>7 frozen traces, 20M warmup, 50M simulation</a:t>
            </a:r>
          </a:p>
        </p:txBody>
      </p:sp>
      <p:sp>
        <p:nvSpPr>
          <p:cNvPr id="15" name="kv-key-5">
            <a:extLst xmlns:a="http://schemas.openxmlformats.org/drawingml/2006/main">
              <a:ext uri="{FF2B5EF4-FFF2-40B4-BE49-F238E27FC236}">
                <a16:creationId xmlns:a16="http://schemas.microsoft.com/office/drawing/2014/main" id="{63CFB39A-8010-4006-BFC0-AEC4A792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2209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Epoch</a:t>
            </a:r>
          </a:p>
        </p:txBody>
      </p:sp>
      <p:sp>
        <p:nvSpPr>
          <p:cNvPr id="16" name="kv-value-5">
            <a:extLst xmlns:a="http://schemas.openxmlformats.org/drawingml/2006/main">
              <a:ext uri="{FF2B5EF4-FFF2-40B4-BE49-F238E27FC236}">
                <a16:creationId xmlns:a16="http://schemas.microsoft.com/office/drawing/2014/main" id="{C31E079F-AC48-407C-B1B6-921E9AF8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362450"/>
            <a:ext cx="596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33333"/>
                </a:solidFill>
              </a:defRPr>
            </a:pPr>
            <a:r>
              <a:rPr sz="1725">
                <a:solidFill>
                  <a:srgbClr val="333333"/>
                </a:solidFill>
              </a:rPr>
              <a:t>500K retired instructions</a:t>
            </a:r>
          </a:p>
        </p:txBody>
      </p:sp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42BDB25E-1299-4063-B563-8C304159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90750"/>
            <a:ext cx="758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267F"/>
                </a:solidFill>
              </a:defRPr>
            </a:pPr>
            <a:r>
              <a:rPr sz="1350" b="1">
                <a:solidFill>
                  <a:srgbClr val="DC267F"/>
                </a:solidFill>
              </a:rPr>
              <a:t>COMPARISON LADDER</a:t>
            </a:r>
          </a:p>
        </p:txBody>
      </p:sp>
      <p:sp>
        <p:nvSpPr>
          <p:cNvPr id="18" name="kv-key-0">
            <a:extLst xmlns:a="http://schemas.openxmlformats.org/drawingml/2006/main">
              <a:ext uri="{FF2B5EF4-FFF2-40B4-BE49-F238E27FC236}">
                <a16:creationId xmlns:a16="http://schemas.microsoft.com/office/drawing/2014/main" id="{C03C48B7-1148-4948-B889-AB5AA1C5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71750"/>
            <a:ext cx="1771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Disabled</a:t>
            </a:r>
          </a:p>
        </p:txBody>
      </p:sp>
      <p:sp>
        <p:nvSpPr>
          <p:cNvPr id="19" name="kv-value-0">
            <a:extLst xmlns:a="http://schemas.openxmlformats.org/drawingml/2006/main">
              <a:ext uri="{FF2B5EF4-FFF2-40B4-BE49-F238E27FC236}">
                <a16:creationId xmlns:a16="http://schemas.microsoft.com/office/drawing/2014/main" id="{3CBC8CA4-20DD-4054-A90B-B8F9788A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571750"/>
            <a:ext cx="5600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Universal 1.000x baseline.</a:t>
            </a:r>
          </a:p>
        </p:txBody>
      </p:sp>
      <p:sp>
        <p:nvSpPr>
          <p:cNvPr id="20" name="kv-key-1">
            <a:extLst xmlns:a="http://schemas.openxmlformats.org/drawingml/2006/main">
              <a:ext uri="{FF2B5EF4-FFF2-40B4-BE49-F238E27FC236}">
                <a16:creationId xmlns:a16="http://schemas.microsoft.com/office/drawing/2014/main" id="{5D0AF1CB-4726-4AC4-98C2-1CA5654B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52750"/>
            <a:ext cx="1771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Best expert</a:t>
            </a:r>
          </a:p>
        </p:txBody>
      </p:sp>
      <p:sp>
        <p:nvSpPr>
          <p:cNvPr id="21" name="kv-value-1">
            <a:extLst xmlns:a="http://schemas.openxmlformats.org/drawingml/2006/main">
              <a:ext uri="{FF2B5EF4-FFF2-40B4-BE49-F238E27FC236}">
                <a16:creationId xmlns:a16="http://schemas.microsoft.com/office/drawing/2014/main" id="{1F78DF81-D039-4C66-8079-EF29BCFD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952750"/>
            <a:ext cx="5600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max(MLOP, SPP+PPF) per trace, then geomeaned. It is colored dark blue in the result plots.</a:t>
            </a:r>
          </a:p>
        </p:txBody>
      </p:sp>
      <p:sp>
        <p:nvSpPr>
          <p:cNvPr id="22" name="kv-key-2">
            <a:extLst xmlns:a="http://schemas.openxmlformats.org/drawingml/2006/main">
              <a:ext uri="{FF2B5EF4-FFF2-40B4-BE49-F238E27FC236}">
                <a16:creationId xmlns:a16="http://schemas.microsoft.com/office/drawing/2014/main" id="{4B96EFA6-1725-4D14-A488-7993AF71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00450"/>
            <a:ext cx="1771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Worse expert</a:t>
            </a:r>
          </a:p>
        </p:txBody>
      </p:sp>
      <p:sp>
        <p:nvSpPr>
          <p:cNvPr id="23" name="kv-value-2">
            <a:extLst xmlns:a="http://schemas.openxmlformats.org/drawingml/2006/main">
              <a:ext uri="{FF2B5EF4-FFF2-40B4-BE49-F238E27FC236}">
                <a16:creationId xmlns:a16="http://schemas.microsoft.com/office/drawing/2014/main" id="{814FB248-4C5B-4B43-A25F-A2D1D1CF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600450"/>
            <a:ext cx="5600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Minimum practical check for whether routing clears the weaker constituent prefetcher.</a:t>
            </a:r>
          </a:p>
        </p:txBody>
      </p:sp>
      <p:sp>
        <p:nvSpPr>
          <p:cNvPr id="24" name="kv-key-3">
            <a:extLst xmlns:a="http://schemas.openxmlformats.org/drawingml/2006/main">
              <a:ext uri="{FF2B5EF4-FFF2-40B4-BE49-F238E27FC236}">
                <a16:creationId xmlns:a16="http://schemas.microsoft.com/office/drawing/2014/main" id="{032970EB-E3FD-46C0-ACF4-B3EB8F36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229100"/>
            <a:ext cx="1771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Simple routers</a:t>
            </a:r>
          </a:p>
        </p:txBody>
      </p:sp>
      <p:sp>
        <p:nvSpPr>
          <p:cNvPr id="25" name="kv-value-3">
            <a:extLst xmlns:a="http://schemas.openxmlformats.org/drawingml/2006/main">
              <a:ext uri="{FF2B5EF4-FFF2-40B4-BE49-F238E27FC236}">
                <a16:creationId xmlns:a16="http://schemas.microsoft.com/office/drawing/2014/main" id="{372FA51C-323A-4CCD-A78F-5F911A91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229100"/>
            <a:ext cx="5600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WinnerTakeAll, OneShotFit, and Athena MAB appear as small baselines.</a:t>
            </a:r>
          </a:p>
        </p:txBody>
      </p:sp>
    </p:spTree>
    <p:extLst>
      <p:ext uri="{BB962C8B-B14F-4D97-AF65-F5344CB8AC3E}">
        <p14:creationId xmlns:p14="http://schemas.microsoft.com/office/powerpoint/2010/main" val="5193203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FD904C-CF42-4377-89F1-5EB56CCC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65151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OpenEvolve changed a small policy dictionary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F35741B-7B40-4457-9569-46230252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65151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33333"/>
                </a:solidFill>
              </a:defRPr>
            </a:pPr>
            <a:r>
              <a:rPr sz="1725">
                <a:solidFill>
                  <a:srgbClr val="333333"/>
                </a:solidFill>
              </a:rPr>
              <a:t>The search could tune router settings and numeric policy weights while the trace split and simulator stayed fixed.</a:t>
            </a:r>
          </a:p>
        </p:txBody>
      </p:sp>
      <p:sp>
        <p:nvSpPr>
          <p:cNvPr id="3" name="blank-title-peer">
            <a:extLst xmlns:a="http://schemas.openxmlformats.org/drawingml/2006/main">
              <a:ext uri="{FF2B5EF4-FFF2-40B4-BE49-F238E27FC236}">
                <a16:creationId xmlns:a16="http://schemas.microsoft.com/office/drawing/2014/main" id="{8DD1CC1F-A717-4FC1-A334-AA455CD0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52450"/>
            <a:ext cx="977265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88AD809-0D1C-4233-8E4E-4C14DF9E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6515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267F"/>
                </a:solidFill>
              </a:defRPr>
            </a:pPr>
            <a:r>
              <a:rPr sz="1350" b="1">
                <a:solidFill>
                  <a:srgbClr val="DC267F"/>
                </a:solidFill>
              </a:rPr>
              <a:t>SELECTED MOP-V2 POLICY</a:t>
            </a:r>
          </a:p>
        </p:txBody>
      </p:sp>
      <p:sp>
        <p:nvSpPr>
          <p:cNvPr id="5" name="kv-key-0">
            <a:extLst xmlns:a="http://schemas.openxmlformats.org/drawingml/2006/main">
              <a:ext uri="{FF2B5EF4-FFF2-40B4-BE49-F238E27FC236}">
                <a16:creationId xmlns:a16="http://schemas.microsoft.com/office/drawing/2014/main" id="{D51234E0-77EF-4213-BBB6-021C3C53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1352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Budget</a:t>
            </a:r>
          </a:p>
        </p:txBody>
      </p:sp>
      <p:sp>
        <p:nvSpPr>
          <p:cNvPr id="6" name="kv-value-0">
            <a:extLst xmlns:a="http://schemas.openxmlformats.org/drawingml/2006/main">
              <a:ext uri="{FF2B5EF4-FFF2-40B4-BE49-F238E27FC236}">
                <a16:creationId xmlns:a16="http://schemas.microsoft.com/office/drawing/2014/main" id="{052202A3-F65B-4A4C-9606-2B0967C4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33700"/>
            <a:ext cx="4953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33333"/>
                </a:solidFill>
              </a:defRPr>
            </a:pPr>
            <a:r>
              <a:rPr sz="1725">
                <a:solidFill>
                  <a:srgbClr val="333333"/>
                </a:solidFill>
              </a:rPr>
              <a:t>9,216 prefetches per 500K-instruction epoch, about 18.4 per 1K retired instructions</a:t>
            </a:r>
          </a:p>
        </p:txBody>
      </p:sp>
      <p:sp>
        <p:nvSpPr>
          <p:cNvPr id="7" name="kv-key-1">
            <a:extLst xmlns:a="http://schemas.openxmlformats.org/drawingml/2006/main">
              <a:ext uri="{FF2B5EF4-FFF2-40B4-BE49-F238E27FC236}">
                <a16:creationId xmlns:a16="http://schemas.microsoft.com/office/drawing/2014/main" id="{A927C158-9D0C-4753-9390-56B62315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135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Probe</a:t>
            </a:r>
          </a:p>
        </p:txBody>
      </p:sp>
      <p:sp>
        <p:nvSpPr>
          <p:cNvPr id="8" name="kv-value-1">
            <a:extLst xmlns:a="http://schemas.openxmlformats.org/drawingml/2006/main">
              <a:ext uri="{FF2B5EF4-FFF2-40B4-BE49-F238E27FC236}">
                <a16:creationId xmlns:a16="http://schemas.microsoft.com/office/drawing/2014/main" id="{56D1E91F-53D0-4DFC-B6D7-F1E9CFC8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623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33333"/>
                </a:solidFill>
              </a:defRPr>
            </a:pPr>
            <a:r>
              <a:rPr sz="1725">
                <a:solidFill>
                  <a:srgbClr val="333333"/>
                </a:solidFill>
              </a:rPr>
              <a:t>One initial dual-expert probe epoch</a:t>
            </a:r>
          </a:p>
        </p:txBody>
      </p:sp>
      <p:sp>
        <p:nvSpPr>
          <p:cNvPr id="9" name="kv-key-2">
            <a:extLst xmlns:a="http://schemas.openxmlformats.org/drawingml/2006/main">
              <a:ext uri="{FF2B5EF4-FFF2-40B4-BE49-F238E27FC236}">
                <a16:creationId xmlns:a16="http://schemas.microsoft.com/office/drawing/2014/main" id="{E556D8C0-D69F-48D5-955D-EB6B9DF4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135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Guardrails</a:t>
            </a:r>
          </a:p>
        </p:txBody>
      </p:sp>
      <p:sp>
        <p:nvSpPr>
          <p:cNvPr id="10" name="kv-value-2">
            <a:extLst xmlns:a="http://schemas.openxmlformats.org/drawingml/2006/main">
              <a:ext uri="{FF2B5EF4-FFF2-40B4-BE49-F238E27FC236}">
                <a16:creationId xmlns:a16="http://schemas.microsoft.com/office/drawing/2014/main" id="{160EC555-D28F-443B-9ADD-FDFB071E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2430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33333"/>
                </a:solidFill>
              </a:defRPr>
            </a:pPr>
            <a:r>
              <a:rPr sz="1725">
                <a:solidFill>
                  <a:srgbClr val="333333"/>
                </a:solidFill>
              </a:rPr>
              <a:t>Accuracy floor 30 and 3% close-score tie margin</a:t>
            </a:r>
          </a:p>
        </p:txBody>
      </p:sp>
      <p:sp>
        <p:nvSpPr>
          <p:cNvPr id="11" name="kv-key-3">
            <a:extLst xmlns:a="http://schemas.openxmlformats.org/drawingml/2006/main">
              <a:ext uri="{FF2B5EF4-FFF2-40B4-BE49-F238E27FC236}">
                <a16:creationId xmlns:a16="http://schemas.microsoft.com/office/drawing/2014/main" id="{4372EBF4-7B87-4F5C-9574-13AE4316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35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Weights</a:t>
            </a:r>
          </a:p>
        </p:txBody>
      </p:sp>
      <p:sp>
        <p:nvSpPr>
          <p:cNvPr id="12" name="kv-value-3">
            <a:extLst xmlns:a="http://schemas.openxmlformats.org/drawingml/2006/main">
              <a:ext uri="{FF2B5EF4-FFF2-40B4-BE49-F238E27FC236}">
                <a16:creationId xmlns:a16="http://schemas.microsoft.com/office/drawing/2014/main" id="{FA8F2DBF-947F-4229-B928-24A0FE2D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862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33333"/>
                </a:solidFill>
              </a:defRPr>
            </a:pPr>
            <a:r>
              <a:rPr sz="1725">
                <a:solidFill>
                  <a:srgbClr val="333333"/>
                </a:solidFill>
              </a:rPr>
              <a:t>Accuracy 1.0, coverage 0.55, traffic 1.0</a:t>
            </a:r>
          </a:p>
        </p:txBody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61EE2E36-A21B-4A23-A076-CB39ED9A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71750"/>
            <a:ext cx="977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F6FD1"/>
                </a:solidFill>
              </a:defRPr>
            </a:pPr>
            <a:r>
              <a:rPr sz="1350" b="1">
                <a:solidFill>
                  <a:srgbClr val="3F6FD1"/>
                </a:solidFill>
              </a:rPr>
              <a:t>SELECTION SCORE</a:t>
            </a:r>
          </a:p>
        </p:txBody>
      </p:sp>
      <p:sp>
        <p:nvSpPr>
          <p:cNvPr id="14" name="weighted-score-once">
            <a:extLst xmlns:a="http://schemas.openxmlformats.org/drawingml/2006/main">
              <a:ext uri="{FF2B5EF4-FFF2-40B4-BE49-F238E27FC236}">
                <a16:creationId xmlns:a16="http://schemas.microsoft.com/office/drawing/2014/main" id="{1D8F0FA7-D4A1-401C-9DA9-38B204DD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90850"/>
            <a:ext cx="97726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000000"/>
                </a:solidFill>
              </a:defRPr>
            </a:pPr>
            <a:r>
              <a:rPr sz="2325">
                <a:solidFill>
                  <a:srgbClr val="000000"/>
                </a:solidFill>
              </a:rPr>
              <a:t>Weighted score combines closeness to best expert, IPC over disabled prefetching, margin over the worse expert, tail-loss penalty, and off-action penalty.</a:t>
            </a:r>
          </a:p>
        </p:txBody>
      </p:sp>
      <p:sp>
        <p:nvSpPr>
          <p:cNvPr id="15" name="failure-score">
            <a:extLst xmlns:a="http://schemas.openxmlformats.org/drawingml/2006/main">
              <a:ext uri="{FF2B5EF4-FFF2-40B4-BE49-F238E27FC236}">
                <a16:creationId xmlns:a16="http://schemas.microsoft.com/office/drawing/2014/main" id="{69613AF8-C54A-4C74-AE3E-B9B4BFEB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86250"/>
            <a:ext cx="9772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3333"/>
                </a:solidFill>
              </a:defRPr>
            </a:pPr>
            <a:r>
              <a:rPr sz="1875">
                <a:solidFill>
                  <a:srgbClr val="333333"/>
                </a:solidFill>
              </a:rPr>
              <a:t>Candidate programs received failure scores for simulator failures, unknown policy keys, helper/import code, and missing evolve markers.</a:t>
            </a:r>
          </a:p>
        </p:txBody>
      </p:sp>
      <p:sp>
        <p:nvSpPr>
          <p:cNvPr id="16" name="table-cell-0-0">
            <a:extLst xmlns:a="http://schemas.openxmlformats.org/drawingml/2006/main">
              <a:ext uri="{FF2B5EF4-FFF2-40B4-BE49-F238E27FC236}">
                <a16:creationId xmlns:a16="http://schemas.microsoft.com/office/drawing/2014/main" id="{A55D4414-E524-47C3-970D-D591F0B0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086350"/>
            <a:ext cx="600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F6FD1"/>
                </a:solidFill>
              </a:defRPr>
            </a:pPr>
            <a:r>
              <a:rPr sz="1875" b="1">
                <a:solidFill>
                  <a:srgbClr val="3F6FD1"/>
                </a:solidFill>
              </a:rPr>
              <a:t>Ledger</a:t>
            </a:r>
          </a:p>
        </p:txBody>
      </p:sp>
      <p:sp>
        <p:nvSpPr>
          <p:cNvPr id="17" name="table-cell-0-1">
            <a:extLst xmlns:a="http://schemas.openxmlformats.org/drawingml/2006/main">
              <a:ext uri="{FF2B5EF4-FFF2-40B4-BE49-F238E27FC236}">
                <a16:creationId xmlns:a16="http://schemas.microsoft.com/office/drawing/2014/main" id="{5E37D563-A517-47B6-848A-BAFD4EBE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5086350"/>
            <a:ext cx="3600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F6FD1"/>
                </a:solidFill>
              </a:defRPr>
            </a:pPr>
            <a:r>
              <a:rPr sz="1875" b="1">
                <a:solidFill>
                  <a:srgbClr val="3F6FD1"/>
                </a:solidFill>
              </a:rPr>
              <a:t>Rows</a:t>
            </a:r>
          </a:p>
        </p:txBody>
      </p:sp>
      <p:sp>
        <p:nvSpPr>
          <p:cNvPr id="18" name="table-cell-1-0">
            <a:extLst xmlns:a="http://schemas.openxmlformats.org/drawingml/2006/main">
              <a:ext uri="{FF2B5EF4-FFF2-40B4-BE49-F238E27FC236}">
                <a16:creationId xmlns:a16="http://schemas.microsoft.com/office/drawing/2014/main" id="{AEBC9216-7628-4D41-808D-0182B6E4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48300"/>
            <a:ext cx="600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All candidates</a:t>
            </a:r>
          </a:p>
        </p:txBody>
      </p:sp>
      <p:sp>
        <p:nvSpPr>
          <p:cNvPr id="19" name="table-cell-1-1">
            <a:extLst xmlns:a="http://schemas.openxmlformats.org/drawingml/2006/main">
              <a:ext uri="{FF2B5EF4-FFF2-40B4-BE49-F238E27FC236}">
                <a16:creationId xmlns:a16="http://schemas.microsoft.com/office/drawing/2014/main" id="{29942800-553D-4264-BA73-0DC756D5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5448300"/>
            <a:ext cx="3600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374</a:t>
            </a:r>
          </a:p>
        </p:txBody>
      </p:sp>
      <p:sp>
        <p:nvSpPr>
          <p:cNvPr id="20" name="table-cell-2-0">
            <a:extLst xmlns:a="http://schemas.openxmlformats.org/drawingml/2006/main">
              <a:ext uri="{FF2B5EF4-FFF2-40B4-BE49-F238E27FC236}">
                <a16:creationId xmlns:a16="http://schemas.microsoft.com/office/drawing/2014/main" id="{EF17CE8F-61AE-4D64-9C6E-A6A08415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810250"/>
            <a:ext cx="600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Valid scored</a:t>
            </a:r>
          </a:p>
        </p:txBody>
      </p:sp>
      <p:sp>
        <p:nvSpPr>
          <p:cNvPr id="21" name="table-cell-2-1">
            <a:extLst xmlns:a="http://schemas.openxmlformats.org/drawingml/2006/main">
              <a:ext uri="{FF2B5EF4-FFF2-40B4-BE49-F238E27FC236}">
                <a16:creationId xmlns:a16="http://schemas.microsoft.com/office/drawing/2014/main" id="{24CA218F-4EB8-41D9-B12D-D323E062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5810250"/>
            <a:ext cx="3600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306</a:t>
            </a:r>
          </a:p>
        </p:txBody>
      </p:sp>
      <p:sp>
        <p:nvSpPr>
          <p:cNvPr id="22" name="table-cell-3-0">
            <a:extLst xmlns:a="http://schemas.openxmlformats.org/drawingml/2006/main">
              <a:ext uri="{FF2B5EF4-FFF2-40B4-BE49-F238E27FC236}">
                <a16:creationId xmlns:a16="http://schemas.microsoft.com/office/drawing/2014/main" id="{F3554D51-89CF-4894-9759-2F5CDFA1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6172200"/>
            <a:ext cx="600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Fail-closed</a:t>
            </a:r>
          </a:p>
        </p:txBody>
      </p:sp>
      <p:sp>
        <p:nvSpPr>
          <p:cNvPr id="23" name="table-cell-3-1">
            <a:extLst xmlns:a="http://schemas.openxmlformats.org/drawingml/2006/main">
              <a:ext uri="{FF2B5EF4-FFF2-40B4-BE49-F238E27FC236}">
                <a16:creationId xmlns:a16="http://schemas.microsoft.com/office/drawing/2014/main" id="{22A3EE3E-D320-4B98-8537-77DC5EB7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6172200"/>
            <a:ext cx="3600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53646906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33DA55-D3FD-4340-A6D7-A9AB3734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69926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Training-split validation is the main win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682D902-A5CF-4494-B418-27AE6FFF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6992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33333"/>
                </a:solidFill>
              </a:defRPr>
            </a:pPr>
            <a:r>
              <a:rPr sz="1725">
                <a:solidFill>
                  <a:srgbClr val="333333"/>
                </a:solidFill>
              </a:rPr>
              <a:t>Disabled prefetching is 1.000x. Dark blue is best expert, orange is MoP-V1, and pink is MoP-V2.</a:t>
            </a:r>
          </a:p>
        </p:txBody>
      </p:sp>
      <p:pic>
        <p:nvPicPr>
          <p:cNvPr id="3" name="pre-post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c0cb36d3c4fe7"/>
          <a:stretch xmlns:a="http://schemas.openxmlformats.org/drawingml/2006/main"/>
        </p:blipFill>
        <p:spPr>
          <a:xfrm xmlns:a="http://schemas.openxmlformats.org/drawingml/2006/main">
            <a:off x="1051719" y="1615440"/>
            <a:ext cx="16184563" cy="7768590"/>
          </a:xfrm>
          <a:prstGeom xmlns:a="http://schemas.openxmlformats.org/drawingml/2006/main" prst="rect">
            <a:avLst/>
          </a:prstGeom>
        </p:spPr>
      </p:pic>
      <p:sp>
        <p:nvSpPr>
          <p:cNvPr id="4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06FD4326-4A7B-466D-8101-BB460377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63100"/>
            <a:ext cx="16992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3333"/>
                </a:solidFill>
              </a:defRPr>
            </a:pPr>
            <a:r>
              <a:rPr sz="1425">
                <a:solidFill>
                  <a:srgbClr val="333333"/>
                </a:solidFill>
              </a:rPr>
              <a:t>Caption: The 13-trace validation bars show the main gain from MoP-V1 to MoP-V2. The 7-trace heldout bars show the smaller post-selection result. Prefetcher off is black at 1.000x and best expert is dark blue.</a:t>
            </a:r>
          </a:p>
        </p:txBody>
      </p:sp>
    </p:spTree>
    <p:extLst>
      <p:ext uri="{BB962C8B-B14F-4D97-AF65-F5344CB8AC3E}">
        <p14:creationId xmlns:p14="http://schemas.microsoft.com/office/powerpoint/2010/main" val="18766645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9846BF-F359-4589-A96F-8B750E34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2390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The numeric result is stronger on training than heldout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D9A5E1A-FD65-4123-8A57-943EE89B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33333"/>
                </a:solidFill>
              </a:defRPr>
            </a:pPr>
            <a:r>
              <a:rPr sz="1725">
                <a:solidFill>
                  <a:srgbClr val="333333"/>
                </a:solidFill>
              </a:rPr>
              <a:t>Training-split validation carries the quantitative weight. Heldout supports a modest generalization claim.</a:t>
            </a:r>
          </a:p>
        </p:txBody>
      </p:sp>
      <p:sp>
        <p:nvSpPr>
          <p:cNvPr id="3" name="blank-title-peer">
            <a:extLst xmlns:a="http://schemas.openxmlformats.org/drawingml/2006/main">
              <a:ext uri="{FF2B5EF4-FFF2-40B4-BE49-F238E27FC236}">
                <a16:creationId xmlns:a16="http://schemas.microsoft.com/office/drawing/2014/main" id="{6ECA3FB9-AE47-4157-A7C7-30209087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4350"/>
            <a:ext cx="922020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table-cell-0-0">
            <a:extLst xmlns:a="http://schemas.openxmlformats.org/drawingml/2006/main">
              <a:ext uri="{FF2B5EF4-FFF2-40B4-BE49-F238E27FC236}">
                <a16:creationId xmlns:a16="http://schemas.microsoft.com/office/drawing/2014/main" id="{61C68C9E-F6A6-4EEC-A213-41D3A3D8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609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F6FD1"/>
                </a:solidFill>
              </a:defRPr>
            </a:pPr>
            <a:r>
              <a:rPr sz="1575" b="1">
                <a:solidFill>
                  <a:srgbClr val="3F6FD1"/>
                </a:solidFill>
              </a:rPr>
              <a:t>Surface</a:t>
            </a:r>
          </a:p>
        </p:txBody>
      </p:sp>
      <p:sp>
        <p:nvSpPr>
          <p:cNvPr id="5" name="table-cell-0-1">
            <a:extLst xmlns:a="http://schemas.openxmlformats.org/drawingml/2006/main">
              <a:ext uri="{FF2B5EF4-FFF2-40B4-BE49-F238E27FC236}">
                <a16:creationId xmlns:a16="http://schemas.microsoft.com/office/drawing/2014/main" id="{1D9CE40A-0FD6-40FF-BDEE-069198F4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14600"/>
            <a:ext cx="1257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F6FD1"/>
                </a:solidFill>
              </a:defRPr>
            </a:pPr>
            <a:r>
              <a:rPr sz="1575" b="1">
                <a:solidFill>
                  <a:srgbClr val="3F6FD1"/>
                </a:solidFill>
              </a:rPr>
              <a:t>MoP-V1</a:t>
            </a:r>
          </a:p>
        </p:txBody>
      </p:sp>
      <p:sp>
        <p:nvSpPr>
          <p:cNvPr id="6" name="table-cell-0-2">
            <a:extLst xmlns:a="http://schemas.openxmlformats.org/drawingml/2006/main">
              <a:ext uri="{FF2B5EF4-FFF2-40B4-BE49-F238E27FC236}">
                <a16:creationId xmlns:a16="http://schemas.microsoft.com/office/drawing/2014/main" id="{4E0D3E49-DEFC-491E-9226-D77B4561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14600"/>
            <a:ext cx="1257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F6FD1"/>
                </a:solidFill>
              </a:defRPr>
            </a:pPr>
            <a:r>
              <a:rPr sz="1575" b="1">
                <a:solidFill>
                  <a:srgbClr val="3F6FD1"/>
                </a:solidFill>
              </a:rPr>
              <a:t>MoP-V2</a:t>
            </a:r>
          </a:p>
        </p:txBody>
      </p:sp>
      <p:sp>
        <p:nvSpPr>
          <p:cNvPr id="7" name="table-cell-0-3">
            <a:extLst xmlns:a="http://schemas.openxmlformats.org/drawingml/2006/main">
              <a:ext uri="{FF2B5EF4-FFF2-40B4-BE49-F238E27FC236}">
                <a16:creationId xmlns:a16="http://schemas.microsoft.com/office/drawing/2014/main" id="{FFB6F354-95B4-4FE0-B5DD-8EEB520B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14600"/>
            <a:ext cx="1600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F6FD1"/>
                </a:solidFill>
              </a:defRPr>
            </a:pPr>
            <a:r>
              <a:rPr sz="1575" b="1">
                <a:solidFill>
                  <a:srgbClr val="3F6FD1"/>
                </a:solidFill>
              </a:rPr>
              <a:t>Best expert</a:t>
            </a:r>
          </a:p>
        </p:txBody>
      </p:sp>
      <p:sp>
        <p:nvSpPr>
          <p:cNvPr id="8" name="table-cell-1-0">
            <a:extLst xmlns:a="http://schemas.openxmlformats.org/drawingml/2006/main">
              <a:ext uri="{FF2B5EF4-FFF2-40B4-BE49-F238E27FC236}">
                <a16:creationId xmlns:a16="http://schemas.microsoft.com/office/drawing/2014/main" id="{AE9F5BB5-8435-4081-9D16-6A2FC65B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609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13-trace speedup</a:t>
            </a:r>
          </a:p>
        </p:txBody>
      </p:sp>
      <p:sp>
        <p:nvSpPr>
          <p:cNvPr id="9" name="table-cell-1-1">
            <a:extLst xmlns:a="http://schemas.openxmlformats.org/drawingml/2006/main">
              <a:ext uri="{FF2B5EF4-FFF2-40B4-BE49-F238E27FC236}">
                <a16:creationId xmlns:a16="http://schemas.microsoft.com/office/drawing/2014/main" id="{44E91C7E-2B5B-4F1A-B17C-46DD79E3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19400"/>
            <a:ext cx="1257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1.048x</a:t>
            </a:r>
          </a:p>
        </p:txBody>
      </p:sp>
      <p:sp>
        <p:nvSpPr>
          <p:cNvPr id="10" name="table-cell-1-2">
            <a:extLst xmlns:a="http://schemas.openxmlformats.org/drawingml/2006/main">
              <a:ext uri="{FF2B5EF4-FFF2-40B4-BE49-F238E27FC236}">
                <a16:creationId xmlns:a16="http://schemas.microsoft.com/office/drawing/2014/main" id="{1F26B373-6CB0-4578-9394-EE9F8B52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19400"/>
            <a:ext cx="1257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1.066x</a:t>
            </a:r>
          </a:p>
        </p:txBody>
      </p:sp>
      <p:sp>
        <p:nvSpPr>
          <p:cNvPr id="11" name="table-cell-1-3">
            <a:extLst xmlns:a="http://schemas.openxmlformats.org/drawingml/2006/main">
              <a:ext uri="{FF2B5EF4-FFF2-40B4-BE49-F238E27FC236}">
                <a16:creationId xmlns:a16="http://schemas.microsoft.com/office/drawing/2014/main" id="{84322917-7B4C-4723-9471-7134F470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19400"/>
            <a:ext cx="1600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1.085x</a:t>
            </a:r>
          </a:p>
        </p:txBody>
      </p:sp>
      <p:sp>
        <p:nvSpPr>
          <p:cNvPr id="12" name="table-cell-2-0">
            <a:extLst xmlns:a="http://schemas.openxmlformats.org/drawingml/2006/main">
              <a:ext uri="{FF2B5EF4-FFF2-40B4-BE49-F238E27FC236}">
                <a16:creationId xmlns:a16="http://schemas.microsoft.com/office/drawing/2014/main" id="{A3CD9D63-80A4-44D3-B928-58984614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609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13-trace % best</a:t>
            </a:r>
          </a:p>
        </p:txBody>
      </p:sp>
      <p:sp>
        <p:nvSpPr>
          <p:cNvPr id="13" name="table-cell-2-1">
            <a:extLst xmlns:a="http://schemas.openxmlformats.org/drawingml/2006/main">
              <a:ext uri="{FF2B5EF4-FFF2-40B4-BE49-F238E27FC236}">
                <a16:creationId xmlns:a16="http://schemas.microsoft.com/office/drawing/2014/main" id="{E11E04D9-5031-4526-9D5E-EAD40B8E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43250"/>
            <a:ext cx="1257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96.5%</a:t>
            </a:r>
          </a:p>
        </p:txBody>
      </p:sp>
      <p:sp>
        <p:nvSpPr>
          <p:cNvPr id="14" name="table-cell-2-2">
            <a:extLst xmlns:a="http://schemas.openxmlformats.org/drawingml/2006/main">
              <a:ext uri="{FF2B5EF4-FFF2-40B4-BE49-F238E27FC236}">
                <a16:creationId xmlns:a16="http://schemas.microsoft.com/office/drawing/2014/main" id="{8560664B-2B59-46A8-ADB5-7C9DFDFA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43250"/>
            <a:ext cx="1257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98.3%</a:t>
            </a:r>
          </a:p>
        </p:txBody>
      </p:sp>
      <p:sp>
        <p:nvSpPr>
          <p:cNvPr id="15" name="table-cell-2-3">
            <a:extLst xmlns:a="http://schemas.openxmlformats.org/drawingml/2006/main">
              <a:ext uri="{FF2B5EF4-FFF2-40B4-BE49-F238E27FC236}">
                <a16:creationId xmlns:a16="http://schemas.microsoft.com/office/drawing/2014/main" id="{47468A3C-D7C8-4A5B-BC4E-ED746017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1600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100.0%</a:t>
            </a:r>
          </a:p>
        </p:txBody>
      </p:sp>
      <p:sp>
        <p:nvSpPr>
          <p:cNvPr id="16" name="table-cell-3-0">
            <a:extLst xmlns:a="http://schemas.openxmlformats.org/drawingml/2006/main">
              <a:ext uri="{FF2B5EF4-FFF2-40B4-BE49-F238E27FC236}">
                <a16:creationId xmlns:a16="http://schemas.microsoft.com/office/drawing/2014/main" id="{C8D70603-4666-43B9-9419-2A4E7D3C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2609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Beats worse expert</a:t>
            </a:r>
          </a:p>
        </p:txBody>
      </p:sp>
      <p:sp>
        <p:nvSpPr>
          <p:cNvPr id="17" name="table-cell-3-1">
            <a:extLst xmlns:a="http://schemas.openxmlformats.org/drawingml/2006/main">
              <a:ext uri="{FF2B5EF4-FFF2-40B4-BE49-F238E27FC236}">
                <a16:creationId xmlns:a16="http://schemas.microsoft.com/office/drawing/2014/main" id="{204D3663-38D1-4BED-A2F8-978046AA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48050"/>
            <a:ext cx="1257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9/13</a:t>
            </a:r>
          </a:p>
        </p:txBody>
      </p:sp>
      <p:sp>
        <p:nvSpPr>
          <p:cNvPr id="18" name="table-cell-3-2">
            <a:extLst xmlns:a="http://schemas.openxmlformats.org/drawingml/2006/main">
              <a:ext uri="{FF2B5EF4-FFF2-40B4-BE49-F238E27FC236}">
                <a16:creationId xmlns:a16="http://schemas.microsoft.com/office/drawing/2014/main" id="{3D938EEB-948D-4385-930D-0422E239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48050"/>
            <a:ext cx="1257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11/13</a:t>
            </a:r>
          </a:p>
        </p:txBody>
      </p:sp>
      <p:sp>
        <p:nvSpPr>
          <p:cNvPr id="19" name="table-cell-3-3">
            <a:extLst xmlns:a="http://schemas.openxmlformats.org/drawingml/2006/main">
              <a:ext uri="{FF2B5EF4-FFF2-40B4-BE49-F238E27FC236}">
                <a16:creationId xmlns:a16="http://schemas.microsoft.com/office/drawing/2014/main" id="{95B68539-4E3F-41E5-9314-B72B6869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48050"/>
            <a:ext cx="1600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table-cell-4-0">
            <a:extLst xmlns:a="http://schemas.openxmlformats.org/drawingml/2006/main">
              <a:ext uri="{FF2B5EF4-FFF2-40B4-BE49-F238E27FC236}">
                <a16:creationId xmlns:a16="http://schemas.microsoft.com/office/drawing/2014/main" id="{9D978EE9-B562-4E5F-B7E8-F0154776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609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Below 95% best</a:t>
            </a:r>
          </a:p>
        </p:txBody>
      </p:sp>
      <p:sp>
        <p:nvSpPr>
          <p:cNvPr id="21" name="table-cell-4-1">
            <a:extLst xmlns:a="http://schemas.openxmlformats.org/drawingml/2006/main">
              <a:ext uri="{FF2B5EF4-FFF2-40B4-BE49-F238E27FC236}">
                <a16:creationId xmlns:a16="http://schemas.microsoft.com/office/drawing/2014/main" id="{6BB5500C-FE7B-4041-8C91-C8602404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71900"/>
            <a:ext cx="1257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3/13</a:t>
            </a:r>
          </a:p>
        </p:txBody>
      </p:sp>
      <p:sp>
        <p:nvSpPr>
          <p:cNvPr id="22" name="table-cell-4-2">
            <a:extLst xmlns:a="http://schemas.openxmlformats.org/drawingml/2006/main">
              <a:ext uri="{FF2B5EF4-FFF2-40B4-BE49-F238E27FC236}">
                <a16:creationId xmlns:a16="http://schemas.microsoft.com/office/drawing/2014/main" id="{FDF6276A-05B3-46D7-9D19-B35B5E0F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1257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2/13</a:t>
            </a:r>
          </a:p>
        </p:txBody>
      </p:sp>
      <p:sp>
        <p:nvSpPr>
          <p:cNvPr id="23" name="table-cell-4-3">
            <a:extLst xmlns:a="http://schemas.openxmlformats.org/drawingml/2006/main">
              <a:ext uri="{FF2B5EF4-FFF2-40B4-BE49-F238E27FC236}">
                <a16:creationId xmlns:a16="http://schemas.microsoft.com/office/drawing/2014/main" id="{8A0E4C4E-1DC0-4EC7-B309-3B642F0A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71900"/>
            <a:ext cx="1600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table-cell-5-0">
            <a:extLst xmlns:a="http://schemas.openxmlformats.org/drawingml/2006/main">
              <a:ext uri="{FF2B5EF4-FFF2-40B4-BE49-F238E27FC236}">
                <a16:creationId xmlns:a16="http://schemas.microsoft.com/office/drawing/2014/main" id="{2A152362-E06F-40D3-9B1C-86FBE37D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609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7-heldout speedup</a:t>
            </a:r>
          </a:p>
        </p:txBody>
      </p:sp>
      <p:sp>
        <p:nvSpPr>
          <p:cNvPr id="25" name="table-cell-5-1">
            <a:extLst xmlns:a="http://schemas.openxmlformats.org/drawingml/2006/main">
              <a:ext uri="{FF2B5EF4-FFF2-40B4-BE49-F238E27FC236}">
                <a16:creationId xmlns:a16="http://schemas.microsoft.com/office/drawing/2014/main" id="{9ACD7B1A-A3D5-4F80-ACB7-968CB127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95750"/>
            <a:ext cx="1257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0.998x</a:t>
            </a:r>
          </a:p>
        </p:txBody>
      </p:sp>
      <p:sp>
        <p:nvSpPr>
          <p:cNvPr id="26" name="table-cell-5-2">
            <a:extLst xmlns:a="http://schemas.openxmlformats.org/drawingml/2006/main">
              <a:ext uri="{FF2B5EF4-FFF2-40B4-BE49-F238E27FC236}">
                <a16:creationId xmlns:a16="http://schemas.microsoft.com/office/drawing/2014/main" id="{FD07BB91-44A3-4A95-93F0-49713764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95750"/>
            <a:ext cx="1257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1.003x</a:t>
            </a:r>
          </a:p>
        </p:txBody>
      </p:sp>
      <p:sp>
        <p:nvSpPr>
          <p:cNvPr id="27" name="table-cell-5-3">
            <a:extLst xmlns:a="http://schemas.openxmlformats.org/drawingml/2006/main">
              <a:ext uri="{FF2B5EF4-FFF2-40B4-BE49-F238E27FC236}">
                <a16:creationId xmlns:a16="http://schemas.microsoft.com/office/drawing/2014/main" id="{E4431B56-91A1-4D79-8543-B932470E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1600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1.024x</a:t>
            </a:r>
          </a:p>
        </p:txBody>
      </p:sp>
      <p:sp>
        <p:nvSpPr>
          <p:cNvPr id="28" name="table-cell-6-0">
            <a:extLst xmlns:a="http://schemas.openxmlformats.org/drawingml/2006/main">
              <a:ext uri="{FF2B5EF4-FFF2-40B4-BE49-F238E27FC236}">
                <a16:creationId xmlns:a16="http://schemas.microsoft.com/office/drawing/2014/main" id="{203F758D-3AF1-4109-84DF-3C2B6BE1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609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7-heldout % best</a:t>
            </a:r>
          </a:p>
        </p:txBody>
      </p:sp>
      <p:sp>
        <p:nvSpPr>
          <p:cNvPr id="29" name="table-cell-6-1">
            <a:extLst xmlns:a="http://schemas.openxmlformats.org/drawingml/2006/main">
              <a:ext uri="{FF2B5EF4-FFF2-40B4-BE49-F238E27FC236}">
                <a16:creationId xmlns:a16="http://schemas.microsoft.com/office/drawing/2014/main" id="{21232502-A0D2-4A13-9F23-57F34326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00550"/>
            <a:ext cx="1257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97.6%</a:t>
            </a:r>
          </a:p>
        </p:txBody>
      </p:sp>
      <p:sp>
        <p:nvSpPr>
          <p:cNvPr id="30" name="table-cell-6-2">
            <a:extLst xmlns:a="http://schemas.openxmlformats.org/drawingml/2006/main">
              <a:ext uri="{FF2B5EF4-FFF2-40B4-BE49-F238E27FC236}">
                <a16:creationId xmlns:a16="http://schemas.microsoft.com/office/drawing/2014/main" id="{20EE6608-79A3-48F3-9F7B-40F1E01C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00550"/>
            <a:ext cx="1257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97.9%</a:t>
            </a:r>
          </a:p>
        </p:txBody>
      </p:sp>
      <p:sp>
        <p:nvSpPr>
          <p:cNvPr id="31" name="table-cell-6-3">
            <a:extLst xmlns:a="http://schemas.openxmlformats.org/drawingml/2006/main">
              <a:ext uri="{FF2B5EF4-FFF2-40B4-BE49-F238E27FC236}">
                <a16:creationId xmlns:a16="http://schemas.microsoft.com/office/drawing/2014/main" id="{E88B72AD-0B47-4539-843C-179B74EB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00550"/>
            <a:ext cx="1600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100.0%</a:t>
            </a:r>
          </a:p>
        </p:txBody>
      </p:sp>
      <p:sp>
        <p:nvSpPr>
          <p:cNvPr id="32" name="cycle-interpretation">
            <a:extLst xmlns:a="http://schemas.openxmlformats.org/drawingml/2006/main">
              <a:ext uri="{FF2B5EF4-FFF2-40B4-BE49-F238E27FC236}">
                <a16:creationId xmlns:a16="http://schemas.microsoft.com/office/drawing/2014/main" id="{82A06394-50A6-4910-82B9-D33BDEB9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7239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3333"/>
                </a:solidFill>
              </a:defRPr>
            </a:pPr>
            <a:r>
              <a:rPr sz="1575">
                <a:solidFill>
                  <a:srgbClr val="333333"/>
                </a:solidFill>
              </a:rPr>
              <a:t>The IPC movement is cycle movement under a fixed retired-instruction window: MoP-V2 has instruction-count ratio 1.000x on both final runs, with cycle-count ratio 0.938x on training-split validation and 0.997x on heldout.</a:t>
            </a:r>
          </a:p>
        </p:txBody>
      </p:sp>
      <p:pic>
        <p:nvPicPr>
          <p:cNvPr id="33" name="win-los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e75ebb8344a95"/>
          <a:stretch xmlns:a="http://schemas.openxmlformats.org/drawingml/2006/main"/>
        </p:blipFill>
        <p:spPr>
          <a:xfrm xmlns:a="http://schemas.openxmlformats.org/drawingml/2006/main">
            <a:off x="8385048" y="4199174"/>
            <a:ext cx="9217152" cy="3351692"/>
          </a:xfrm>
          <a:prstGeom xmlns:a="http://schemas.openxmlformats.org/drawingml/2006/main" prst="rect">
            <a:avLst/>
          </a:prstGeom>
        </p:spPr>
      </p:pic>
      <p:sp>
        <p:nvSpPr>
          <p:cNvPr id="34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AC687F4E-F429-4998-B5B8-BB204541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334500"/>
            <a:ext cx="9220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3333"/>
                </a:solidFill>
              </a:defRPr>
            </a:pPr>
            <a:r>
              <a:rPr sz="1425">
                <a:solidFill>
                  <a:srgbClr val="333333"/>
                </a:solidFill>
              </a:rPr>
              <a:t>Caption: The routing-behavior plot uses final run summaries to show selected-epoch share, budget share, and useful-prefetch share for MoP-V1 and MoP-V2.</a:t>
            </a:r>
          </a:p>
        </p:txBody>
      </p:sp>
    </p:spTree>
    <p:extLst>
      <p:ext uri="{BB962C8B-B14F-4D97-AF65-F5344CB8AC3E}">
        <p14:creationId xmlns:p14="http://schemas.microsoft.com/office/powerpoint/2010/main" val="15040366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9986BF-3A9B-4D81-99EE-7BC99AC2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7030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Heldout behavior is trace-specific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B845BAA-CB10-4C42-A4E0-539CA7D7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7030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33333"/>
                </a:solidFill>
              </a:defRPr>
            </a:pPr>
            <a:r>
              <a:rPr sz="1725">
                <a:solidFill>
                  <a:srgbClr val="333333"/>
                </a:solidFill>
              </a:rPr>
              <a:t>Within each heldout trace the profile order is Expert 1, Expert 2, MoP-V1, MoP-V2. The 1.000x line is disabled prefetching.</a:t>
            </a:r>
          </a:p>
        </p:txBody>
      </p:sp>
      <p:pic>
        <p:nvPicPr>
          <p:cNvPr id="3" name="heldout-profil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b2d41b25a4475"/>
          <a:stretch xmlns:a="http://schemas.openxmlformats.org/drawingml/2006/main"/>
        </p:blipFill>
        <p:spPr>
          <a:xfrm xmlns:a="http://schemas.openxmlformats.org/drawingml/2006/main">
            <a:off x="1796527" y="1596390"/>
            <a:ext cx="14694946" cy="7806690"/>
          </a:xfrm>
          <a:prstGeom xmlns:a="http://schemas.openxmlformats.org/drawingml/2006/main" prst="rect">
            <a:avLst/>
          </a:prstGeom>
        </p:spPr>
      </p:pic>
      <p:sp>
        <p:nvSpPr>
          <p:cNvPr id="4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848955C2-AC48-4545-BE47-3B934CA1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82150"/>
            <a:ext cx="1703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3333"/>
                </a:solidFill>
              </a:defRPr>
            </a:pPr>
            <a:r>
              <a:rPr sz="1425">
                <a:solidFill>
                  <a:srgbClr val="333333"/>
                </a:solidFill>
              </a:rPr>
              <a:t>Caption: The single experts share one blue hue with different opacity, MoP-V1 is orange, MoP-V2 is pink, and the black vertical line is disabled prefetching at 1.000x.</a:t>
            </a:r>
          </a:p>
        </p:txBody>
      </p:sp>
    </p:spTree>
    <p:extLst>
      <p:ext uri="{BB962C8B-B14F-4D97-AF65-F5344CB8AC3E}">
        <p14:creationId xmlns:p14="http://schemas.microsoft.com/office/powerpoint/2010/main" val="29958996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A29738-1199-4DFC-8F74-329B78D8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94678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The expert pair gives routing something real to choose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7C2FDA4-B59D-4336-A845-2821455F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94678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33333"/>
                </a:solidFill>
              </a:defRPr>
            </a:pPr>
            <a:r>
              <a:rPr sz="1725">
                <a:solidFill>
                  <a:srgbClr val="333333"/>
                </a:solidFill>
              </a:rPr>
              <a:t>MLOP and SPP+PPF have different strengths across traces, so the router has a meaningful selection problem.</a:t>
            </a:r>
          </a:p>
        </p:txBody>
      </p:sp>
      <p:sp>
        <p:nvSpPr>
          <p:cNvPr id="3" name="blank-title-peer">
            <a:extLst xmlns:a="http://schemas.openxmlformats.org/drawingml/2006/main">
              <a:ext uri="{FF2B5EF4-FFF2-40B4-BE49-F238E27FC236}">
                <a16:creationId xmlns:a16="http://schemas.microsoft.com/office/drawing/2014/main" id="{A63C2E20-4F1B-45CA-811A-B463EE78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14350"/>
            <a:ext cx="701040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4" name="expert-profil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b97485da3458b"/>
          <a:stretch xmlns:a="http://schemas.openxmlformats.org/drawingml/2006/main"/>
        </p:blipFill>
        <p:spPr>
          <a:xfrm xmlns:a="http://schemas.openxmlformats.org/drawingml/2006/main">
            <a:off x="666750" y="3358225"/>
            <a:ext cx="9474994" cy="5033590"/>
          </a:xfrm>
          <a:prstGeom xmlns:a="http://schemas.openxmlformats.org/drawingml/2006/main" prst="rect">
            <a:avLst/>
          </a:prstGeom>
        </p:spPr>
      </p:pic>
      <p:sp>
        <p:nvSpPr>
          <p:cNvPr id="5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C8A3A9D4-2624-40BB-B7AD-5E316E42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0"/>
            <a:ext cx="9467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3333"/>
                </a:solidFill>
              </a:defRPr>
            </a:pPr>
            <a:r>
              <a:rPr sz="1425">
                <a:solidFill>
                  <a:srgbClr val="333333"/>
                </a:solidFill>
              </a:rPr>
              <a:t>Caption: The heldout trace profile shows where MLOP, SPP+PPF, MoP-V1, and MoP-V2 land relative to disabled prefetching at 1.000x.</a:t>
            </a:r>
          </a:p>
        </p:txBody>
      </p:sp>
      <p:sp>
        <p:nvSpPr>
          <p:cNvPr id="6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4FD10369-8914-47DE-93E3-CB0DBB28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514600"/>
            <a:ext cx="7010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3F6FD1"/>
                </a:solidFill>
              </a:defRPr>
            </a:pPr>
            <a:r>
              <a:rPr sz="4650" b="1">
                <a:solidFill>
                  <a:srgbClr val="3F6FD1"/>
                </a:solidFill>
              </a:rPr>
              <a:t>1.024x</a:t>
            </a:r>
          </a:p>
        </p:txBody>
      </p:sp>
      <p:sp>
        <p:nvSpPr>
          <p:cNvPr id="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0D4BC4F7-8EAD-4428-A21C-3D40081B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95650"/>
            <a:ext cx="701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SPP+PPF heldout geomean over disabled prefetching</a:t>
            </a:r>
          </a:p>
        </p:txBody>
      </p:sp>
      <p:sp>
        <p:nvSpPr>
          <p:cNvPr id="8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785C282C-54C0-4F7B-872C-7C6078B1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733800"/>
            <a:ext cx="7010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E6100"/>
                </a:solidFill>
              </a:defRPr>
            </a:pPr>
            <a:r>
              <a:rPr sz="4350" b="1">
                <a:solidFill>
                  <a:srgbClr val="FE6100"/>
                </a:solidFill>
              </a:rPr>
              <a:t>0.974x</a:t>
            </a:r>
          </a:p>
        </p:txBody>
      </p:sp>
      <p:sp>
        <p:nvSpPr>
          <p:cNvPr id="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BDF69321-368E-4371-9A0A-D957C084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476750"/>
            <a:ext cx="701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MLOP heldout geomean over disabled prefetching</a:t>
            </a:r>
          </a:p>
        </p:txBody>
      </p:sp>
      <p:sp>
        <p:nvSpPr>
          <p:cNvPr id="10" name="best-expert-copy">
            <a:extLst xmlns:a="http://schemas.openxmlformats.org/drawingml/2006/main">
              <a:ext uri="{FF2B5EF4-FFF2-40B4-BE49-F238E27FC236}">
                <a16:creationId xmlns:a16="http://schemas.microsoft.com/office/drawing/2014/main" id="{D655CB65-9688-48BE-B5CE-F3828F4A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914900"/>
            <a:ext cx="7010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3333"/>
                </a:solidFill>
              </a:defRPr>
            </a:pPr>
            <a:r>
              <a:rPr sz="1875">
                <a:solidFill>
                  <a:srgbClr val="333333"/>
                </a:solidFill>
              </a:rPr>
              <a:t>The best-expert reference is computed per trace, then geomeaned. It is a reference curve for routing quality.</a:t>
            </a:r>
          </a:p>
        </p:txBody>
      </p:sp>
    </p:spTree>
    <p:extLst>
      <p:ext uri="{BB962C8B-B14F-4D97-AF65-F5344CB8AC3E}">
        <p14:creationId xmlns:p14="http://schemas.microsoft.com/office/powerpoint/2010/main" val="8764118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35B542-7445-45FF-966D-A3B85756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4198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MoP-V2 clears the simple router baselines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C7E772A-482C-4F7E-BEF2-7F2A2C18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64198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33333"/>
                </a:solidFill>
              </a:defRPr>
            </a:pPr>
            <a:r>
              <a:rPr sz="1725">
                <a:solidFill>
                  <a:srgbClr val="333333"/>
                </a:solidFill>
              </a:rPr>
              <a:t>WinnerTakeAll and OneShotFit are intentionally small baselines for the same expert pair.</a:t>
            </a:r>
          </a:p>
        </p:txBody>
      </p:sp>
      <p:sp>
        <p:nvSpPr>
          <p:cNvPr id="3" name="blank-title-peer">
            <a:extLst xmlns:a="http://schemas.openxmlformats.org/drawingml/2006/main">
              <a:ext uri="{FF2B5EF4-FFF2-40B4-BE49-F238E27FC236}">
                <a16:creationId xmlns:a16="http://schemas.microsoft.com/office/drawing/2014/main" id="{B0BC8F5D-6545-4860-BEBE-11F9D3C5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14350"/>
            <a:ext cx="1003935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kv-key-0">
            <a:extLst xmlns:a="http://schemas.openxmlformats.org/drawingml/2006/main">
              <a:ext uri="{FF2B5EF4-FFF2-40B4-BE49-F238E27FC236}">
                <a16:creationId xmlns:a16="http://schemas.microsoft.com/office/drawing/2014/main" id="{FB9A9D46-0460-4C3D-83BD-A71448CE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22288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WinnerTakeAll</a:t>
            </a:r>
          </a:p>
        </p:txBody>
      </p:sp>
      <p:sp>
        <p:nvSpPr>
          <p:cNvPr id="5" name="kv-value-0">
            <a:extLst xmlns:a="http://schemas.openxmlformats.org/drawingml/2006/main">
              <a:ext uri="{FF2B5EF4-FFF2-40B4-BE49-F238E27FC236}">
                <a16:creationId xmlns:a16="http://schemas.microsoft.com/office/drawing/2014/main" id="{892E949E-7184-4707-9450-96C8B5C6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14600"/>
            <a:ext cx="3981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33333"/>
                </a:solidFill>
              </a:defRPr>
            </a:pPr>
            <a:r>
              <a:rPr sz="1725">
                <a:solidFill>
                  <a:srgbClr val="333333"/>
                </a:solidFill>
              </a:rPr>
              <a:t>Picks the expert with the stronger previous-epoch usefulness score.</a:t>
            </a:r>
          </a:p>
        </p:txBody>
      </p:sp>
      <p:sp>
        <p:nvSpPr>
          <p:cNvPr id="6" name="kv-key-1">
            <a:extLst xmlns:a="http://schemas.openxmlformats.org/drawingml/2006/main">
              <a:ext uri="{FF2B5EF4-FFF2-40B4-BE49-F238E27FC236}">
                <a16:creationId xmlns:a16="http://schemas.microsoft.com/office/drawing/2014/main" id="{C19F3FC9-FDE0-4120-9E90-93194E42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22288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OneShotFit</a:t>
            </a:r>
          </a:p>
        </p:txBody>
      </p:sp>
      <p:sp>
        <p:nvSpPr>
          <p:cNvPr id="7" name="kv-value-1">
            <a:extLst xmlns:a="http://schemas.openxmlformats.org/drawingml/2006/main">
              <a:ext uri="{FF2B5EF4-FFF2-40B4-BE49-F238E27FC236}">
                <a16:creationId xmlns:a16="http://schemas.microsoft.com/office/drawing/2014/main" id="{599726F1-D854-4143-B5AF-C17F5BDF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24200"/>
            <a:ext cx="3981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33333"/>
                </a:solidFill>
              </a:defRPr>
            </a:pPr>
            <a:r>
              <a:rPr sz="1725">
                <a:solidFill>
                  <a:srgbClr val="333333"/>
                </a:solidFill>
              </a:rPr>
              <a:t>Probes the experts once, then keeps the better early winner.</a:t>
            </a:r>
          </a:p>
        </p:txBody>
      </p:sp>
      <p:sp>
        <p:nvSpPr>
          <p:cNvPr id="8" name="kv-key-2">
            <a:extLst xmlns:a="http://schemas.openxmlformats.org/drawingml/2006/main">
              <a:ext uri="{FF2B5EF4-FFF2-40B4-BE49-F238E27FC236}">
                <a16:creationId xmlns:a16="http://schemas.microsoft.com/office/drawing/2014/main" id="{A0DADDB0-04A4-443C-8988-9A36CCF8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22288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Athena MAB</a:t>
            </a:r>
          </a:p>
        </p:txBody>
      </p:sp>
      <p:sp>
        <p:nvSpPr>
          <p:cNvPr id="9" name="kv-value-2">
            <a:extLst xmlns:a="http://schemas.openxmlformats.org/drawingml/2006/main">
              <a:ext uri="{FF2B5EF4-FFF2-40B4-BE49-F238E27FC236}">
                <a16:creationId xmlns:a16="http://schemas.microsoft.com/office/drawing/2014/main" id="{903E978A-F70D-4146-9A64-1F4AE3E8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52850"/>
            <a:ext cx="3981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33333"/>
                </a:solidFill>
              </a:defRPr>
            </a:pPr>
            <a:r>
              <a:rPr sz="1725">
                <a:solidFill>
                  <a:srgbClr val="333333"/>
                </a:solidFill>
              </a:rPr>
              <a:t>Athena's multi-armed-bandit router baseline for the same expert pair.</a:t>
            </a:r>
          </a:p>
        </p:txBody>
      </p:sp>
      <p:sp>
        <p:nvSpPr>
          <p:cNvPr id="10" name="table-cell-0-0">
            <a:extLst xmlns:a="http://schemas.openxmlformats.org/drawingml/2006/main">
              <a:ext uri="{FF2B5EF4-FFF2-40B4-BE49-F238E27FC236}">
                <a16:creationId xmlns:a16="http://schemas.microsoft.com/office/drawing/2014/main" id="{34B8CEA0-2554-4BA1-8656-9E4BB752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2914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F6FD1"/>
                </a:solidFill>
              </a:defRPr>
            </a:pPr>
            <a:r>
              <a:rPr sz="1575" b="1">
                <a:solidFill>
                  <a:srgbClr val="3F6FD1"/>
                </a:solidFill>
              </a:rPr>
              <a:t>13-trace method</a:t>
            </a:r>
          </a:p>
        </p:txBody>
      </p:sp>
      <p:sp>
        <p:nvSpPr>
          <p:cNvPr id="11" name="table-cell-0-1">
            <a:extLst xmlns:a="http://schemas.openxmlformats.org/drawingml/2006/main">
              <a:ext uri="{FF2B5EF4-FFF2-40B4-BE49-F238E27FC236}">
                <a16:creationId xmlns:a16="http://schemas.microsoft.com/office/drawing/2014/main" id="{721034B8-9B6B-4403-BA16-426AB388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38650"/>
            <a:ext cx="1638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F6FD1"/>
                </a:solidFill>
              </a:defRPr>
            </a:pPr>
            <a:r>
              <a:rPr sz="1575" b="1">
                <a:solidFill>
                  <a:srgbClr val="3F6FD1"/>
                </a:solidFill>
              </a:rPr>
              <a:t>Speedup</a:t>
            </a:r>
          </a:p>
        </p:txBody>
      </p:sp>
      <p:sp>
        <p:nvSpPr>
          <p:cNvPr id="12" name="table-cell-0-2">
            <a:extLst xmlns:a="http://schemas.openxmlformats.org/drawingml/2006/main">
              <a:ext uri="{FF2B5EF4-FFF2-40B4-BE49-F238E27FC236}">
                <a16:creationId xmlns:a16="http://schemas.microsoft.com/office/drawing/2014/main" id="{93F74DC2-F1FC-472B-A3F8-A80EC98D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38650"/>
            <a:ext cx="152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F6FD1"/>
                </a:solidFill>
              </a:defRPr>
            </a:pPr>
            <a:r>
              <a:rPr sz="1575" b="1">
                <a:solidFill>
                  <a:srgbClr val="3F6FD1"/>
                </a:solidFill>
              </a:rPr>
              <a:t>% best</a:t>
            </a:r>
          </a:p>
        </p:txBody>
      </p:sp>
      <p:sp>
        <p:nvSpPr>
          <p:cNvPr id="13" name="table-cell-1-0">
            <a:extLst xmlns:a="http://schemas.openxmlformats.org/drawingml/2006/main">
              <a:ext uri="{FF2B5EF4-FFF2-40B4-BE49-F238E27FC236}">
                <a16:creationId xmlns:a16="http://schemas.microsoft.com/office/drawing/2014/main" id="{3AA8E693-400D-4BE1-BA80-F8C33FA8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2914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MoP-V2</a:t>
            </a:r>
          </a:p>
        </p:txBody>
      </p:sp>
      <p:sp>
        <p:nvSpPr>
          <p:cNvPr id="14" name="table-cell-1-1">
            <a:extLst xmlns:a="http://schemas.openxmlformats.org/drawingml/2006/main">
              <a:ext uri="{FF2B5EF4-FFF2-40B4-BE49-F238E27FC236}">
                <a16:creationId xmlns:a16="http://schemas.microsoft.com/office/drawing/2014/main" id="{E316CDA1-B201-498A-8B60-DF63C150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62500"/>
            <a:ext cx="1638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1.066x</a:t>
            </a:r>
          </a:p>
        </p:txBody>
      </p:sp>
      <p:sp>
        <p:nvSpPr>
          <p:cNvPr id="15" name="table-cell-1-2">
            <a:extLst xmlns:a="http://schemas.openxmlformats.org/drawingml/2006/main">
              <a:ext uri="{FF2B5EF4-FFF2-40B4-BE49-F238E27FC236}">
                <a16:creationId xmlns:a16="http://schemas.microsoft.com/office/drawing/2014/main" id="{97A96318-DCF1-4CD5-A8DD-52B6B5F4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62500"/>
            <a:ext cx="152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98.3%</a:t>
            </a:r>
          </a:p>
        </p:txBody>
      </p:sp>
      <p:sp>
        <p:nvSpPr>
          <p:cNvPr id="16" name="table-cell-2-0">
            <a:extLst xmlns:a="http://schemas.openxmlformats.org/drawingml/2006/main">
              <a:ext uri="{FF2B5EF4-FFF2-40B4-BE49-F238E27FC236}">
                <a16:creationId xmlns:a16="http://schemas.microsoft.com/office/drawing/2014/main" id="{D033677A-95BF-4DD3-8905-8BDF47F4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2914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WinnerTakeAll</a:t>
            </a:r>
          </a:p>
        </p:txBody>
      </p:sp>
      <p:sp>
        <p:nvSpPr>
          <p:cNvPr id="17" name="table-cell-2-1">
            <a:extLst xmlns:a="http://schemas.openxmlformats.org/drawingml/2006/main">
              <a:ext uri="{FF2B5EF4-FFF2-40B4-BE49-F238E27FC236}">
                <a16:creationId xmlns:a16="http://schemas.microsoft.com/office/drawing/2014/main" id="{6E40C5F1-8471-4AA0-BD25-0E45954F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86350"/>
            <a:ext cx="1638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1.025x</a:t>
            </a:r>
          </a:p>
        </p:txBody>
      </p:sp>
      <p:sp>
        <p:nvSpPr>
          <p:cNvPr id="18" name="table-cell-2-2">
            <a:extLst xmlns:a="http://schemas.openxmlformats.org/drawingml/2006/main">
              <a:ext uri="{FF2B5EF4-FFF2-40B4-BE49-F238E27FC236}">
                <a16:creationId xmlns:a16="http://schemas.microsoft.com/office/drawing/2014/main" id="{1753AC48-2546-46BF-9D95-7ACA1D4F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86350"/>
            <a:ext cx="152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94.3%</a:t>
            </a:r>
          </a:p>
        </p:txBody>
      </p:sp>
      <p:sp>
        <p:nvSpPr>
          <p:cNvPr id="19" name="table-cell-3-0">
            <a:extLst xmlns:a="http://schemas.openxmlformats.org/drawingml/2006/main">
              <a:ext uri="{FF2B5EF4-FFF2-40B4-BE49-F238E27FC236}">
                <a16:creationId xmlns:a16="http://schemas.microsoft.com/office/drawing/2014/main" id="{51FFC4CA-9603-4350-84E0-7C6E14F5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2914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OneShotFit</a:t>
            </a:r>
          </a:p>
        </p:txBody>
      </p:sp>
      <p:sp>
        <p:nvSpPr>
          <p:cNvPr id="20" name="table-cell-3-1">
            <a:extLst xmlns:a="http://schemas.openxmlformats.org/drawingml/2006/main">
              <a:ext uri="{FF2B5EF4-FFF2-40B4-BE49-F238E27FC236}">
                <a16:creationId xmlns:a16="http://schemas.microsoft.com/office/drawing/2014/main" id="{584E97F7-C931-4621-BE0A-EDB4AAD4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391150"/>
            <a:ext cx="1638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1.027x</a:t>
            </a:r>
          </a:p>
        </p:txBody>
      </p:sp>
      <p:sp>
        <p:nvSpPr>
          <p:cNvPr id="21" name="table-cell-3-2">
            <a:extLst xmlns:a="http://schemas.openxmlformats.org/drawingml/2006/main">
              <a:ext uri="{FF2B5EF4-FFF2-40B4-BE49-F238E27FC236}">
                <a16:creationId xmlns:a16="http://schemas.microsoft.com/office/drawing/2014/main" id="{131327F1-1FA4-4F97-906F-46130B9B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91150"/>
            <a:ext cx="152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94.3%</a:t>
            </a:r>
          </a:p>
        </p:txBody>
      </p:sp>
      <p:sp>
        <p:nvSpPr>
          <p:cNvPr id="22" name="table-cell-4-0">
            <a:extLst xmlns:a="http://schemas.openxmlformats.org/drawingml/2006/main">
              <a:ext uri="{FF2B5EF4-FFF2-40B4-BE49-F238E27FC236}">
                <a16:creationId xmlns:a16="http://schemas.microsoft.com/office/drawing/2014/main" id="{AEE37F00-4BBB-49C9-9081-CBFD881D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2914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Athena MAB</a:t>
            </a:r>
          </a:p>
        </p:txBody>
      </p:sp>
      <p:sp>
        <p:nvSpPr>
          <p:cNvPr id="23" name="table-cell-4-1">
            <a:extLst xmlns:a="http://schemas.openxmlformats.org/drawingml/2006/main">
              <a:ext uri="{FF2B5EF4-FFF2-40B4-BE49-F238E27FC236}">
                <a16:creationId xmlns:a16="http://schemas.microsoft.com/office/drawing/2014/main" id="{7FAF57A6-475D-42FD-BA54-98B03098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15000"/>
            <a:ext cx="1638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1.021x</a:t>
            </a:r>
          </a:p>
        </p:txBody>
      </p:sp>
      <p:sp>
        <p:nvSpPr>
          <p:cNvPr id="24" name="table-cell-4-2">
            <a:extLst xmlns:a="http://schemas.openxmlformats.org/drawingml/2006/main">
              <a:ext uri="{FF2B5EF4-FFF2-40B4-BE49-F238E27FC236}">
                <a16:creationId xmlns:a16="http://schemas.microsoft.com/office/drawing/2014/main" id="{0179AB87-EDD6-47D0-ABF7-F6951454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715000"/>
            <a:ext cx="152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94.2%</a:t>
            </a:r>
          </a:p>
        </p:txBody>
      </p:sp>
      <p:pic>
        <p:nvPicPr>
          <p:cNvPr id="25" name="router-criter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884c27cbb4e1c"/>
          <a:stretch xmlns:a="http://schemas.openxmlformats.org/drawingml/2006/main"/>
        </p:blipFill>
        <p:spPr>
          <a:xfrm xmlns:a="http://schemas.openxmlformats.org/drawingml/2006/main">
            <a:off x="7581138" y="3465393"/>
            <a:ext cx="10040112" cy="4819254"/>
          </a:xfrm>
          <a:prstGeom xmlns:a="http://schemas.openxmlformats.org/drawingml/2006/main" prst="rect">
            <a:avLst/>
          </a:prstGeom>
        </p:spPr>
      </p:pic>
      <p:sp>
        <p:nvSpPr>
          <p:cNvPr id="26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3C9F52AC-69CF-46E3-9939-53C858B9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9334500"/>
            <a:ext cx="100393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3333"/>
                </a:solidFill>
              </a:defRPr>
            </a:pPr>
            <a:r>
              <a:rPr sz="1425">
                <a:solidFill>
                  <a:srgbClr val="333333"/>
                </a:solidFill>
              </a:rPr>
              <a:t>Caption: MoP-V2 improves over MoP-V1 on the 13-trace validation set, while the heldout effect is smaller and shown after policy selection.</a:t>
            </a:r>
          </a:p>
        </p:txBody>
      </p:sp>
    </p:spTree>
    <p:extLst>
      <p:ext uri="{BB962C8B-B14F-4D97-AF65-F5344CB8AC3E}">
        <p14:creationId xmlns:p14="http://schemas.microsoft.com/office/powerpoint/2010/main" val="9981984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2E0F22-0E52-4E1E-9743-2F642FCE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9753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OpenEvolve found close candidates across models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518A7D1-7C39-40EA-B5E4-50A200C5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9753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33333"/>
                </a:solidFill>
              </a:defRPr>
            </a:pPr>
            <a:r>
              <a:rPr sz="1725">
                <a:solidFill>
                  <a:srgbClr val="333333"/>
                </a:solidFill>
              </a:rPr>
              <a:t>Quick-evaluation winners were similar, then wider validation and 13-trace confirmation selected MoP-V2.</a:t>
            </a:r>
          </a:p>
        </p:txBody>
      </p:sp>
      <p:sp>
        <p:nvSpPr>
          <p:cNvPr id="3" name="blank-title-peer">
            <a:extLst xmlns:a="http://schemas.openxmlformats.org/drawingml/2006/main">
              <a:ext uri="{FF2B5EF4-FFF2-40B4-BE49-F238E27FC236}">
                <a16:creationId xmlns:a16="http://schemas.microsoft.com/office/drawing/2014/main" id="{C201BAAB-D6B1-4BC9-8311-606BB840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95300"/>
            <a:ext cx="678180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4" name="scale-model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21853cd114ac4"/>
          <a:stretch xmlns:a="http://schemas.openxmlformats.org/drawingml/2006/main"/>
        </p:blipFill>
        <p:spPr>
          <a:xfrm xmlns:a="http://schemas.openxmlformats.org/drawingml/2006/main">
            <a:off x="647700" y="3436048"/>
            <a:ext cx="9755886" cy="4877943"/>
          </a:xfrm>
          <a:prstGeom xmlns:a="http://schemas.openxmlformats.org/drawingml/2006/main" prst="rect">
            <a:avLst/>
          </a:prstGeom>
        </p:spPr>
      </p:pic>
      <p:sp>
        <p:nvSpPr>
          <p:cNvPr id="5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6EA1052B-62BD-49C5-9ECE-96BDF71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53550"/>
            <a:ext cx="9753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3333"/>
                </a:solidFill>
              </a:defRPr>
            </a:pPr>
            <a:r>
              <a:rPr sz="1425">
                <a:solidFill>
                  <a:srgbClr val="333333"/>
                </a:solidFill>
              </a:rPr>
              <a:t>Caption: Faint points are quick-evaluation candidates. Dashed lines track the score-selected incumbent IPC, while solid lines track best IPC seen so far.</a:t>
            </a:r>
          </a:p>
        </p:txBody>
      </p:sp>
      <p:sp>
        <p:nvSpPr>
          <p:cNvPr id="6" name="table-cell-0-0">
            <a:extLst xmlns:a="http://schemas.openxmlformats.org/drawingml/2006/main">
              <a:ext uri="{FF2B5EF4-FFF2-40B4-BE49-F238E27FC236}">
                <a16:creationId xmlns:a16="http://schemas.microsoft.com/office/drawing/2014/main" id="{F867DBE2-AB87-4E51-8337-664AE4DF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95550"/>
            <a:ext cx="3124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F6FD1"/>
                </a:solidFill>
              </a:defRPr>
            </a:pPr>
            <a:r>
              <a:rPr sz="1650" b="1">
                <a:solidFill>
                  <a:srgbClr val="3F6FD1"/>
                </a:solidFill>
              </a:rPr>
              <a:t>Model</a:t>
            </a:r>
          </a:p>
        </p:txBody>
      </p:sp>
      <p:sp>
        <p:nvSpPr>
          <p:cNvPr id="7" name="table-cell-0-1">
            <a:extLst xmlns:a="http://schemas.openxmlformats.org/drawingml/2006/main">
              <a:ext uri="{FF2B5EF4-FFF2-40B4-BE49-F238E27FC236}">
                <a16:creationId xmlns:a16="http://schemas.microsoft.com/office/drawing/2014/main" id="{19E66BA2-7CCB-47FD-BDAE-C321FB36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2495550"/>
            <a:ext cx="137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F6FD1"/>
                </a:solidFill>
              </a:defRPr>
            </a:pPr>
            <a:r>
              <a:rPr sz="1650" b="1">
                <a:solidFill>
                  <a:srgbClr val="3F6FD1"/>
                </a:solidFill>
              </a:rPr>
              <a:t>Iter</a:t>
            </a:r>
          </a:p>
        </p:txBody>
      </p:sp>
      <p:sp>
        <p:nvSpPr>
          <p:cNvPr id="8" name="table-cell-0-2">
            <a:extLst xmlns:a="http://schemas.openxmlformats.org/drawingml/2006/main">
              <a:ext uri="{FF2B5EF4-FFF2-40B4-BE49-F238E27FC236}">
                <a16:creationId xmlns:a16="http://schemas.microsoft.com/office/drawing/2014/main" id="{1AD2D920-622C-4DB8-B88A-3B0727CE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2495550"/>
            <a:ext cx="1943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F6FD1"/>
                </a:solidFill>
              </a:defRPr>
            </a:pPr>
            <a:r>
              <a:rPr sz="1650" b="1">
                <a:solidFill>
                  <a:srgbClr val="3F6FD1"/>
                </a:solidFill>
              </a:rPr>
              <a:t>Wide val</a:t>
            </a:r>
          </a:p>
        </p:txBody>
      </p:sp>
      <p:sp>
        <p:nvSpPr>
          <p:cNvPr id="9" name="table-cell-1-0">
            <a:extLst xmlns:a="http://schemas.openxmlformats.org/drawingml/2006/main">
              <a:ext uri="{FF2B5EF4-FFF2-40B4-BE49-F238E27FC236}">
                <a16:creationId xmlns:a16="http://schemas.microsoft.com/office/drawing/2014/main" id="{31AEA255-7CA5-47B0-9263-F5EF72C8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19400"/>
            <a:ext cx="3124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GPT-5 mini</a:t>
            </a:r>
          </a:p>
        </p:txBody>
      </p:sp>
      <p:sp>
        <p:nvSpPr>
          <p:cNvPr id="10" name="table-cell-1-1">
            <a:extLst xmlns:a="http://schemas.openxmlformats.org/drawingml/2006/main">
              <a:ext uri="{FF2B5EF4-FFF2-40B4-BE49-F238E27FC236}">
                <a16:creationId xmlns:a16="http://schemas.microsoft.com/office/drawing/2014/main" id="{A9A49103-8241-4DD8-91D1-D2381085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2819400"/>
            <a:ext cx="137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80</a:t>
            </a:r>
          </a:p>
        </p:txBody>
      </p:sp>
      <p:sp>
        <p:nvSpPr>
          <p:cNvPr id="11" name="table-cell-1-2">
            <a:extLst xmlns:a="http://schemas.openxmlformats.org/drawingml/2006/main">
              <a:ext uri="{FF2B5EF4-FFF2-40B4-BE49-F238E27FC236}">
                <a16:creationId xmlns:a16="http://schemas.microsoft.com/office/drawing/2014/main" id="{DFA3AD85-ECDF-437E-BF31-5955AB10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2819400"/>
            <a:ext cx="1943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1.087x</a:t>
            </a:r>
          </a:p>
        </p:txBody>
      </p:sp>
      <p:sp>
        <p:nvSpPr>
          <p:cNvPr id="12" name="table-cell-2-0">
            <a:extLst xmlns:a="http://schemas.openxmlformats.org/drawingml/2006/main">
              <a:ext uri="{FF2B5EF4-FFF2-40B4-BE49-F238E27FC236}">
                <a16:creationId xmlns:a16="http://schemas.microsoft.com/office/drawing/2014/main" id="{CBC5CD7D-06BB-4064-B356-55866E70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143250"/>
            <a:ext cx="3124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GPT-5.4</a:t>
            </a:r>
          </a:p>
        </p:txBody>
      </p:sp>
      <p:sp>
        <p:nvSpPr>
          <p:cNvPr id="13" name="table-cell-2-1">
            <a:extLst xmlns:a="http://schemas.openxmlformats.org/drawingml/2006/main">
              <a:ext uri="{FF2B5EF4-FFF2-40B4-BE49-F238E27FC236}">
                <a16:creationId xmlns:a16="http://schemas.microsoft.com/office/drawing/2014/main" id="{BF6E58CD-2623-402F-BA11-32816FF4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3143250"/>
            <a:ext cx="137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80</a:t>
            </a:r>
          </a:p>
        </p:txBody>
      </p:sp>
      <p:sp>
        <p:nvSpPr>
          <p:cNvPr id="14" name="table-cell-2-2">
            <a:extLst xmlns:a="http://schemas.openxmlformats.org/drawingml/2006/main">
              <a:ext uri="{FF2B5EF4-FFF2-40B4-BE49-F238E27FC236}">
                <a16:creationId xmlns:a16="http://schemas.microsoft.com/office/drawing/2014/main" id="{40834ECD-B9D8-4A81-A838-EA010039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3143250"/>
            <a:ext cx="1943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1.088x</a:t>
            </a:r>
          </a:p>
        </p:txBody>
      </p:sp>
      <p:sp>
        <p:nvSpPr>
          <p:cNvPr id="15" name="table-cell-3-0">
            <a:extLst xmlns:a="http://schemas.openxmlformats.org/drawingml/2006/main">
              <a:ext uri="{FF2B5EF4-FFF2-40B4-BE49-F238E27FC236}">
                <a16:creationId xmlns:a16="http://schemas.microsoft.com/office/drawing/2014/main" id="{E75D7640-71B2-40BB-9619-7D26332C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67100"/>
            <a:ext cx="3124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Sonnet 4.6</a:t>
            </a:r>
          </a:p>
        </p:txBody>
      </p:sp>
      <p:sp>
        <p:nvSpPr>
          <p:cNvPr id="16" name="table-cell-3-1">
            <a:extLst xmlns:a="http://schemas.openxmlformats.org/drawingml/2006/main">
              <a:ext uri="{FF2B5EF4-FFF2-40B4-BE49-F238E27FC236}">
                <a16:creationId xmlns:a16="http://schemas.microsoft.com/office/drawing/2014/main" id="{EA7B8CCA-9BA3-4B8E-955A-DC4D004B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3467100"/>
            <a:ext cx="137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30</a:t>
            </a:r>
          </a:p>
        </p:txBody>
      </p:sp>
      <p:sp>
        <p:nvSpPr>
          <p:cNvPr id="17" name="table-cell-3-2">
            <a:extLst xmlns:a="http://schemas.openxmlformats.org/drawingml/2006/main">
              <a:ext uri="{FF2B5EF4-FFF2-40B4-BE49-F238E27FC236}">
                <a16:creationId xmlns:a16="http://schemas.microsoft.com/office/drawing/2014/main" id="{FDB586E6-3D89-450D-B071-BB2F7A3B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3467100"/>
            <a:ext cx="1943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1.087x</a:t>
            </a:r>
          </a:p>
        </p:txBody>
      </p:sp>
      <p:sp>
        <p:nvSpPr>
          <p:cNvPr id="18" name="selected-policy">
            <a:extLst xmlns:a="http://schemas.openxmlformats.org/drawingml/2006/main">
              <a:ext uri="{FF2B5EF4-FFF2-40B4-BE49-F238E27FC236}">
                <a16:creationId xmlns:a16="http://schemas.microsoft.com/office/drawing/2014/main" id="{BAAC0F74-36E9-49FC-9C77-B2776FE3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905250"/>
            <a:ext cx="67818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3333"/>
                </a:solidFill>
              </a:defRPr>
            </a:pPr>
            <a:r>
              <a:rPr sz="1800">
                <a:solidFill>
                  <a:srgbClr val="333333"/>
                </a:solidFill>
              </a:rPr>
              <a:t>The selected policy reached 1.089x on the same 10-trace wider-validation set, then 1.066x on the 13-trace training-split validation set.</a:t>
            </a:r>
          </a:p>
        </p:txBody>
      </p:sp>
    </p:spTree>
    <p:extLst>
      <p:ext uri="{BB962C8B-B14F-4D97-AF65-F5344CB8AC3E}">
        <p14:creationId xmlns:p14="http://schemas.microsoft.com/office/powerpoint/2010/main" val="66590340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830399-92DD-431F-BD6F-00F122DB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86296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Routing behavior remained interpretable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3AA1657-6023-42A8-AC4C-8962C5EA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86296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33333"/>
                </a:solidFill>
              </a:defRPr>
            </a:pPr>
            <a:r>
              <a:rPr sz="1725">
                <a:solidFill>
                  <a:srgbClr val="333333"/>
                </a:solidFill>
              </a:rPr>
              <a:t>MoP-V2 still acts like a compact epoch router, with observable action choices and budget behavior.</a:t>
            </a:r>
          </a:p>
        </p:txBody>
      </p:sp>
      <p:sp>
        <p:nvSpPr>
          <p:cNvPr id="3" name="blank-title-peer">
            <a:extLst xmlns:a="http://schemas.openxmlformats.org/drawingml/2006/main">
              <a:ext uri="{FF2B5EF4-FFF2-40B4-BE49-F238E27FC236}">
                <a16:creationId xmlns:a16="http://schemas.microsoft.com/office/drawing/2014/main" id="{82A8FD37-C9C3-4F4B-A159-1A39EA98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33400"/>
            <a:ext cx="779145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4" name="action-distribu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4d5f9ce49940d4"/>
          <a:stretch xmlns:a="http://schemas.openxmlformats.org/drawingml/2006/main"/>
        </p:blipFill>
        <p:spPr>
          <a:xfrm xmlns:a="http://schemas.openxmlformats.org/drawingml/2006/main">
            <a:off x="685800" y="4307551"/>
            <a:ext cx="8621078" cy="3134937"/>
          </a:xfrm>
          <a:prstGeom xmlns:a="http://schemas.openxmlformats.org/drawingml/2006/main" prst="rect">
            <a:avLst/>
          </a:prstGeom>
        </p:spPr>
      </p:pic>
      <p:sp>
        <p:nvSpPr>
          <p:cNvPr id="5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DC5F7309-E034-4688-842C-927A3007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15450"/>
            <a:ext cx="86296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3333"/>
                </a:solidFill>
              </a:defRPr>
            </a:pPr>
            <a:r>
              <a:rPr sz="1425">
                <a:solidFill>
                  <a:srgbClr val="333333"/>
                </a:solidFill>
              </a:rPr>
              <a:t>Caption: Final routing behavior stays interpretable: the plot shows how MoP-V1 and MoP-V2 allocate selected epochs, budget, and useful prefetches across the two experts.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B934A6F-989C-4D59-8C88-D387B318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33650"/>
            <a:ext cx="7791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00000"/>
                </a:solidFill>
              </a:defRPr>
            </a:pPr>
            <a:r>
              <a:rPr sz="2025">
                <a:solidFill>
                  <a:srgbClr val="000000"/>
                </a:solidFill>
              </a:rPr>
              <a:t>The router can choose MLOP, SPP+PPF, both, or the off action after each epoch.</a:t>
            </a:r>
          </a:p>
        </p:txBody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8ABC8D26-569C-467B-BB97-49F0C3B7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76600"/>
            <a:ext cx="7791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00000"/>
                </a:solidFill>
              </a:defRPr>
            </a:pPr>
            <a:r>
              <a:rPr sz="2025">
                <a:solidFill>
                  <a:srgbClr val="000000"/>
                </a:solidFill>
              </a:rPr>
              <a:t>The selected budget and score weights shape these choices without changing simulator internals.</a:t>
            </a:r>
          </a:p>
        </p:txBody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ADF5240C-CABF-45E9-B12B-F73F7E6B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19550"/>
            <a:ext cx="7791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00000"/>
                </a:solidFill>
              </a:defRPr>
            </a:pPr>
            <a:r>
              <a:rPr sz="2025">
                <a:solidFill>
                  <a:srgbClr val="000000"/>
                </a:solidFill>
              </a:rPr>
              <a:t>This keeps the final method inside a compact, auditable policy dictionary.</a:t>
            </a:r>
          </a:p>
        </p:txBody>
      </p:sp>
      <p:sp>
        <p:nvSpPr>
          <p:cNvPr id="9" name="logistics-pointer">
            <a:extLst xmlns:a="http://schemas.openxmlformats.org/drawingml/2006/main">
              <a:ext uri="{FF2B5EF4-FFF2-40B4-BE49-F238E27FC236}">
                <a16:creationId xmlns:a16="http://schemas.microsoft.com/office/drawing/2014/main" id="{2E1573E3-E0C2-4665-ADF5-88D2325B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76800"/>
            <a:ext cx="7791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33333"/>
                </a:solidFill>
              </a:defRPr>
            </a:pPr>
            <a:r>
              <a:rPr sz="1725">
                <a:solidFill>
                  <a:srgbClr val="333333"/>
                </a:solidFill>
              </a:rPr>
              <a:t>The report keeps raw implementation keys in writing_logistics.md so the main story can use public names.</a:t>
            </a:r>
          </a:p>
        </p:txBody>
      </p:sp>
    </p:spTree>
    <p:extLst>
      <p:ext uri="{BB962C8B-B14F-4D97-AF65-F5344CB8AC3E}">
        <p14:creationId xmlns:p14="http://schemas.microsoft.com/office/powerpoint/2010/main" val="89584183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EB1B15-FE61-4187-9F4A-07087E83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79819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Claim and limitations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78905EE-799D-4A04-B912-569A4D91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33500"/>
            <a:ext cx="7981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33333"/>
                </a:solidFill>
              </a:defRPr>
            </a:pPr>
            <a:r>
              <a:rPr sz="1725">
                <a:solidFill>
                  <a:srgbClr val="333333"/>
                </a:solidFill>
              </a:rPr>
              <a:t>The final report makes a measured claim: strong training-split validation, small heldout lift, and transparent limits.</a:t>
            </a:r>
          </a:p>
        </p:txBody>
      </p:sp>
      <p:sp>
        <p:nvSpPr>
          <p:cNvPr id="3" name="blank-title-peer">
            <a:extLst xmlns:a="http://schemas.openxmlformats.org/drawingml/2006/main">
              <a:ext uri="{FF2B5EF4-FFF2-40B4-BE49-F238E27FC236}">
                <a16:creationId xmlns:a16="http://schemas.microsoft.com/office/drawing/2014/main" id="{7D1B03E2-BAB7-4123-89F4-965EA95D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66750"/>
            <a:ext cx="79819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912A4A5-79FC-4A98-8344-1422BD53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798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267F"/>
                </a:solidFill>
              </a:defRPr>
            </a:pPr>
            <a:r>
              <a:rPr sz="1350" b="1">
                <a:solidFill>
                  <a:srgbClr val="DC267F"/>
                </a:solidFill>
              </a:rPr>
              <a:t>CLAIMS</a:t>
            </a:r>
          </a:p>
        </p:txBody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592BA529-4763-4192-85F1-63D20299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7981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0000"/>
                </a:solidFill>
              </a:defRPr>
            </a:pPr>
            <a:r>
              <a:rPr sz="1950">
                <a:solidFill>
                  <a:srgbClr val="000000"/>
                </a:solidFill>
              </a:rPr>
              <a:t>MoP-V2 improves over MoP-V1 on the 13-trace training-split validation set.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2FEC386C-65AE-4D53-8286-45A4A1B4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7981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0000"/>
                </a:solidFill>
              </a:defRPr>
            </a:pPr>
            <a:r>
              <a:rPr sz="1950">
                <a:solidFill>
                  <a:srgbClr val="000000"/>
                </a:solidFill>
              </a:rPr>
              <a:t>MoP-V2 reaches 1.003x over disabled prefetching on seven heldout traces.</a:t>
            </a:r>
          </a:p>
        </p:txBody>
      </p:sp>
      <p:sp>
        <p:nvSpPr>
          <p:cNvPr id="7" name="bullet-2">
            <a:extLst xmlns:a="http://schemas.openxmlformats.org/drawingml/2006/main">
              <a:ext uri="{FF2B5EF4-FFF2-40B4-BE49-F238E27FC236}">
                <a16:creationId xmlns:a16="http://schemas.microsoft.com/office/drawing/2014/main" id="{C75CE00D-FDAB-443A-A6AA-E49EA2AA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7981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0000"/>
                </a:solidFill>
              </a:defRPr>
            </a:pPr>
            <a:r>
              <a:rPr sz="1950">
                <a:solidFill>
                  <a:srgbClr val="000000"/>
                </a:solidFill>
              </a:rPr>
              <a:t>Best expert remains a separate reference, with MoP-V2 reaching 97.9% of it on heldout.</a:t>
            </a:r>
          </a:p>
        </p:txBody>
      </p:sp>
      <p:sp>
        <p:nvSpPr>
          <p:cNvPr id="8" name="bullet-3">
            <a:extLst xmlns:a="http://schemas.openxmlformats.org/drawingml/2006/main">
              <a:ext uri="{FF2B5EF4-FFF2-40B4-BE49-F238E27FC236}">
                <a16:creationId xmlns:a16="http://schemas.microsoft.com/office/drawing/2014/main" id="{CCE1B4B0-B770-4419-A388-DD2267E2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7981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0000"/>
                </a:solidFill>
              </a:defRPr>
            </a:pPr>
            <a:r>
              <a:rPr sz="1950">
                <a:solidFill>
                  <a:srgbClr val="000000"/>
                </a:solidFill>
              </a:rPr>
              <a:t>Instruction count stays fixed within simulator-rounding error.</a:t>
            </a:r>
          </a:p>
        </p:txBody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E166D30F-80FD-4C09-B10B-0F985C06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90750"/>
            <a:ext cx="798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F6FD1"/>
                </a:solidFill>
              </a:defRPr>
            </a:pPr>
            <a:r>
              <a:rPr sz="1350" b="1">
                <a:solidFill>
                  <a:srgbClr val="3F6FD1"/>
                </a:solidFill>
              </a:rPr>
              <a:t>LIMITS AND REPRODUCTION</a:t>
            </a:r>
          </a:p>
        </p:txBody>
      </p:sp>
      <p:sp>
        <p:nvSpPr>
          <p:cNvPr id="10" name="bullet-0">
            <a:extLst xmlns:a="http://schemas.openxmlformats.org/drawingml/2006/main">
              <a:ext uri="{FF2B5EF4-FFF2-40B4-BE49-F238E27FC236}">
                <a16:creationId xmlns:a16="http://schemas.microsoft.com/office/drawing/2014/main" id="{6886AFAC-2586-42C7-9BC6-B675B7F3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90800"/>
            <a:ext cx="7981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0000"/>
                </a:solidFill>
              </a:defRPr>
            </a:pPr>
            <a:r>
              <a:rPr sz="1950">
                <a:solidFill>
                  <a:srgbClr val="000000"/>
                </a:solidFill>
              </a:rPr>
              <a:t>Seven heldout traces make the heldout result a sanity check with visible per-trace variation.</a:t>
            </a:r>
          </a:p>
        </p:txBody>
      </p:sp>
      <p:sp>
        <p:nvSpPr>
          <p:cNvPr id="11" name="bullet-1">
            <a:extLst xmlns:a="http://schemas.openxmlformats.org/drawingml/2006/main">
              <a:ext uri="{FF2B5EF4-FFF2-40B4-BE49-F238E27FC236}">
                <a16:creationId xmlns:a16="http://schemas.microsoft.com/office/drawing/2014/main" id="{D89E5898-7BB9-4BA0-A134-0F80BB53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0"/>
            <a:ext cx="7981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0000"/>
                </a:solidFill>
              </a:defRPr>
            </a:pPr>
            <a:r>
              <a:rPr sz="1950">
                <a:solidFill>
                  <a:srgbClr val="000000"/>
                </a:solidFill>
              </a:rPr>
              <a:t>secret_compute_fp_105 remains the largest heldout loss relative to best expert.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1427F25C-7022-4570-854C-8BBC68B8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57650"/>
            <a:ext cx="7981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0000"/>
                </a:solidFill>
              </a:defRPr>
            </a:pPr>
            <a:r>
              <a:rPr sz="1950">
                <a:solidFill>
                  <a:srgbClr val="000000"/>
                </a:solidFill>
              </a:rPr>
              <a:t>Malformed or out-of-contract OpenEvolve candidates stay in the candidate record with failure scores.</a:t>
            </a:r>
          </a:p>
        </p:txBody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7A1DF48E-59D0-4C02-BA37-6CCCF747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81550"/>
            <a:ext cx="7981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0000"/>
                </a:solidFill>
              </a:defRPr>
            </a:pPr>
            <a:r>
              <a:rPr sz="1950">
                <a:solidFill>
                  <a:srgbClr val="000000"/>
                </a:solidFill>
              </a:rPr>
              <a:t>Reproduction paths, naming map, and generated-file list live in report/writing_logistics.md.</a:t>
            </a:r>
          </a:p>
        </p:txBody>
      </p:sp>
    </p:spTree>
    <p:extLst>
      <p:ext uri="{BB962C8B-B14F-4D97-AF65-F5344CB8AC3E}">
        <p14:creationId xmlns:p14="http://schemas.microsoft.com/office/powerpoint/2010/main" val="17809689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2026-04-30T19:22:10.8720000Z</dcterms:created>
  <dcterms:modified xsi:type="dcterms:W3CDTF">2026-04-30T19:22:10.8720000Z</dcterms:modified>
</coreProperties>
</file>